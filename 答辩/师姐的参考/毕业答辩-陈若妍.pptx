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946" r:id="rId2"/>
    <p:sldId id="957" r:id="rId3"/>
    <p:sldId id="419" r:id="rId4"/>
    <p:sldId id="1059" r:id="rId5"/>
    <p:sldId id="1049" r:id="rId6"/>
    <p:sldId id="1014" r:id="rId7"/>
    <p:sldId id="1001" r:id="rId8"/>
    <p:sldId id="970" r:id="rId9"/>
    <p:sldId id="1060" r:id="rId10"/>
    <p:sldId id="1020" r:id="rId11"/>
    <p:sldId id="1021" r:id="rId12"/>
    <p:sldId id="1016" r:id="rId13"/>
    <p:sldId id="1050" r:id="rId14"/>
    <p:sldId id="1051" r:id="rId15"/>
    <p:sldId id="1061" r:id="rId16"/>
    <p:sldId id="1030" r:id="rId17"/>
    <p:sldId id="1052" r:id="rId18"/>
    <p:sldId id="1055" r:id="rId19"/>
    <p:sldId id="1053" r:id="rId20"/>
    <p:sldId id="1054" r:id="rId21"/>
    <p:sldId id="1031" r:id="rId22"/>
    <p:sldId id="1056" r:id="rId23"/>
    <p:sldId id="1027" r:id="rId24"/>
    <p:sldId id="1025" r:id="rId25"/>
    <p:sldId id="1033" r:id="rId26"/>
    <p:sldId id="1011" r:id="rId27"/>
    <p:sldId id="1035" r:id="rId28"/>
    <p:sldId id="1047" r:id="rId29"/>
    <p:sldId id="1057" r:id="rId30"/>
    <p:sldId id="1039" r:id="rId31"/>
    <p:sldId id="1038" r:id="rId32"/>
    <p:sldId id="1058" r:id="rId33"/>
    <p:sldId id="966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40"/>
    <a:srgbClr val="0C608F"/>
    <a:srgbClr val="0C6190"/>
    <a:srgbClr val="0D608F"/>
    <a:srgbClr val="66FFFF"/>
    <a:srgbClr val="066FA0"/>
    <a:srgbClr val="0E5C8B"/>
    <a:srgbClr val="066F9F"/>
    <a:srgbClr val="0C5A89"/>
    <a:srgbClr val="0E5B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0" autoAdjust="0"/>
    <p:restoredTop sz="76171" autoAdjust="0"/>
  </p:normalViewPr>
  <p:slideViewPr>
    <p:cSldViewPr snapToGrid="0">
      <p:cViewPr varScale="1">
        <p:scale>
          <a:sx n="73" d="100"/>
          <a:sy n="73" d="100"/>
        </p:scale>
        <p:origin x="9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AA0503-2173-4A94-B6AF-482D1028E326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FA8CD-EFF7-4F1D-B386-5D89A2803B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994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各位专家，下午好，我学位论文的题目是</a:t>
            </a:r>
            <a:r>
              <a:rPr lang="en-US" altLang="zh-CN" dirty="0" err="1"/>
              <a:t>xxxx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714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首先，请允许我介绍一下我的基本情况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41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图像语义分割是计算机视觉领域一个非常重要且基础的研究方向，为给定图像的每一个像素分配一个语义类别标签。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180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DFC8E-FF6C-DBF9-5366-EE91433A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DE91A7-60C1-CD1A-14E1-433E53C0D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90216CD-2C7F-3486-D93C-66B3DF5C7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2008_001514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7188BD-BA64-7ECA-5F17-9CE8459E3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967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C0497-77B9-3A3B-B680-E130C91C9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A5FA00-F100-4276-E942-E2B6635F4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98BBF9-58A5-A7E2-0C7A-192217D28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2059DC-63CD-24EE-788F-9AECAD4F9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36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793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5973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266700"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CAM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算法通过全局平均池化（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GAP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）和全连接层，将卷积神经网络（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CNN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）提取的特征映射到类别激活图，从而定位图像中与特定类别相关的区域。随后，特征图被平均池化，输入全连接层后得到类别得分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Score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。最后，通过加权求和特征图映射和全连接层权重得到类激活图，公式如式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所示，并在得到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CAM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之后，通过归一化处理的方法生成热力图，突出显示与类别相关的区域。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634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本研究的目的为，理论意义为、现实意义为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634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首先，请允许我介绍一下我的基本情况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69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针对</a:t>
            </a:r>
            <a:r>
              <a:rPr lang="en-US" altLang="zh-CN" sz="18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CAM</a:t>
            </a:r>
            <a:r>
              <a:rPr lang="zh-CN" altLang="en-US" sz="18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算法中存在的激活不充分以及错误激活的问题，</a:t>
            </a:r>
            <a:r>
              <a:rPr lang="zh-CN" altLang="zh-CN" sz="18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本研究设计了一个</a:t>
            </a:r>
            <a:r>
              <a:rPr kumimoji="1" lang="zh-CN" altLang="en-US" sz="18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基于标签阈值的一致性注意力架构</a:t>
            </a:r>
            <a:r>
              <a:rPr kumimoji="1" lang="en-US" altLang="zh-CN" sz="18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LTCAA</a:t>
            </a:r>
            <a:r>
              <a:rPr kumimoji="1" lang="zh-CN" altLang="en-US" sz="18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模型</a:t>
            </a:r>
            <a:r>
              <a:rPr lang="zh-CN" altLang="zh-CN" sz="18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，算法流程图如下图所示</a:t>
            </a:r>
            <a:r>
              <a:rPr lang="zh-CN" altLang="en-US" sz="18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。具体提出了三种改进策略，形成了三个算法模块，分别是标签阈值模块、一致性约束模块和自注意力模块。</a:t>
            </a:r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1119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解决了全局阈值的局限性，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9337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54182-5C35-E04B-1AE3-7ACFB7348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1AA824-BD34-4D17-6C0E-AC7EB0022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AFBF44-D9F5-598B-91BF-33ED95F45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解决了传统</a:t>
            </a:r>
            <a:r>
              <a:rPr lang="en-US" altLang="zh-CN" dirty="0"/>
              <a:t>CAM</a:t>
            </a:r>
            <a:r>
              <a:rPr lang="zh-CN" altLang="en-US" dirty="0"/>
              <a:t>方法在边界模糊和细节丢失方面 的局限性，显著提升了显著图的边界清晰度与细节保留能力，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E40B1D-5EC6-6249-0003-D667D569D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9500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856A8-E2F4-3FA5-04D5-36729575B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2F7D49-3163-773B-E7CA-E3D7163AC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FE5821-A248-87BA-6BC1-B32D5072A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508924-47F0-1885-BDDC-414139DA1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6423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535F7-6FEC-9BB5-C8FA-3C7895343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9543E5-A7FA-87EC-EF36-E6846FB7F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62F51A-B15B-9F18-9798-8D3180C92A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本研究的损失函数由三部分构成：分类损失（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Loss_cls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）、一致性正则化损失（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）和双分支交叉约束损失（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9794C2-C7D8-8B0A-97A6-45D5301FDB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308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1064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D15DD-A863-F74F-9738-E27A09DBA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035521-CF52-1264-C623-CA7224790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EEAB38-AE00-F300-9345-DAD4F62E6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1D371A-4431-BD60-1ACA-EAF076144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550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EB304-C05E-47C3-972B-06CDAA9A3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E595DE-C6FA-594E-E230-E73D23873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6BBF4F-00CE-DF4D-F37E-D51183CFA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1DB1DA-982F-C9F9-6C87-F3A9B0B0A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0104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405B5-3031-C04C-535B-A41962681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0483AC-4222-75C7-E902-D6FB70565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8D31C4-C6DD-428F-B7C1-8039540C1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8FAD57-F118-8CB7-D5D7-84D3A17C0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7026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3DF6F-88F4-8E29-BC6A-5E3D49A81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890B55-EED3-5F33-0768-1A0C33CC8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B7ED85-EB53-B7C8-8ABD-3C303A3EC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E1F6BD-2FC0-F3DF-E2A1-E8EA9B482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870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1126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F6E47-DF32-91CD-055C-BBB141748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23D9BF-3D4C-0710-CED3-8D90AA52C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6208BA-3406-AE6E-CAAB-9F70AEEDC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A51E85-E329-ADCA-398A-114D097A9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1577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LTCAA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模型在遥感图像的应用案例研究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3124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目前，</a:t>
            </a:r>
            <a:r>
              <a:rPr lang="en-US" altLang="zh-CN" dirty="0" err="1"/>
              <a:t>xxxx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2882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目前，</a:t>
            </a:r>
            <a:r>
              <a:rPr lang="en-US" altLang="zh-CN" dirty="0" err="1"/>
              <a:t>xxxx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7220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目前，</a:t>
            </a:r>
            <a:r>
              <a:rPr lang="en-US" altLang="zh-CN" dirty="0" err="1"/>
              <a:t>xxxx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4892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目前，</a:t>
            </a:r>
            <a:r>
              <a:rPr lang="en-US" altLang="zh-CN" dirty="0" err="1"/>
              <a:t>xxxx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9852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目前，</a:t>
            </a:r>
            <a:r>
              <a:rPr lang="en-US" altLang="zh-CN" dirty="0" err="1"/>
              <a:t>xxxx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6049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06738-72C9-2C20-6B89-B71258F92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E95B52-82D8-F444-CB02-275149F00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A436C7-1C54-D3AD-7EC2-A84D3D687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目前，</a:t>
            </a:r>
            <a:r>
              <a:rPr lang="en-US" altLang="zh-CN" dirty="0" err="1"/>
              <a:t>xxxx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C29B11-FEA8-43E5-8AA5-720278C6A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9140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首先，请允许我介绍一下我的基本情况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5540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目前，</a:t>
            </a:r>
            <a:r>
              <a:rPr lang="en-US" altLang="zh-CN" dirty="0" err="1"/>
              <a:t>xxxx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1224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9F57D-5636-B528-39A5-1F3D33AE2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D1F3BD-3505-2FEA-CD87-1C527A61E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56A64E-913B-F306-FD61-BFFEF0D60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目前，</a:t>
            </a:r>
            <a:r>
              <a:rPr lang="en-US" altLang="zh-CN" dirty="0" err="1"/>
              <a:t>xxxx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9FB242-E8C9-34E1-B1FC-3EB69003C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935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FA8CD-EFF7-4F1D-B386-5D89A2803BE5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770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AFCFA5-93FE-4232-A251-D6AA656ED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7D1CF84-1B73-4401-80DD-5E3D8A090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F7DBD3-C25A-411A-8F36-17AC2DCDB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7458-E25D-4316-994F-44836A7754D3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3FAD9A-85A0-4F4C-ADDB-A403999EA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ED7A6B-35C8-4811-A83A-0B6D3838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0B8-59A2-4770-8FC9-2C9CE23DC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397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B4C6E48-6EFB-4C55-A6D8-1FB807EF1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468" y="65253"/>
            <a:ext cx="3838413" cy="903156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1F0D5C31-C428-457C-97B2-E217B8F0A3A0}"/>
              </a:ext>
            </a:extLst>
          </p:cNvPr>
          <p:cNvSpPr/>
          <p:nvPr userDrawn="1"/>
        </p:nvSpPr>
        <p:spPr>
          <a:xfrm>
            <a:off x="379778" y="917639"/>
            <a:ext cx="11573127" cy="666786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3733" b="1" dirty="0">
                <a:blipFill>
                  <a:blip r:embed="rId3"/>
                  <a:stretch>
                    <a:fillRect/>
                  </a:stretch>
                </a:blipFill>
                <a:latin typeface="微软雅黑"/>
                <a:ea typeface="微软雅黑" pitchFamily="34" charset="-122"/>
                <a:sym typeface="微软雅黑"/>
              </a:rPr>
              <a:t> </a:t>
            </a:r>
            <a:endParaRPr lang="zh-CN" altLang="en-US" sz="3733" b="1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D43117B-72A4-4910-B282-146340D05220}"/>
              </a:ext>
            </a:extLst>
          </p:cNvPr>
          <p:cNvSpPr/>
          <p:nvPr userDrawn="1"/>
        </p:nvSpPr>
        <p:spPr>
          <a:xfrm>
            <a:off x="0" y="-169739"/>
            <a:ext cx="12192000" cy="10287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70820E3-D8F2-4853-842A-9A6BFD4C6C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468" y="-115439"/>
            <a:ext cx="3838413" cy="90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42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78FC7-1EF3-47D9-9A2D-B6D7DC1D8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739B4D-E10C-491B-8609-50804CF0C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476E57-F65F-474A-9032-752044524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7458-E25D-4316-994F-44836A7754D3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2B663C-C676-4FE0-BC40-3FED44601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46D3ED-3122-4065-B1F4-F076E720B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0B8-59A2-4770-8FC9-2C9CE23DCB78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1F9CDAB-CB22-401A-A5A5-B81EB5167D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468" y="65253"/>
            <a:ext cx="3838413" cy="90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729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5CEE01-EB28-4F81-BE5C-901BDBC70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3C29D8-1237-4E80-B2C6-C306B1968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1EEDF3-A259-4047-B89E-09A8CD387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B81B36-683F-4E32-8C51-C3300D99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7458-E25D-4316-994F-44836A7754D3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6A5BFE-9085-4BA4-9299-061F85B1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BB5624-B312-4363-BBD6-A6218087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0B8-59A2-4770-8FC9-2C9CE23DC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190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46100C-D9B2-4294-AB52-438658838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265618-D3B8-4E5E-8F80-7DAEC52F3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4DB246-DDD8-4924-B378-F9F6E4364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3A1703A-E31F-4D92-ADB9-52F8BFF7A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437E6D5-B728-406F-B0EC-816AB7D74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C64A4E7-054B-42F5-AAAD-03F9EF48E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7458-E25D-4316-994F-44836A7754D3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14AFF4-D437-4D4E-8C4B-AE528AF00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BE3FC2E-2804-4C92-89BF-F398E930F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0B8-59A2-4770-8FC9-2C9CE23DC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5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E74F3-306D-4F30-BAE1-E58E0C14F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94722D-2131-4040-8D05-5957792BE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7458-E25D-4316-994F-44836A7754D3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53592C-D6E9-4EB3-B3F7-6C467C72E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8410EE-8DC3-47E0-BB9D-079263271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0B8-59A2-4770-8FC9-2C9CE23DC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525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CFA10C-9E08-4907-AE93-29066A260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7458-E25D-4316-994F-44836A7754D3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BB2E69-DFA2-4C6E-A2A6-D9FB93675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4F1A90-0E31-496A-B92C-9456A3BDF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0B8-59A2-4770-8FC9-2C9CE23DC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85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03C1CC-4847-4D73-BC11-AB883301A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C51331-5C39-4E4A-BA4A-CCDD218D3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AE973E-84F3-4F9C-AF4D-AA393169E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1E66F5-408B-4AAA-8771-0C4090E14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7458-E25D-4316-994F-44836A7754D3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890327-F0C7-4DE6-9705-2D971D9DC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4F0B07-14DE-41F0-A9A5-B270662A8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0B8-59A2-4770-8FC9-2C9CE23DC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273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9ED9E5-4F73-491F-A3B1-DF5A97B16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7A41688-DA69-4EEC-8139-1C4CDEF40C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E9170D-14EE-494E-8B67-C8F95DB91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EC29B3-0BCA-4194-A4AB-160C14F4A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7458-E25D-4316-994F-44836A7754D3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5B6F34-49EA-4E5B-ABA0-36107C8AD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93927A-6F92-4D69-B4E3-1829CFFE5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0B8-59A2-4770-8FC9-2C9CE23DC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743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4397C-0592-47C0-8E68-E06A5332B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FCA700-62FE-4C4C-B569-1769D8081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D964F8-E966-494E-BF07-47A5C4538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7458-E25D-4316-994F-44836A7754D3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C17789-2374-422A-A0D4-40D4FD18F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34181A-A8AE-44C4-9E38-936FA1DBF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0B8-59A2-4770-8FC9-2C9CE23DC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423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642D76-861C-4C61-BDF7-B9DBC3BC24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329737-0BEB-48C2-8A88-90ADE3BBF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54A7E8-25D9-4EB9-A3FF-F0DD9E893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D7458-E25D-4316-994F-44836A7754D3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D6BE1E-0BAE-4464-A8F9-92C0492FF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790E72-5512-4C02-9425-324B9B905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060B8-59A2-4770-8FC9-2C9CE23DC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111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EC3321E-DF52-43F4-BD49-76804135A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5769E5-1976-4212-B9BA-4B6C72D52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18BECC-E217-424F-86F0-4199E53206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D7458-E25D-4316-994F-44836A7754D3}" type="datetimeFigureOut">
              <a:rPr lang="zh-CN" altLang="en-US" smtClean="0"/>
              <a:t>2025/5/18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A6A692-8680-41F3-AB9A-E54CF9B8A0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035D16-6D7B-41C1-BB63-16B4E3AAA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060B8-59A2-4770-8FC9-2C9CE23DCB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31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DF3C0C3-A7F8-9E42-B1B2-DF4108AE93B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809" y="5060"/>
            <a:ext cx="12192000" cy="684787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8939010-75C4-8149-9313-FED37C129112}"/>
              </a:ext>
            </a:extLst>
          </p:cNvPr>
          <p:cNvSpPr txBox="1"/>
          <p:nvPr/>
        </p:nvSpPr>
        <p:spPr>
          <a:xfrm>
            <a:off x="1185998" y="1846137"/>
            <a:ext cx="982000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基于类激活映射的弱监督图像语义分割方法研究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6177C2-2526-7E49-95F5-780FF8EA40E3}"/>
              </a:ext>
            </a:extLst>
          </p:cNvPr>
          <p:cNvSpPr txBox="1"/>
          <p:nvPr/>
        </p:nvSpPr>
        <p:spPr>
          <a:xfrm>
            <a:off x="7489963" y="4289238"/>
            <a:ext cx="3516039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姓       名：陈若妍</a:t>
            </a:r>
            <a:endParaRPr kumimoji="1" lang="en-US" altLang="zh-CN" sz="2400" b="1" dirty="0">
              <a:solidFill>
                <a:schemeClr val="bg1"/>
              </a:solidFill>
              <a:latin typeface="FZZhengHeiS-DB-GB" panose="02000000000000000000" pitchFamily="2" charset="-122"/>
              <a:ea typeface="FZZhengHeiS-DB-GB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导       师：牛云云 教授</a:t>
            </a:r>
            <a:endParaRPr kumimoji="1" lang="en-US" altLang="zh-CN" sz="2400" b="1" dirty="0">
              <a:solidFill>
                <a:schemeClr val="bg1"/>
              </a:solidFill>
              <a:latin typeface="FZZhengHeiS-DB-GB" panose="02000000000000000000" pitchFamily="2" charset="-122"/>
              <a:ea typeface="FZZhengHeiS-DB-GB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时       间：</a:t>
            </a:r>
            <a:r>
              <a:rPr kumimoji="1" lang="en-US" altLang="zh-CN" sz="24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2025.5.19</a:t>
            </a:r>
          </a:p>
        </p:txBody>
      </p:sp>
    </p:spTree>
    <p:extLst>
      <p:ext uri="{BB962C8B-B14F-4D97-AF65-F5344CB8AC3E}">
        <p14:creationId xmlns:p14="http://schemas.microsoft.com/office/powerpoint/2010/main" val="1922049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9"/>
    </mc:Choice>
    <mc:Fallback>
      <p:transition spd="slow" advTm="53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剪去单角的矩形 1"/>
          <p:cNvSpPr/>
          <p:nvPr/>
        </p:nvSpPr>
        <p:spPr>
          <a:xfrm flipV="1">
            <a:off x="0" y="-99483"/>
            <a:ext cx="12192000" cy="8189248"/>
          </a:xfrm>
          <a:prstGeom prst="snip1Rect">
            <a:avLst>
              <a:gd name="adj" fmla="val 50000"/>
            </a:avLst>
          </a:prstGeom>
          <a:blipFill>
            <a:blip r:embed="rId3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grpSp>
        <p:nvGrpSpPr>
          <p:cNvPr id="25" name="组合 24"/>
          <p:cNvGrpSpPr/>
          <p:nvPr/>
        </p:nvGrpSpPr>
        <p:grpSpPr>
          <a:xfrm>
            <a:off x="10870305" y="242408"/>
            <a:ext cx="354496" cy="478885"/>
            <a:chOff x="7550086" y="49596"/>
            <a:chExt cx="1521906" cy="2055929"/>
          </a:xfrm>
        </p:grpSpPr>
        <p:sp>
          <p:nvSpPr>
            <p:cNvPr id="26" name="菱形 25"/>
            <p:cNvSpPr/>
            <p:nvPr/>
          </p:nvSpPr>
          <p:spPr>
            <a:xfrm>
              <a:off x="7550086" y="49596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7" name="菱形 26"/>
            <p:cNvSpPr/>
            <p:nvPr/>
          </p:nvSpPr>
          <p:spPr>
            <a:xfrm>
              <a:off x="8172400" y="669791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8" name="菱形 27"/>
            <p:cNvSpPr/>
            <p:nvPr/>
          </p:nvSpPr>
          <p:spPr>
            <a:xfrm>
              <a:off x="7550086" y="1208330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1234229" y="242408"/>
            <a:ext cx="354496" cy="478885"/>
            <a:chOff x="7550086" y="49596"/>
            <a:chExt cx="1521906" cy="2055929"/>
          </a:xfrm>
        </p:grpSpPr>
        <p:sp>
          <p:nvSpPr>
            <p:cNvPr id="30" name="菱形 29"/>
            <p:cNvSpPr/>
            <p:nvPr/>
          </p:nvSpPr>
          <p:spPr>
            <a:xfrm>
              <a:off x="7550086" y="49596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1" name="菱形 30"/>
            <p:cNvSpPr/>
            <p:nvPr/>
          </p:nvSpPr>
          <p:spPr>
            <a:xfrm>
              <a:off x="8172400" y="669791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2" name="菱形 31"/>
            <p:cNvSpPr/>
            <p:nvPr/>
          </p:nvSpPr>
          <p:spPr>
            <a:xfrm>
              <a:off x="7550086" y="1208330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1598155" y="242408"/>
            <a:ext cx="354496" cy="478885"/>
            <a:chOff x="7550086" y="49596"/>
            <a:chExt cx="1521906" cy="2055929"/>
          </a:xfrm>
        </p:grpSpPr>
        <p:sp>
          <p:nvSpPr>
            <p:cNvPr id="34" name="菱形 33"/>
            <p:cNvSpPr/>
            <p:nvPr/>
          </p:nvSpPr>
          <p:spPr>
            <a:xfrm>
              <a:off x="7550086" y="49596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5" name="菱形 34"/>
            <p:cNvSpPr/>
            <p:nvPr/>
          </p:nvSpPr>
          <p:spPr>
            <a:xfrm>
              <a:off x="8172400" y="669791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6" name="菱形 35"/>
            <p:cNvSpPr/>
            <p:nvPr/>
          </p:nvSpPr>
          <p:spPr>
            <a:xfrm>
              <a:off x="7550086" y="1208330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49" name="矩形 48"/>
          <p:cNvSpPr/>
          <p:nvPr/>
        </p:nvSpPr>
        <p:spPr>
          <a:xfrm>
            <a:off x="4599108" y="1216145"/>
            <a:ext cx="4475492" cy="768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831024" y="1216145"/>
            <a:ext cx="768085" cy="7680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</a:rPr>
              <a:t>1</a:t>
            </a:r>
            <a:endParaRPr lang="zh-CN" altLang="en-US" sz="4800" b="1" dirty="0">
              <a:solidFill>
                <a:schemeClr val="bg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385329" y="2444889"/>
            <a:ext cx="4475492" cy="768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599108" y="2435757"/>
            <a:ext cx="768085" cy="7680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/>
              <a:t>2</a:t>
            </a:r>
            <a:endParaRPr lang="zh-CN" altLang="en-US" sz="4800" b="1" dirty="0"/>
          </a:p>
        </p:txBody>
      </p:sp>
      <p:sp>
        <p:nvSpPr>
          <p:cNvPr id="53" name="矩形 52"/>
          <p:cNvSpPr/>
          <p:nvPr/>
        </p:nvSpPr>
        <p:spPr>
          <a:xfrm>
            <a:off x="4600689" y="4766818"/>
            <a:ext cx="4475492" cy="768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3831024" y="4769788"/>
            <a:ext cx="768085" cy="7680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/>
              <a:t>4</a:t>
            </a:r>
            <a:endParaRPr lang="zh-CN" altLang="en-US" sz="4800" b="1" dirty="0"/>
          </a:p>
        </p:txBody>
      </p:sp>
      <p:sp>
        <p:nvSpPr>
          <p:cNvPr id="57" name="矩形 56"/>
          <p:cNvSpPr/>
          <p:nvPr/>
        </p:nvSpPr>
        <p:spPr>
          <a:xfrm>
            <a:off x="4740575" y="1320127"/>
            <a:ext cx="30572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研究背景与意义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B095AFD-D107-4BC0-9D1C-C00540980E57}"/>
              </a:ext>
            </a:extLst>
          </p:cNvPr>
          <p:cNvGrpSpPr/>
          <p:nvPr/>
        </p:nvGrpSpPr>
        <p:grpSpPr>
          <a:xfrm>
            <a:off x="1326996" y="2096131"/>
            <a:ext cx="2259935" cy="2060561"/>
            <a:chOff x="1326996" y="2096131"/>
            <a:chExt cx="2259935" cy="2060561"/>
          </a:xfrm>
        </p:grpSpPr>
        <p:sp>
          <p:nvSpPr>
            <p:cNvPr id="61" name="椭圆 60"/>
            <p:cNvSpPr/>
            <p:nvPr/>
          </p:nvSpPr>
          <p:spPr>
            <a:xfrm>
              <a:off x="1945662" y="2515423"/>
              <a:ext cx="1641269" cy="1641269"/>
            </a:xfrm>
            <a:prstGeom prst="ellipse">
              <a:avLst/>
            </a:prstGeom>
            <a:blipFill>
              <a:blip r:embed="rId5" cstate="print"/>
              <a:stretch>
                <a:fillRect/>
              </a:stretch>
            </a:blipFill>
            <a:ln w="57150">
              <a:solidFill>
                <a:schemeClr val="bg1"/>
              </a:solidFill>
            </a:ln>
            <a:effectLst>
              <a:outerShdw blurRad="508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2" name="矩形 61"/>
            <p:cNvSpPr/>
            <p:nvPr/>
          </p:nvSpPr>
          <p:spPr>
            <a:xfrm>
              <a:off x="2377304" y="2601747"/>
              <a:ext cx="822490" cy="140564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zh-CN" altLang="en-US" sz="4267" dirty="0">
                  <a:solidFill>
                    <a:schemeClr val="bg1"/>
                  </a:solidFill>
                  <a:latin typeface="微软雅黑"/>
                  <a:ea typeface="微软雅黑" pitchFamily="34" charset="-122"/>
                  <a:sym typeface="微软雅黑"/>
                </a:rPr>
                <a:t>目录</a:t>
              </a:r>
              <a:endParaRPr lang="en-US" altLang="zh-CN" sz="4267" dirty="0">
                <a:solidFill>
                  <a:schemeClr val="bg1"/>
                </a:solidFill>
                <a:latin typeface="微软雅黑"/>
                <a:ea typeface="微软雅黑" pitchFamily="34" charset="-122"/>
                <a:sym typeface="微软雅黑"/>
              </a:endParaRPr>
            </a:p>
          </p:txBody>
        </p:sp>
        <p:grpSp>
          <p:nvGrpSpPr>
            <p:cNvPr id="63" name="组合 62"/>
            <p:cNvGrpSpPr/>
            <p:nvPr/>
          </p:nvGrpSpPr>
          <p:grpSpPr>
            <a:xfrm rot="20457332">
              <a:off x="1326996" y="2096131"/>
              <a:ext cx="1562892" cy="1212987"/>
              <a:chOff x="782675" y="1648780"/>
              <a:chExt cx="1172169" cy="909740"/>
            </a:xfrm>
            <a:solidFill>
              <a:schemeClr val="bg1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64" name="圆角矩形 63"/>
              <p:cNvSpPr/>
              <p:nvPr/>
            </p:nvSpPr>
            <p:spPr>
              <a:xfrm rot="2473112">
                <a:off x="1434975" y="1702245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65" name="圆角矩形 64"/>
              <p:cNvSpPr/>
              <p:nvPr/>
            </p:nvSpPr>
            <p:spPr>
              <a:xfrm rot="18673112">
                <a:off x="1434975" y="1702245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66" name="圆角矩形 65"/>
              <p:cNvSpPr/>
              <p:nvPr/>
            </p:nvSpPr>
            <p:spPr>
              <a:xfrm rot="3493932">
                <a:off x="993999" y="1833391"/>
                <a:ext cx="453892" cy="12962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67" name="圆角矩形 66"/>
              <p:cNvSpPr/>
              <p:nvPr/>
            </p:nvSpPr>
            <p:spPr>
              <a:xfrm rot="19693932">
                <a:off x="993999" y="1833391"/>
                <a:ext cx="453892" cy="12962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68" name="圆角矩形 67"/>
              <p:cNvSpPr/>
              <p:nvPr/>
            </p:nvSpPr>
            <p:spPr>
              <a:xfrm rot="3801381">
                <a:off x="1365852" y="1937875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69" name="圆角矩形 68"/>
              <p:cNvSpPr/>
              <p:nvPr/>
            </p:nvSpPr>
            <p:spPr>
              <a:xfrm rot="20001381">
                <a:off x="1365852" y="1937875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70" name="圆角矩形 69"/>
              <p:cNvSpPr/>
              <p:nvPr/>
            </p:nvSpPr>
            <p:spPr>
              <a:xfrm rot="2473112">
                <a:off x="1061027" y="2129162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8673112">
                <a:off x="1061027" y="2129162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21008604">
                <a:off x="833913" y="2003432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5608604">
                <a:off x="833913" y="2003432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74" name="圆角矩形 73"/>
              <p:cNvSpPr/>
              <p:nvPr/>
            </p:nvSpPr>
            <p:spPr>
              <a:xfrm rot="541275">
                <a:off x="805759" y="2204049"/>
                <a:ext cx="299355" cy="8549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75" name="圆角矩形 74"/>
              <p:cNvSpPr/>
              <p:nvPr/>
            </p:nvSpPr>
            <p:spPr>
              <a:xfrm rot="16741275">
                <a:off x="805759" y="2204049"/>
                <a:ext cx="299355" cy="8549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76" name="圆角矩形 75"/>
              <p:cNvSpPr/>
              <p:nvPr/>
            </p:nvSpPr>
            <p:spPr>
              <a:xfrm rot="2473112">
                <a:off x="1509694" y="1879922"/>
                <a:ext cx="299355" cy="8549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77" name="圆角矩形 76"/>
              <p:cNvSpPr/>
              <p:nvPr/>
            </p:nvSpPr>
            <p:spPr>
              <a:xfrm rot="18673112">
                <a:off x="1509694" y="1879922"/>
                <a:ext cx="299355" cy="8549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78" name="圆角矩形 77"/>
              <p:cNvSpPr/>
              <p:nvPr/>
            </p:nvSpPr>
            <p:spPr>
              <a:xfrm rot="550675">
                <a:off x="782675" y="2462307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79" name="圆角矩形 78"/>
              <p:cNvSpPr/>
              <p:nvPr/>
            </p:nvSpPr>
            <p:spPr>
              <a:xfrm rot="16750675">
                <a:off x="782675" y="2462307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0" name="圆角矩形 79"/>
              <p:cNvSpPr/>
              <p:nvPr/>
            </p:nvSpPr>
            <p:spPr>
              <a:xfrm rot="4083626">
                <a:off x="1805166" y="1949326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1" name="圆角矩形 80"/>
              <p:cNvSpPr/>
              <p:nvPr/>
            </p:nvSpPr>
            <p:spPr>
              <a:xfrm rot="20283626">
                <a:off x="1805166" y="1949326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</p:grpSp>
      </p:grpSp>
      <p:sp>
        <p:nvSpPr>
          <p:cNvPr id="83" name="矩形 82"/>
          <p:cNvSpPr/>
          <p:nvPr/>
        </p:nvSpPr>
        <p:spPr>
          <a:xfrm>
            <a:off x="5527319" y="2522781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C5A89"/>
                </a:solidFill>
                <a:latin typeface="微软雅黑" pitchFamily="34" charset="-122"/>
                <a:ea typeface="微软雅黑" pitchFamily="34" charset="-122"/>
              </a:rPr>
              <a:t>研究现状</a:t>
            </a:r>
          </a:p>
        </p:txBody>
      </p:sp>
      <p:sp>
        <p:nvSpPr>
          <p:cNvPr id="84" name="矩形 83"/>
          <p:cNvSpPr/>
          <p:nvPr/>
        </p:nvSpPr>
        <p:spPr>
          <a:xfrm>
            <a:off x="4732519" y="4869220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C5A89"/>
                </a:solidFill>
                <a:latin typeface="微软雅黑" pitchFamily="34" charset="-122"/>
                <a:ea typeface="微软雅黑" pitchFamily="34" charset="-122"/>
              </a:rPr>
              <a:t>结论与展望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5BC8120-8A62-4BB0-8E72-AF1DA4DA9F1B}"/>
              </a:ext>
            </a:extLst>
          </p:cNvPr>
          <p:cNvSpPr/>
          <p:nvPr/>
        </p:nvSpPr>
        <p:spPr>
          <a:xfrm>
            <a:off x="5385329" y="3601287"/>
            <a:ext cx="4475492" cy="768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FC81D4D-3278-4231-A0CF-0220A4788964}"/>
              </a:ext>
            </a:extLst>
          </p:cNvPr>
          <p:cNvSpPr/>
          <p:nvPr/>
        </p:nvSpPr>
        <p:spPr>
          <a:xfrm>
            <a:off x="4599108" y="3592155"/>
            <a:ext cx="768085" cy="7680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/>
              <a:t>3</a:t>
            </a:r>
            <a:endParaRPr lang="zh-CN" altLang="en-US" sz="4800" b="1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FD643FB-F4E3-4ABA-BA3A-8E765BBC0EB0}"/>
              </a:ext>
            </a:extLst>
          </p:cNvPr>
          <p:cNvSpPr/>
          <p:nvPr/>
        </p:nvSpPr>
        <p:spPr>
          <a:xfrm>
            <a:off x="5527319" y="3679179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C5A89"/>
                </a:solidFill>
                <a:latin typeface="微软雅黑" pitchFamily="34" charset="-122"/>
                <a:ea typeface="微软雅黑" pitchFamily="34" charset="-122"/>
              </a:rPr>
              <a:t>研究内容</a:t>
            </a:r>
          </a:p>
        </p:txBody>
      </p:sp>
    </p:spTree>
    <p:extLst>
      <p:ext uri="{BB962C8B-B14F-4D97-AF65-F5344CB8AC3E}">
        <p14:creationId xmlns:p14="http://schemas.microsoft.com/office/powerpoint/2010/main" val="3844782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"/>
    </mc:Choice>
    <mc:Fallback>
      <p:transition spd="slow" advTm="3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CBE1BEC-D04E-4020-B395-F4A382FD4213}"/>
              </a:ext>
            </a:extLst>
          </p:cNvPr>
          <p:cNvSpPr txBox="1"/>
          <p:nvPr/>
        </p:nvSpPr>
        <p:spPr>
          <a:xfrm>
            <a:off x="296381" y="21461"/>
            <a:ext cx="50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1. </a:t>
            </a:r>
            <a:r>
              <a:rPr kumimoji="1" lang="zh-CN" altLang="en-US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研究背景与意义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486E2F-FFB9-413A-BB62-EDA6477590F1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1DEC243-4598-4EE7-929C-85D7623852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1E6BE319-812D-BCF5-47B7-162CDF67C31D}"/>
              </a:ext>
            </a:extLst>
          </p:cNvPr>
          <p:cNvSpPr/>
          <p:nvPr/>
        </p:nvSpPr>
        <p:spPr>
          <a:xfrm>
            <a:off x="5024032" y="3090295"/>
            <a:ext cx="2143935" cy="1184856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图像语义分割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CD9BD0C-013F-8DE9-6761-71E7C0F77D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891" y="1882723"/>
            <a:ext cx="2700000" cy="360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E8FF668-51CD-D2B9-2CCB-7CC2287813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48" y="1882723"/>
            <a:ext cx="2700000" cy="3600000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82789AE-D971-1CC7-2DE7-5572E9D83ED1}"/>
              </a:ext>
            </a:extLst>
          </p:cNvPr>
          <p:cNvCxnSpPr>
            <a:cxnSpLocks/>
            <a:stCxn id="12" idx="3"/>
            <a:endCxn id="2" idx="1"/>
          </p:cNvCxnSpPr>
          <p:nvPr/>
        </p:nvCxnSpPr>
        <p:spPr>
          <a:xfrm>
            <a:off x="3550148" y="3682723"/>
            <a:ext cx="147388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96D9AE0-98AA-49BB-F648-C5BDDE13297B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>
            <a:off x="7167967" y="3682723"/>
            <a:ext cx="150392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1CBACF6A-A1E5-B1EA-7B87-9B9BEAEF0458}"/>
              </a:ext>
            </a:extLst>
          </p:cNvPr>
          <p:cNvSpPr txBox="1"/>
          <p:nvPr/>
        </p:nvSpPr>
        <p:spPr>
          <a:xfrm>
            <a:off x="7797328" y="1190611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background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A01B968-E257-5ADC-8A8B-B018D0874D42}"/>
              </a:ext>
            </a:extLst>
          </p:cNvPr>
          <p:cNvCxnSpPr>
            <a:cxnSpLocks/>
          </p:cNvCxnSpPr>
          <p:nvPr/>
        </p:nvCxnSpPr>
        <p:spPr>
          <a:xfrm>
            <a:off x="8572500" y="1546860"/>
            <a:ext cx="373380" cy="556260"/>
          </a:xfrm>
          <a:prstGeom prst="straightConnector1">
            <a:avLst/>
          </a:prstGeom>
          <a:ln w="12700">
            <a:solidFill>
              <a:srgbClr val="FF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A157DA61-67BD-8986-BF2A-B60107D73FA4}"/>
              </a:ext>
            </a:extLst>
          </p:cNvPr>
          <p:cNvSpPr txBox="1"/>
          <p:nvPr/>
        </p:nvSpPr>
        <p:spPr>
          <a:xfrm>
            <a:off x="4886487" y="477355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逐像素分配语义类别标签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E350168-4E83-4D58-F75D-75C9096E15E7}"/>
              </a:ext>
            </a:extLst>
          </p:cNvPr>
          <p:cNvCxnSpPr>
            <a:cxnSpLocks/>
          </p:cNvCxnSpPr>
          <p:nvPr/>
        </p:nvCxnSpPr>
        <p:spPr>
          <a:xfrm flipH="1">
            <a:off x="10133617" y="1559943"/>
            <a:ext cx="602963" cy="634617"/>
          </a:xfrm>
          <a:prstGeom prst="straightConnector1">
            <a:avLst/>
          </a:prstGeom>
          <a:ln w="12700">
            <a:solidFill>
              <a:srgbClr val="FF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97416119-1479-8500-5EF5-723D01A8C513}"/>
              </a:ext>
            </a:extLst>
          </p:cNvPr>
          <p:cNvSpPr txBox="1"/>
          <p:nvPr/>
        </p:nvSpPr>
        <p:spPr>
          <a:xfrm>
            <a:off x="10413498" y="1224768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person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845C90E-ADAD-A85F-A46F-0BAFF6AFFC86}"/>
              </a:ext>
            </a:extLst>
          </p:cNvPr>
          <p:cNvCxnSpPr>
            <a:cxnSpLocks/>
          </p:cNvCxnSpPr>
          <p:nvPr/>
        </p:nvCxnSpPr>
        <p:spPr>
          <a:xfrm flipH="1" flipV="1">
            <a:off x="10571672" y="4564380"/>
            <a:ext cx="349472" cy="1127760"/>
          </a:xfrm>
          <a:prstGeom prst="straightConnector1">
            <a:avLst/>
          </a:prstGeom>
          <a:ln w="12700">
            <a:solidFill>
              <a:srgbClr val="FF40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74718B7B-4E33-FB23-54F4-4CE310CD06D6}"/>
              </a:ext>
            </a:extLst>
          </p:cNvPr>
          <p:cNvSpPr txBox="1"/>
          <p:nvPr/>
        </p:nvSpPr>
        <p:spPr>
          <a:xfrm>
            <a:off x="10571672" y="5695817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bottle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238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"/>
    </mc:Choice>
    <mc:Fallback>
      <p:transition spd="slow" advTm="2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34D8E-0DB3-ABA9-20F7-E8B53A0FA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E3A2AAD-573C-BF1E-2273-3D24EFD3C805}"/>
              </a:ext>
            </a:extLst>
          </p:cNvPr>
          <p:cNvSpPr txBox="1"/>
          <p:nvPr/>
        </p:nvSpPr>
        <p:spPr>
          <a:xfrm>
            <a:off x="296381" y="21461"/>
            <a:ext cx="50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1. </a:t>
            </a:r>
            <a:r>
              <a:rPr kumimoji="1" lang="zh-CN" altLang="en-US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研究背景与意义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C77F6B-F9AC-F75F-AF77-4FD80374E6D6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1DFFF89-DCDB-0B3B-1FDD-C53C90B304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F6004254-F74A-0B6F-6E16-0CAA526315C9}"/>
              </a:ext>
            </a:extLst>
          </p:cNvPr>
          <p:cNvSpPr/>
          <p:nvPr/>
        </p:nvSpPr>
        <p:spPr>
          <a:xfrm>
            <a:off x="67653" y="2715055"/>
            <a:ext cx="2143935" cy="1184856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图像语义分割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29E978-69F0-34D5-8F41-A10B0A2258CE}"/>
              </a:ext>
            </a:extLst>
          </p:cNvPr>
          <p:cNvSpPr txBox="1"/>
          <p:nvPr/>
        </p:nvSpPr>
        <p:spPr>
          <a:xfrm>
            <a:off x="2780996" y="1084254"/>
            <a:ext cx="2804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全监督语义分割</a:t>
            </a:r>
            <a:r>
              <a:rPr lang="en-US" altLang="zh-CN" sz="2000" b="1" dirty="0"/>
              <a:t>(FSSS)</a:t>
            </a: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8B1FCB23-4139-5603-8C87-A420E0B8085C}"/>
              </a:ext>
            </a:extLst>
          </p:cNvPr>
          <p:cNvSpPr/>
          <p:nvPr/>
        </p:nvSpPr>
        <p:spPr>
          <a:xfrm>
            <a:off x="2227542" y="1288774"/>
            <a:ext cx="591160" cy="4280452"/>
          </a:xfrm>
          <a:prstGeom prst="leftBrace">
            <a:avLst>
              <a:gd name="adj1" fmla="val 16838"/>
              <a:gd name="adj2" fmla="val 47833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26E04E6-8BA6-F87E-8A37-B94A855A9422}"/>
              </a:ext>
            </a:extLst>
          </p:cNvPr>
          <p:cNvSpPr txBox="1"/>
          <p:nvPr/>
        </p:nvSpPr>
        <p:spPr>
          <a:xfrm>
            <a:off x="3304455" y="1484364"/>
            <a:ext cx="54117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利用像素级标注，结果准确，但标注耗费大量时间精力。</a:t>
            </a:r>
            <a:endParaRPr lang="en-US" altLang="zh-CN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D3C5B9-DA9F-AB5C-4FEC-D9FB0A9FAA94}"/>
              </a:ext>
            </a:extLst>
          </p:cNvPr>
          <p:cNvSpPr txBox="1"/>
          <p:nvPr/>
        </p:nvSpPr>
        <p:spPr>
          <a:xfrm>
            <a:off x="3342162" y="4156700"/>
            <a:ext cx="5411705" cy="1907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/>
              <a:t>利用非像素级标注，减少时间消耗。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目前常用的包括边界框标注、涂鸦标注、点标注、图像级标注等。其中</a:t>
            </a:r>
            <a:r>
              <a:rPr lang="zh-CN" altLang="en-US" sz="2000" dirty="0">
                <a:solidFill>
                  <a:srgbClr val="0070C0"/>
                </a:solidFill>
              </a:rPr>
              <a:t>图像级标注</a:t>
            </a:r>
            <a:r>
              <a:rPr lang="zh-CN" altLang="en-US" sz="2000" dirty="0"/>
              <a:t>仅对图像类别做标注，最省时省力，但同时效果仍有提升空间。</a:t>
            </a:r>
            <a:endParaRPr lang="en-US" altLang="zh-CN" sz="20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D62E170-5F74-FE4B-DE36-229D274AE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1891" y="3756590"/>
            <a:ext cx="2880000" cy="201238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73EC1F1-CDEB-CD0E-E8BB-ED57D7C17D6C}"/>
              </a:ext>
            </a:extLst>
          </p:cNvPr>
          <p:cNvSpPr txBox="1"/>
          <p:nvPr/>
        </p:nvSpPr>
        <p:spPr>
          <a:xfrm>
            <a:off x="2818702" y="3756590"/>
            <a:ext cx="61533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弱监督语义分割</a:t>
            </a:r>
            <a:r>
              <a:rPr lang="en-US" altLang="zh-CN" sz="2000" b="1" dirty="0"/>
              <a:t>(WSSS)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895E20B-8A54-870A-9507-3FE538EDC8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891" y="1084254"/>
            <a:ext cx="2880000" cy="22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047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"/>
    </mc:Choice>
    <mc:Fallback>
      <p:transition spd="slow" advTm="1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97876-3BF0-6AD7-2BB6-F27BD2A93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AC6CC07-131C-0ECB-7D57-0B03518C0DA3}"/>
              </a:ext>
            </a:extLst>
          </p:cNvPr>
          <p:cNvSpPr txBox="1"/>
          <p:nvPr/>
        </p:nvSpPr>
        <p:spPr>
          <a:xfrm>
            <a:off x="296381" y="21461"/>
            <a:ext cx="50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1. </a:t>
            </a:r>
            <a:r>
              <a:rPr kumimoji="1" lang="zh-CN" altLang="en-US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研究背景与意义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480DA2-FAE0-8DCE-B1B7-5AC2A8752AD1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22D504-16ED-9C0F-604A-D7F360162D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543E282C-4663-D57A-FABA-5705C7F05005}"/>
              </a:ext>
            </a:extLst>
          </p:cNvPr>
          <p:cNvSpPr/>
          <p:nvPr/>
        </p:nvSpPr>
        <p:spPr>
          <a:xfrm>
            <a:off x="67653" y="2715055"/>
            <a:ext cx="2143935" cy="1184856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图像语义分割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6BBF1D-D567-DF4F-8A04-E2D90DB8323C}"/>
              </a:ext>
            </a:extLst>
          </p:cNvPr>
          <p:cNvSpPr txBox="1"/>
          <p:nvPr/>
        </p:nvSpPr>
        <p:spPr>
          <a:xfrm>
            <a:off x="2780996" y="1084254"/>
            <a:ext cx="61533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全监督语义分割</a:t>
            </a:r>
            <a:r>
              <a:rPr lang="en-US" altLang="zh-CN" sz="2000" b="1" dirty="0"/>
              <a:t>(FSSS)</a:t>
            </a: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5B849B15-7C3D-0467-C290-9D2705E94FB5}"/>
              </a:ext>
            </a:extLst>
          </p:cNvPr>
          <p:cNvSpPr/>
          <p:nvPr/>
        </p:nvSpPr>
        <p:spPr>
          <a:xfrm>
            <a:off x="2227542" y="1288774"/>
            <a:ext cx="591160" cy="4280452"/>
          </a:xfrm>
          <a:prstGeom prst="leftBrace">
            <a:avLst>
              <a:gd name="adj1" fmla="val 16838"/>
              <a:gd name="adj2" fmla="val 47833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左大括号 3">
            <a:extLst>
              <a:ext uri="{FF2B5EF4-FFF2-40B4-BE49-F238E27FC236}">
                <a16:creationId xmlns:a16="http://schemas.microsoft.com/office/drawing/2014/main" id="{C247638C-C6E4-DB98-A407-95B9F0D96C18}"/>
              </a:ext>
            </a:extLst>
          </p:cNvPr>
          <p:cNvSpPr/>
          <p:nvPr/>
        </p:nvSpPr>
        <p:spPr>
          <a:xfrm flipH="1">
            <a:off x="8866694" y="1288774"/>
            <a:ext cx="591160" cy="4280452"/>
          </a:xfrm>
          <a:prstGeom prst="leftBrace">
            <a:avLst>
              <a:gd name="adj1" fmla="val 16838"/>
              <a:gd name="adj2" fmla="val 47833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54555E9-3723-521E-2A58-96A30210DE14}"/>
              </a:ext>
            </a:extLst>
          </p:cNvPr>
          <p:cNvSpPr txBox="1"/>
          <p:nvPr/>
        </p:nvSpPr>
        <p:spPr>
          <a:xfrm>
            <a:off x="9457854" y="1884474"/>
            <a:ext cx="15813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遥感图像</a:t>
            </a:r>
            <a:endParaRPr lang="en-US" altLang="zh-CN" sz="20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16475E8-91FA-9F19-4520-9E80FB940DA5}"/>
              </a:ext>
            </a:extLst>
          </p:cNvPr>
          <p:cNvSpPr txBox="1"/>
          <p:nvPr/>
        </p:nvSpPr>
        <p:spPr>
          <a:xfrm>
            <a:off x="9381929" y="2505377"/>
            <a:ext cx="2547216" cy="1907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/>
              <a:t>从遥感图像中提取建筑物是图像语义分割种一项有意义的应用。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en-US" altLang="zh-CN" sz="2000" dirty="0"/>
              <a:t>FSSS</a:t>
            </a:r>
            <a:r>
              <a:rPr lang="zh-CN" altLang="en-US" sz="2000" dirty="0"/>
              <a:t>的标注难度更大。</a:t>
            </a:r>
            <a:endParaRPr lang="en-US" altLang="zh-CN" sz="20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C8BE3E8-F606-7261-F1D1-A216DC4B4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5300" y="4197635"/>
            <a:ext cx="1504122" cy="150412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D550931-30E4-4DCB-11B2-D809DF9E857E}"/>
              </a:ext>
            </a:extLst>
          </p:cNvPr>
          <p:cNvSpPr txBox="1"/>
          <p:nvPr/>
        </p:nvSpPr>
        <p:spPr>
          <a:xfrm>
            <a:off x="3304455" y="1484364"/>
            <a:ext cx="54117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利用像素级标注，结果准确，但标注耗费大量时间精力。</a:t>
            </a:r>
            <a:endParaRPr lang="en-US" altLang="zh-CN" sz="20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B16C57E-F6ED-5EBE-2450-C4775D3154BE}"/>
              </a:ext>
            </a:extLst>
          </p:cNvPr>
          <p:cNvSpPr txBox="1"/>
          <p:nvPr/>
        </p:nvSpPr>
        <p:spPr>
          <a:xfrm>
            <a:off x="3342162" y="4156700"/>
            <a:ext cx="5411705" cy="1907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/>
              <a:t>利用非像素级标注，减少时间消耗。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目前常用的包括边界框标注、涂鸦标注、点标注、图像级标注等。其中</a:t>
            </a:r>
            <a:r>
              <a:rPr lang="zh-CN" altLang="en-US" sz="2000" dirty="0">
                <a:solidFill>
                  <a:srgbClr val="0070C0"/>
                </a:solidFill>
              </a:rPr>
              <a:t>图像级标注</a:t>
            </a:r>
            <a:r>
              <a:rPr lang="zh-CN" altLang="en-US" sz="2000" dirty="0"/>
              <a:t>仅对图像类别做标注，最省时省力，但同时效果仍有提升空间。</a:t>
            </a:r>
            <a:endParaRPr lang="en-US" altLang="zh-CN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B8EB2E6-B43A-DFCF-0AB7-E09557AA3C60}"/>
              </a:ext>
            </a:extLst>
          </p:cNvPr>
          <p:cNvSpPr txBox="1"/>
          <p:nvPr/>
        </p:nvSpPr>
        <p:spPr>
          <a:xfrm>
            <a:off x="2818702" y="3756590"/>
            <a:ext cx="61533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弱监督语义分割</a:t>
            </a:r>
            <a:r>
              <a:rPr lang="en-US" altLang="zh-CN" sz="2000" b="1" dirty="0"/>
              <a:t>(WSSS)</a:t>
            </a:r>
          </a:p>
        </p:txBody>
      </p:sp>
    </p:spTree>
    <p:extLst>
      <p:ext uri="{BB962C8B-B14F-4D97-AF65-F5344CB8AC3E}">
        <p14:creationId xmlns:p14="http://schemas.microsoft.com/office/powerpoint/2010/main" val="4033042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"/>
    </mc:Choice>
    <mc:Fallback>
      <p:transition spd="slow" advTm="2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剪去单角的矩形 1"/>
          <p:cNvSpPr/>
          <p:nvPr/>
        </p:nvSpPr>
        <p:spPr>
          <a:xfrm flipV="1">
            <a:off x="0" y="-99483"/>
            <a:ext cx="12192000" cy="8189248"/>
          </a:xfrm>
          <a:prstGeom prst="snip1Rect">
            <a:avLst>
              <a:gd name="adj" fmla="val 50000"/>
            </a:avLst>
          </a:prstGeom>
          <a:blipFill>
            <a:blip r:embed="rId3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grpSp>
        <p:nvGrpSpPr>
          <p:cNvPr id="25" name="组合 24"/>
          <p:cNvGrpSpPr/>
          <p:nvPr/>
        </p:nvGrpSpPr>
        <p:grpSpPr>
          <a:xfrm>
            <a:off x="10870305" y="242408"/>
            <a:ext cx="354496" cy="478885"/>
            <a:chOff x="7550086" y="49596"/>
            <a:chExt cx="1521906" cy="2055929"/>
          </a:xfrm>
        </p:grpSpPr>
        <p:sp>
          <p:nvSpPr>
            <p:cNvPr id="26" name="菱形 25"/>
            <p:cNvSpPr/>
            <p:nvPr/>
          </p:nvSpPr>
          <p:spPr>
            <a:xfrm>
              <a:off x="7550086" y="49596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7" name="菱形 26"/>
            <p:cNvSpPr/>
            <p:nvPr/>
          </p:nvSpPr>
          <p:spPr>
            <a:xfrm>
              <a:off x="8172400" y="669791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8" name="菱形 27"/>
            <p:cNvSpPr/>
            <p:nvPr/>
          </p:nvSpPr>
          <p:spPr>
            <a:xfrm>
              <a:off x="7550086" y="1208330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1234229" y="242408"/>
            <a:ext cx="354496" cy="478885"/>
            <a:chOff x="7550086" y="49596"/>
            <a:chExt cx="1521906" cy="2055929"/>
          </a:xfrm>
        </p:grpSpPr>
        <p:sp>
          <p:nvSpPr>
            <p:cNvPr id="30" name="菱形 29"/>
            <p:cNvSpPr/>
            <p:nvPr/>
          </p:nvSpPr>
          <p:spPr>
            <a:xfrm>
              <a:off x="7550086" y="49596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1" name="菱形 30"/>
            <p:cNvSpPr/>
            <p:nvPr/>
          </p:nvSpPr>
          <p:spPr>
            <a:xfrm>
              <a:off x="8172400" y="669791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2" name="菱形 31"/>
            <p:cNvSpPr/>
            <p:nvPr/>
          </p:nvSpPr>
          <p:spPr>
            <a:xfrm>
              <a:off x="7550086" y="1208330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1598155" y="242408"/>
            <a:ext cx="354496" cy="478885"/>
            <a:chOff x="7550086" y="49596"/>
            <a:chExt cx="1521906" cy="2055929"/>
          </a:xfrm>
        </p:grpSpPr>
        <p:sp>
          <p:nvSpPr>
            <p:cNvPr id="34" name="菱形 33"/>
            <p:cNvSpPr/>
            <p:nvPr/>
          </p:nvSpPr>
          <p:spPr>
            <a:xfrm>
              <a:off x="7550086" y="49596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5" name="菱形 34"/>
            <p:cNvSpPr/>
            <p:nvPr/>
          </p:nvSpPr>
          <p:spPr>
            <a:xfrm>
              <a:off x="8172400" y="669791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6" name="菱形 35"/>
            <p:cNvSpPr/>
            <p:nvPr/>
          </p:nvSpPr>
          <p:spPr>
            <a:xfrm>
              <a:off x="7550086" y="1208330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49" name="矩形 48"/>
          <p:cNvSpPr/>
          <p:nvPr/>
        </p:nvSpPr>
        <p:spPr>
          <a:xfrm>
            <a:off x="4599108" y="1216145"/>
            <a:ext cx="4475492" cy="768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831024" y="1216145"/>
            <a:ext cx="768085" cy="7680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</a:rPr>
              <a:t>1</a:t>
            </a:r>
            <a:endParaRPr lang="zh-CN" altLang="en-US" sz="4800" b="1" dirty="0">
              <a:solidFill>
                <a:schemeClr val="bg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385329" y="2444889"/>
            <a:ext cx="4475492" cy="768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599108" y="2435757"/>
            <a:ext cx="768085" cy="7680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/>
              <a:t>2</a:t>
            </a:r>
            <a:endParaRPr lang="zh-CN" altLang="en-US" sz="4800" b="1" dirty="0"/>
          </a:p>
        </p:txBody>
      </p:sp>
      <p:sp>
        <p:nvSpPr>
          <p:cNvPr id="53" name="矩形 52"/>
          <p:cNvSpPr/>
          <p:nvPr/>
        </p:nvSpPr>
        <p:spPr>
          <a:xfrm>
            <a:off x="4600689" y="4766818"/>
            <a:ext cx="4475492" cy="768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3831024" y="4769788"/>
            <a:ext cx="768085" cy="7680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/>
              <a:t>4</a:t>
            </a:r>
            <a:endParaRPr lang="zh-CN" altLang="en-US" sz="4800" b="1" dirty="0"/>
          </a:p>
        </p:txBody>
      </p:sp>
      <p:sp>
        <p:nvSpPr>
          <p:cNvPr id="57" name="矩形 56"/>
          <p:cNvSpPr/>
          <p:nvPr/>
        </p:nvSpPr>
        <p:spPr>
          <a:xfrm>
            <a:off x="4740575" y="1320127"/>
            <a:ext cx="30572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C5A89"/>
                </a:solidFill>
                <a:latin typeface="微软雅黑" pitchFamily="34" charset="-122"/>
                <a:ea typeface="微软雅黑" pitchFamily="34" charset="-122"/>
              </a:rPr>
              <a:t>研究背景与意义</a:t>
            </a:r>
          </a:p>
        </p:txBody>
      </p:sp>
      <p:sp>
        <p:nvSpPr>
          <p:cNvPr id="83" name="矩形 82"/>
          <p:cNvSpPr/>
          <p:nvPr/>
        </p:nvSpPr>
        <p:spPr>
          <a:xfrm>
            <a:off x="5527319" y="2522781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研究现状</a:t>
            </a:r>
          </a:p>
        </p:txBody>
      </p:sp>
      <p:sp>
        <p:nvSpPr>
          <p:cNvPr id="84" name="矩形 83"/>
          <p:cNvSpPr/>
          <p:nvPr/>
        </p:nvSpPr>
        <p:spPr>
          <a:xfrm>
            <a:off x="4732519" y="4869220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C5A89"/>
                </a:solidFill>
                <a:latin typeface="微软雅黑" pitchFamily="34" charset="-122"/>
                <a:ea typeface="微软雅黑" pitchFamily="34" charset="-122"/>
              </a:rPr>
              <a:t>结论与展望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5BC8120-8A62-4BB0-8E72-AF1DA4DA9F1B}"/>
              </a:ext>
            </a:extLst>
          </p:cNvPr>
          <p:cNvSpPr/>
          <p:nvPr/>
        </p:nvSpPr>
        <p:spPr>
          <a:xfrm>
            <a:off x="5385329" y="3601287"/>
            <a:ext cx="4475492" cy="768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FC81D4D-3278-4231-A0CF-0220A4788964}"/>
              </a:ext>
            </a:extLst>
          </p:cNvPr>
          <p:cNvSpPr/>
          <p:nvPr/>
        </p:nvSpPr>
        <p:spPr>
          <a:xfrm>
            <a:off x="4599108" y="3592155"/>
            <a:ext cx="768085" cy="7680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/>
              <a:t>3</a:t>
            </a:r>
            <a:endParaRPr lang="zh-CN" altLang="en-US" sz="4800" b="1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FD643FB-F4E3-4ABA-BA3A-8E765BBC0EB0}"/>
              </a:ext>
            </a:extLst>
          </p:cNvPr>
          <p:cNvSpPr/>
          <p:nvPr/>
        </p:nvSpPr>
        <p:spPr>
          <a:xfrm>
            <a:off x="5527319" y="3679179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C5A89"/>
                </a:solidFill>
                <a:latin typeface="微软雅黑" pitchFamily="34" charset="-122"/>
                <a:ea typeface="微软雅黑" pitchFamily="34" charset="-122"/>
              </a:rPr>
              <a:t>研究内容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28335DB-1C40-43F2-919E-694369D30BD3}"/>
              </a:ext>
            </a:extLst>
          </p:cNvPr>
          <p:cNvGrpSpPr/>
          <p:nvPr/>
        </p:nvGrpSpPr>
        <p:grpSpPr>
          <a:xfrm>
            <a:off x="1326996" y="2096131"/>
            <a:ext cx="2259935" cy="2060561"/>
            <a:chOff x="1326996" y="2096131"/>
            <a:chExt cx="2259935" cy="2060561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56BFF723-6F25-4FB2-B700-1C4A49A846EB}"/>
                </a:ext>
              </a:extLst>
            </p:cNvPr>
            <p:cNvSpPr/>
            <p:nvPr/>
          </p:nvSpPr>
          <p:spPr>
            <a:xfrm>
              <a:off x="1945662" y="2515423"/>
              <a:ext cx="1641269" cy="1641269"/>
            </a:xfrm>
            <a:prstGeom prst="ellipse">
              <a:avLst/>
            </a:prstGeom>
            <a:blipFill>
              <a:blip r:embed="rId5" cstate="print"/>
              <a:stretch>
                <a:fillRect/>
              </a:stretch>
            </a:blipFill>
            <a:ln w="57150">
              <a:solidFill>
                <a:schemeClr val="bg1"/>
              </a:solidFill>
            </a:ln>
            <a:effectLst>
              <a:outerShdw blurRad="508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4D356E05-D8A2-4842-9A99-141952370122}"/>
                </a:ext>
              </a:extLst>
            </p:cNvPr>
            <p:cNvSpPr/>
            <p:nvPr/>
          </p:nvSpPr>
          <p:spPr>
            <a:xfrm>
              <a:off x="2377304" y="2601747"/>
              <a:ext cx="822490" cy="140564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zh-CN" altLang="en-US" sz="4267" dirty="0">
                  <a:solidFill>
                    <a:schemeClr val="bg1"/>
                  </a:solidFill>
                  <a:latin typeface="微软雅黑"/>
                  <a:ea typeface="微软雅黑" pitchFamily="34" charset="-122"/>
                  <a:sym typeface="微软雅黑"/>
                </a:rPr>
                <a:t>目录</a:t>
              </a:r>
              <a:endParaRPr lang="en-US" altLang="zh-CN" sz="4267" dirty="0">
                <a:solidFill>
                  <a:schemeClr val="bg1"/>
                </a:solidFill>
                <a:latin typeface="微软雅黑"/>
                <a:ea typeface="微软雅黑" pitchFamily="34" charset="-122"/>
                <a:sym typeface="微软雅黑"/>
              </a:endParaRPr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5D364089-CCAD-43A6-99DF-55A5CF43C20E}"/>
                </a:ext>
              </a:extLst>
            </p:cNvPr>
            <p:cNvGrpSpPr/>
            <p:nvPr/>
          </p:nvGrpSpPr>
          <p:grpSpPr>
            <a:xfrm rot="20457332">
              <a:off x="1326996" y="2096131"/>
              <a:ext cx="1562892" cy="1212987"/>
              <a:chOff x="782675" y="1648780"/>
              <a:chExt cx="1172169" cy="909740"/>
            </a:xfrm>
            <a:solidFill>
              <a:schemeClr val="bg1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59" name="圆角矩形 63">
                <a:extLst>
                  <a:ext uri="{FF2B5EF4-FFF2-40B4-BE49-F238E27FC236}">
                    <a16:creationId xmlns:a16="http://schemas.microsoft.com/office/drawing/2014/main" id="{AC2FA85F-85B5-4816-80F0-FC7F67DC942C}"/>
                  </a:ext>
                </a:extLst>
              </p:cNvPr>
              <p:cNvSpPr/>
              <p:nvPr/>
            </p:nvSpPr>
            <p:spPr>
              <a:xfrm rot="2473112">
                <a:off x="1434975" y="1702245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60" name="圆角矩形 64">
                <a:extLst>
                  <a:ext uri="{FF2B5EF4-FFF2-40B4-BE49-F238E27FC236}">
                    <a16:creationId xmlns:a16="http://schemas.microsoft.com/office/drawing/2014/main" id="{549FEFCF-7528-41BA-95FB-C3727E78954E}"/>
                  </a:ext>
                </a:extLst>
              </p:cNvPr>
              <p:cNvSpPr/>
              <p:nvPr/>
            </p:nvSpPr>
            <p:spPr>
              <a:xfrm rot="18673112">
                <a:off x="1434975" y="1702245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2" name="圆角矩形 65">
                <a:extLst>
                  <a:ext uri="{FF2B5EF4-FFF2-40B4-BE49-F238E27FC236}">
                    <a16:creationId xmlns:a16="http://schemas.microsoft.com/office/drawing/2014/main" id="{2316D88E-C0E6-4F2A-A3A2-3498AF587DF9}"/>
                  </a:ext>
                </a:extLst>
              </p:cNvPr>
              <p:cNvSpPr/>
              <p:nvPr/>
            </p:nvSpPr>
            <p:spPr>
              <a:xfrm rot="3493932">
                <a:off x="993999" y="1833391"/>
                <a:ext cx="453892" cy="12962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5" name="圆角矩形 66">
                <a:extLst>
                  <a:ext uri="{FF2B5EF4-FFF2-40B4-BE49-F238E27FC236}">
                    <a16:creationId xmlns:a16="http://schemas.microsoft.com/office/drawing/2014/main" id="{161FB27A-6494-48FB-9619-88E323A7AFA3}"/>
                  </a:ext>
                </a:extLst>
              </p:cNvPr>
              <p:cNvSpPr/>
              <p:nvPr/>
            </p:nvSpPr>
            <p:spPr>
              <a:xfrm rot="19693932">
                <a:off x="993999" y="1833391"/>
                <a:ext cx="453892" cy="12962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6" name="圆角矩形 67">
                <a:extLst>
                  <a:ext uri="{FF2B5EF4-FFF2-40B4-BE49-F238E27FC236}">
                    <a16:creationId xmlns:a16="http://schemas.microsoft.com/office/drawing/2014/main" id="{C3B0948B-4CE6-497A-B89D-61BEF1C323A2}"/>
                  </a:ext>
                </a:extLst>
              </p:cNvPr>
              <p:cNvSpPr/>
              <p:nvPr/>
            </p:nvSpPr>
            <p:spPr>
              <a:xfrm rot="3801381">
                <a:off x="1365852" y="1937875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7" name="圆角矩形 68">
                <a:extLst>
                  <a:ext uri="{FF2B5EF4-FFF2-40B4-BE49-F238E27FC236}">
                    <a16:creationId xmlns:a16="http://schemas.microsoft.com/office/drawing/2014/main" id="{17D0955B-8FB7-4117-88DA-A1262A58F380}"/>
                  </a:ext>
                </a:extLst>
              </p:cNvPr>
              <p:cNvSpPr/>
              <p:nvPr/>
            </p:nvSpPr>
            <p:spPr>
              <a:xfrm rot="20001381">
                <a:off x="1365852" y="1937875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8" name="圆角矩形 69">
                <a:extLst>
                  <a:ext uri="{FF2B5EF4-FFF2-40B4-BE49-F238E27FC236}">
                    <a16:creationId xmlns:a16="http://schemas.microsoft.com/office/drawing/2014/main" id="{7B559F11-8607-4556-A5D1-56B611D1F987}"/>
                  </a:ext>
                </a:extLst>
              </p:cNvPr>
              <p:cNvSpPr/>
              <p:nvPr/>
            </p:nvSpPr>
            <p:spPr>
              <a:xfrm rot="2473112">
                <a:off x="1061027" y="2129162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9" name="圆角矩形 70">
                <a:extLst>
                  <a:ext uri="{FF2B5EF4-FFF2-40B4-BE49-F238E27FC236}">
                    <a16:creationId xmlns:a16="http://schemas.microsoft.com/office/drawing/2014/main" id="{380B0B3B-9BF1-4FB0-8475-FB279FE35E79}"/>
                  </a:ext>
                </a:extLst>
              </p:cNvPr>
              <p:cNvSpPr/>
              <p:nvPr/>
            </p:nvSpPr>
            <p:spPr>
              <a:xfrm rot="18673112">
                <a:off x="1061027" y="2129162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0" name="圆角矩形 71">
                <a:extLst>
                  <a:ext uri="{FF2B5EF4-FFF2-40B4-BE49-F238E27FC236}">
                    <a16:creationId xmlns:a16="http://schemas.microsoft.com/office/drawing/2014/main" id="{6481B1DB-7C72-4AF6-858F-2849315DA046}"/>
                  </a:ext>
                </a:extLst>
              </p:cNvPr>
              <p:cNvSpPr/>
              <p:nvPr/>
            </p:nvSpPr>
            <p:spPr>
              <a:xfrm rot="21008604">
                <a:off x="833913" y="2003432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1" name="圆角矩形 72">
                <a:extLst>
                  <a:ext uri="{FF2B5EF4-FFF2-40B4-BE49-F238E27FC236}">
                    <a16:creationId xmlns:a16="http://schemas.microsoft.com/office/drawing/2014/main" id="{0023B87C-AC78-4778-B5FE-E0C156D92E8A}"/>
                  </a:ext>
                </a:extLst>
              </p:cNvPr>
              <p:cNvSpPr/>
              <p:nvPr/>
            </p:nvSpPr>
            <p:spPr>
              <a:xfrm rot="15608604">
                <a:off x="833913" y="2003432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2" name="圆角矩形 73">
                <a:extLst>
                  <a:ext uri="{FF2B5EF4-FFF2-40B4-BE49-F238E27FC236}">
                    <a16:creationId xmlns:a16="http://schemas.microsoft.com/office/drawing/2014/main" id="{F66876F9-5655-44CE-A9B9-A6278EC5C976}"/>
                  </a:ext>
                </a:extLst>
              </p:cNvPr>
              <p:cNvSpPr/>
              <p:nvPr/>
            </p:nvSpPr>
            <p:spPr>
              <a:xfrm rot="541275">
                <a:off x="805759" y="2204049"/>
                <a:ext cx="299355" cy="8549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3" name="圆角矩形 74">
                <a:extLst>
                  <a:ext uri="{FF2B5EF4-FFF2-40B4-BE49-F238E27FC236}">
                    <a16:creationId xmlns:a16="http://schemas.microsoft.com/office/drawing/2014/main" id="{6AE4C749-6675-421F-8DFE-DBE2247FE3BD}"/>
                  </a:ext>
                </a:extLst>
              </p:cNvPr>
              <p:cNvSpPr/>
              <p:nvPr/>
            </p:nvSpPr>
            <p:spPr>
              <a:xfrm rot="16741275">
                <a:off x="805759" y="2204049"/>
                <a:ext cx="299355" cy="8549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4" name="圆角矩形 75">
                <a:extLst>
                  <a:ext uri="{FF2B5EF4-FFF2-40B4-BE49-F238E27FC236}">
                    <a16:creationId xmlns:a16="http://schemas.microsoft.com/office/drawing/2014/main" id="{49352788-1EE3-4C50-8055-B80C7080AB5F}"/>
                  </a:ext>
                </a:extLst>
              </p:cNvPr>
              <p:cNvSpPr/>
              <p:nvPr/>
            </p:nvSpPr>
            <p:spPr>
              <a:xfrm rot="2473112">
                <a:off x="1509694" y="1879922"/>
                <a:ext cx="299355" cy="8549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5" name="圆角矩形 76">
                <a:extLst>
                  <a:ext uri="{FF2B5EF4-FFF2-40B4-BE49-F238E27FC236}">
                    <a16:creationId xmlns:a16="http://schemas.microsoft.com/office/drawing/2014/main" id="{3430A46F-566B-488F-9E7F-CB7DDEEFF13A}"/>
                  </a:ext>
                </a:extLst>
              </p:cNvPr>
              <p:cNvSpPr/>
              <p:nvPr/>
            </p:nvSpPr>
            <p:spPr>
              <a:xfrm rot="18673112">
                <a:off x="1509694" y="1879922"/>
                <a:ext cx="299355" cy="8549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6" name="圆角矩形 77">
                <a:extLst>
                  <a:ext uri="{FF2B5EF4-FFF2-40B4-BE49-F238E27FC236}">
                    <a16:creationId xmlns:a16="http://schemas.microsoft.com/office/drawing/2014/main" id="{644CBE45-1B5F-48BE-9283-415FFE99B5CB}"/>
                  </a:ext>
                </a:extLst>
              </p:cNvPr>
              <p:cNvSpPr/>
              <p:nvPr/>
            </p:nvSpPr>
            <p:spPr>
              <a:xfrm rot="550675">
                <a:off x="782675" y="2462307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7" name="圆角矩形 78">
                <a:extLst>
                  <a:ext uri="{FF2B5EF4-FFF2-40B4-BE49-F238E27FC236}">
                    <a16:creationId xmlns:a16="http://schemas.microsoft.com/office/drawing/2014/main" id="{C2A1A195-337D-4B59-A85A-C4778BB084E5}"/>
                  </a:ext>
                </a:extLst>
              </p:cNvPr>
              <p:cNvSpPr/>
              <p:nvPr/>
            </p:nvSpPr>
            <p:spPr>
              <a:xfrm rot="16750675">
                <a:off x="782675" y="2462307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8" name="圆角矩形 79">
                <a:extLst>
                  <a:ext uri="{FF2B5EF4-FFF2-40B4-BE49-F238E27FC236}">
                    <a16:creationId xmlns:a16="http://schemas.microsoft.com/office/drawing/2014/main" id="{3839E6F2-68E1-492B-B89A-39FEA9FDE16E}"/>
                  </a:ext>
                </a:extLst>
              </p:cNvPr>
              <p:cNvSpPr/>
              <p:nvPr/>
            </p:nvSpPr>
            <p:spPr>
              <a:xfrm rot="4083626">
                <a:off x="1805166" y="1949326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9" name="圆角矩形 80">
                <a:extLst>
                  <a:ext uri="{FF2B5EF4-FFF2-40B4-BE49-F238E27FC236}">
                    <a16:creationId xmlns:a16="http://schemas.microsoft.com/office/drawing/2014/main" id="{794823A0-D723-49F8-9BE0-13AD0D38DAEA}"/>
                  </a:ext>
                </a:extLst>
              </p:cNvPr>
              <p:cNvSpPr/>
              <p:nvPr/>
            </p:nvSpPr>
            <p:spPr>
              <a:xfrm rot="20283626">
                <a:off x="1805166" y="1949326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74046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1"/>
    </mc:Choice>
    <mc:Fallback>
      <p:transition spd="slow" advTm="24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CBE1BEC-D04E-4020-B395-F4A382FD4213}"/>
              </a:ext>
            </a:extLst>
          </p:cNvPr>
          <p:cNvSpPr txBox="1"/>
          <p:nvPr/>
        </p:nvSpPr>
        <p:spPr>
          <a:xfrm>
            <a:off x="296381" y="21461"/>
            <a:ext cx="4123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2. </a:t>
            </a:r>
            <a:r>
              <a:rPr kumimoji="1" lang="zh-CN" altLang="en-US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研究现状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C8DA0DF-20F8-4F00-B79D-3C736D357E23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846F66EE-FB43-4BFA-9B08-932BC0F58D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F582AB3-8298-5829-DBD6-E4916D2BF68D}"/>
              </a:ext>
            </a:extLst>
          </p:cNvPr>
          <p:cNvSpPr txBox="1"/>
          <p:nvPr/>
        </p:nvSpPr>
        <p:spPr>
          <a:xfrm>
            <a:off x="819796" y="893041"/>
            <a:ext cx="10396579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目前在图像级标注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WSSS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的常用方法是基于类激活映射（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CAM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）算法。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EAFD00D-0B39-E572-28DD-4F87319432B2}"/>
              </a:ext>
            </a:extLst>
          </p:cNvPr>
          <p:cNvGrpSpPr>
            <a:grpSpLocks noChangeAspect="1"/>
          </p:cNvGrpSpPr>
          <p:nvPr/>
        </p:nvGrpSpPr>
        <p:grpSpPr>
          <a:xfrm>
            <a:off x="2000475" y="4022341"/>
            <a:ext cx="5487448" cy="2695519"/>
            <a:chOff x="1538997" y="2618825"/>
            <a:chExt cx="8704187" cy="427563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E7B1C46-3B7B-6B02-A62F-765D18E24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38997" y="2618825"/>
              <a:ext cx="8704187" cy="162035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5F57B56-111A-B7A9-36CC-4210758AE9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95990" y="3178213"/>
              <a:ext cx="8347609" cy="3716243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CF777E4-4FE6-9252-BD2E-C6EF17C53951}"/>
              </a:ext>
            </a:extLst>
          </p:cNvPr>
          <p:cNvGrpSpPr/>
          <p:nvPr/>
        </p:nvGrpSpPr>
        <p:grpSpPr>
          <a:xfrm>
            <a:off x="535061" y="1662271"/>
            <a:ext cx="9500744" cy="2190793"/>
            <a:chOff x="979902" y="845481"/>
            <a:chExt cx="9500744" cy="2190793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C767F55-6F57-C685-5BF5-787E704E9ED8}"/>
                </a:ext>
              </a:extLst>
            </p:cNvPr>
            <p:cNvSpPr txBox="1"/>
            <p:nvPr/>
          </p:nvSpPr>
          <p:spPr>
            <a:xfrm>
              <a:off x="979902" y="1992581"/>
              <a:ext cx="114803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dirty="0"/>
                <a:t>Input </a:t>
              </a:r>
              <a:r>
                <a:rPr lang="en-US" altLang="zh-CN" sz="1600" b="1" dirty="0" err="1"/>
                <a:t>Img</a:t>
              </a:r>
              <a:endParaRPr lang="zh-CN" altLang="en-US" sz="1600" b="1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E76249B-ADAA-CC41-A623-37884501258F}"/>
                </a:ext>
              </a:extLst>
            </p:cNvPr>
            <p:cNvSpPr/>
            <p:nvPr/>
          </p:nvSpPr>
          <p:spPr>
            <a:xfrm>
              <a:off x="2520921" y="1591656"/>
              <a:ext cx="1736489" cy="114300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Classification</a:t>
              </a:r>
            </a:p>
            <a:p>
              <a:pPr algn="ctr"/>
              <a:r>
                <a:rPr lang="en-US" altLang="zh-CN" sz="2000" dirty="0"/>
                <a:t>model</a:t>
              </a:r>
              <a:endParaRPr lang="zh-CN" altLang="en-US" sz="2000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E0A0E33-EE1E-D8D7-001F-16A5C060D835}"/>
                </a:ext>
              </a:extLst>
            </p:cNvPr>
            <p:cNvSpPr/>
            <p:nvPr/>
          </p:nvSpPr>
          <p:spPr>
            <a:xfrm>
              <a:off x="5070237" y="1591656"/>
              <a:ext cx="1392690" cy="114300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Pseudo-labels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DA5CFC5-3AAD-DF3A-0A4C-F8C089BEE28A}"/>
                </a:ext>
              </a:extLst>
            </p:cNvPr>
            <p:cNvSpPr/>
            <p:nvPr/>
          </p:nvSpPr>
          <p:spPr>
            <a:xfrm>
              <a:off x="7167310" y="1458831"/>
              <a:ext cx="1737637" cy="146785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/>
                <a:t>Semantic segmentation model</a:t>
              </a:r>
              <a:endParaRPr lang="zh-CN" altLang="en-US" sz="2000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82E0B3B6-D2C4-A777-D9CA-C88D4D227345}"/>
                </a:ext>
              </a:extLst>
            </p:cNvPr>
            <p:cNvSpPr txBox="1"/>
            <p:nvPr/>
          </p:nvSpPr>
          <p:spPr>
            <a:xfrm>
              <a:off x="9483501" y="2023483"/>
              <a:ext cx="99714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dirty="0"/>
                <a:t>Output</a:t>
              </a:r>
              <a:endParaRPr lang="zh-CN" altLang="en-US" sz="1600" b="1" dirty="0"/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D1A5AB8F-C6C4-2D45-B957-206987D43FF4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>
              <a:off x="2127935" y="2161858"/>
              <a:ext cx="392986" cy="129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02D53E5A-223F-84C1-096D-80CC2CA12597}"/>
                </a:ext>
              </a:extLst>
            </p:cNvPr>
            <p:cNvCxnSpPr>
              <a:cxnSpLocks/>
              <a:stCxn id="10" idx="3"/>
              <a:endCxn id="11" idx="1"/>
            </p:cNvCxnSpPr>
            <p:nvPr/>
          </p:nvCxnSpPr>
          <p:spPr>
            <a:xfrm>
              <a:off x="4257410" y="2163157"/>
              <a:ext cx="81282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E8AC8B26-C6AE-4FD2-E04D-2F4D7EB3DC4D}"/>
                </a:ext>
              </a:extLst>
            </p:cNvPr>
            <p:cNvCxnSpPr>
              <a:cxnSpLocks/>
            </p:cNvCxnSpPr>
            <p:nvPr/>
          </p:nvCxnSpPr>
          <p:spPr>
            <a:xfrm>
              <a:off x="6464649" y="2163154"/>
              <a:ext cx="706105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635A47EF-346E-831A-72B9-6D0D883A193B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>
              <a:off x="8904947" y="2192760"/>
              <a:ext cx="57855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1DDB33A-C73B-E7D0-EF25-8C1CD741D12B}"/>
                </a:ext>
              </a:extLst>
            </p:cNvPr>
            <p:cNvSpPr txBox="1"/>
            <p:nvPr/>
          </p:nvSpPr>
          <p:spPr>
            <a:xfrm>
              <a:off x="2445316" y="845481"/>
              <a:ext cx="188769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dirty="0"/>
                <a:t>Image-level label</a:t>
              </a:r>
              <a:endParaRPr lang="zh-CN" altLang="en-US" sz="1600" b="1" dirty="0"/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F771C778-7AD1-FC1D-DE07-E283034855F0}"/>
                </a:ext>
              </a:extLst>
            </p:cNvPr>
            <p:cNvCxnSpPr>
              <a:cxnSpLocks/>
              <a:stCxn id="18" idx="2"/>
              <a:endCxn id="10" idx="0"/>
            </p:cNvCxnSpPr>
            <p:nvPr/>
          </p:nvCxnSpPr>
          <p:spPr>
            <a:xfrm>
              <a:off x="3389165" y="1184035"/>
              <a:ext cx="1" cy="40762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A04D1EF-1920-943D-1A7C-954EC40F761F}"/>
                </a:ext>
              </a:extLst>
            </p:cNvPr>
            <p:cNvSpPr/>
            <p:nvPr/>
          </p:nvSpPr>
          <p:spPr>
            <a:xfrm>
              <a:off x="4806462" y="1184035"/>
              <a:ext cx="1887697" cy="1852239"/>
            </a:xfrm>
            <a:prstGeom prst="ellipse">
              <a:avLst/>
            </a:pr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3FE729EC-66D1-E29A-08E6-A6252F16B0D0}"/>
              </a:ext>
            </a:extLst>
          </p:cNvPr>
          <p:cNvSpPr txBox="1"/>
          <p:nvPr/>
        </p:nvSpPr>
        <p:spPr>
          <a:xfrm>
            <a:off x="7359874" y="5146892"/>
            <a:ext cx="194881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Zhou, </a:t>
            </a:r>
            <a:r>
              <a:rPr lang="en-US" altLang="zh-CN" sz="1100" dirty="0" err="1"/>
              <a:t>Bolei</a:t>
            </a:r>
            <a:r>
              <a:rPr lang="en-US" altLang="zh-CN" sz="1100" dirty="0"/>
              <a:t>, et al. “Learning deep features for discriminative localization.” Proceedings of the IEEE conference on computer vision and pattern recognition. 2016.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060675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"/>
    </mc:Choice>
    <mc:Fallback>
      <p:transition spd="slow" advTm="3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AA25EACF-E4A0-4D90-98BD-30F612CD56E4}"/>
              </a:ext>
            </a:extLst>
          </p:cNvPr>
          <p:cNvSpPr txBox="1"/>
          <p:nvPr/>
        </p:nvSpPr>
        <p:spPr>
          <a:xfrm>
            <a:off x="296381" y="21461"/>
            <a:ext cx="4123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2. </a:t>
            </a:r>
            <a:r>
              <a:rPr kumimoji="1" lang="zh-CN" altLang="en-US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研究现状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77F03CB-478A-4E7C-80D2-1AF5087ADB50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C38266C-830C-4027-B357-E4857FDF2A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39B15BD5-4257-6F05-E531-4DBF476ACBCB}"/>
              </a:ext>
            </a:extLst>
          </p:cNvPr>
          <p:cNvGrpSpPr>
            <a:grpSpLocks noChangeAspect="1"/>
          </p:cNvGrpSpPr>
          <p:nvPr/>
        </p:nvGrpSpPr>
        <p:grpSpPr>
          <a:xfrm>
            <a:off x="819796" y="2188383"/>
            <a:ext cx="5400000" cy="2652564"/>
            <a:chOff x="1538997" y="2618825"/>
            <a:chExt cx="8704187" cy="4275631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0F55F26-FA89-65FB-B930-4ECAA3C792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38997" y="2618825"/>
              <a:ext cx="8704187" cy="162035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7A251994-B6FC-36D8-D101-F4BF58D6B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95990" y="3178213"/>
              <a:ext cx="8347609" cy="3716243"/>
            </a:xfrm>
            <a:prstGeom prst="rect">
              <a:avLst/>
            </a:prstGeom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239287BA-F6A2-23F8-1968-E46A701A5EA8}"/>
              </a:ext>
            </a:extLst>
          </p:cNvPr>
          <p:cNvSpPr txBox="1"/>
          <p:nvPr/>
        </p:nvSpPr>
        <p:spPr>
          <a:xfrm>
            <a:off x="6797040" y="2205066"/>
            <a:ext cx="4290060" cy="378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CAM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算法将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CNN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提取的特征映射到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类别激活图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，从而定位图像中与特定类别相关的区域。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特征图被平均池化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输入全连接层后得到</a:t>
            </a:r>
            <a:r>
              <a:rPr lang="zh-CN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类别得分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通过加权求和特征图映射和全连接层权重得到类激活图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，通过归一化处理的方法生成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热力图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，突出显示与类别相关的区域。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199F96-2ABE-5009-4FE1-D3DAC3881A51}"/>
              </a:ext>
            </a:extLst>
          </p:cNvPr>
          <p:cNvSpPr txBox="1"/>
          <p:nvPr/>
        </p:nvSpPr>
        <p:spPr>
          <a:xfrm>
            <a:off x="979230" y="4840947"/>
            <a:ext cx="511676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Zhou, </a:t>
            </a:r>
            <a:r>
              <a:rPr lang="en-US" altLang="zh-CN" sz="1100" dirty="0" err="1"/>
              <a:t>Bolei</a:t>
            </a:r>
            <a:r>
              <a:rPr lang="en-US" altLang="zh-CN" sz="1100" dirty="0"/>
              <a:t>, et al. “Learning deep features for discriminative localization.” Proceedings of the IEEE conference on computer vision and pattern recognition. 2016.</a:t>
            </a:r>
            <a:endParaRPr lang="zh-CN" altLang="en-US" sz="11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E8003F-202D-A2A2-CF95-6D74F4F19D76}"/>
              </a:ext>
            </a:extLst>
          </p:cNvPr>
          <p:cNvSpPr txBox="1"/>
          <p:nvPr/>
        </p:nvSpPr>
        <p:spPr>
          <a:xfrm>
            <a:off x="819796" y="893041"/>
            <a:ext cx="10396579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目前在图像级标注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WSSS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的常用方法是基于类激活映射（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CAM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）算法。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516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"/>
    </mc:Choice>
    <mc:Fallback>
      <p:transition spd="slow" advTm="4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AA25EACF-E4A0-4D90-98BD-30F612CD56E4}"/>
              </a:ext>
            </a:extLst>
          </p:cNvPr>
          <p:cNvSpPr txBox="1"/>
          <p:nvPr/>
        </p:nvSpPr>
        <p:spPr>
          <a:xfrm>
            <a:off x="296381" y="21461"/>
            <a:ext cx="4123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2. </a:t>
            </a:r>
            <a:r>
              <a:rPr kumimoji="1" lang="zh-CN" altLang="en-US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研究现状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77F03CB-478A-4E7C-80D2-1AF5087ADB50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C38266C-830C-4027-B357-E4857FDF2A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39287BA-F6A2-23F8-1968-E46A701A5EA8}"/>
              </a:ext>
            </a:extLst>
          </p:cNvPr>
          <p:cNvSpPr txBox="1"/>
          <p:nvPr/>
        </p:nvSpPr>
        <p:spPr>
          <a:xfrm>
            <a:off x="6696650" y="3033349"/>
            <a:ext cx="4203698" cy="1576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CAM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算法通常只能激活目标物体中最具判别性的区域，导致：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激活的不平衡和不充分；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错误激活。</a:t>
            </a:r>
            <a:endParaRPr lang="en-US" altLang="zh-CN" sz="20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9" name="图形 38" descr="警告 纯色填充">
            <a:extLst>
              <a:ext uri="{FF2B5EF4-FFF2-40B4-BE49-F238E27FC236}">
                <a16:creationId xmlns:a16="http://schemas.microsoft.com/office/drawing/2014/main" id="{DA37C0DF-6176-9D6E-9086-6BC1FFC24F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96649" y="2188383"/>
            <a:ext cx="914400" cy="914400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F026E210-0BCA-C9AC-23FD-7D5706A5BC3D}"/>
              </a:ext>
            </a:extLst>
          </p:cNvPr>
          <p:cNvGrpSpPr>
            <a:grpSpLocks noChangeAspect="1"/>
          </p:cNvGrpSpPr>
          <p:nvPr/>
        </p:nvGrpSpPr>
        <p:grpSpPr>
          <a:xfrm>
            <a:off x="819796" y="2188383"/>
            <a:ext cx="5400000" cy="2652564"/>
            <a:chOff x="1538997" y="2618825"/>
            <a:chExt cx="8704187" cy="427563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75A45631-1230-6962-6376-BF82EDC38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38997" y="2618825"/>
              <a:ext cx="8704187" cy="1620350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524039D8-3F82-072E-1647-304CA5AEB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95990" y="3178213"/>
              <a:ext cx="8347609" cy="3716243"/>
            </a:xfrm>
            <a:prstGeom prst="rect">
              <a:avLst/>
            </a:prstGeom>
          </p:spPr>
        </p:pic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F65C0324-5FAD-29D2-2864-B74A882D3716}"/>
              </a:ext>
            </a:extLst>
          </p:cNvPr>
          <p:cNvSpPr txBox="1"/>
          <p:nvPr/>
        </p:nvSpPr>
        <p:spPr>
          <a:xfrm>
            <a:off x="979230" y="4840947"/>
            <a:ext cx="511676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Zhou, </a:t>
            </a:r>
            <a:r>
              <a:rPr lang="en-US" altLang="zh-CN" sz="1100" dirty="0" err="1"/>
              <a:t>Bolei</a:t>
            </a:r>
            <a:r>
              <a:rPr lang="en-US" altLang="zh-CN" sz="1100" dirty="0"/>
              <a:t>, et al. “Learning deep features for discriminative localization.” Proceedings of the IEEE conference on computer vision and pattern recognition. 2016.</a:t>
            </a:r>
            <a:endParaRPr lang="zh-CN" altLang="en-US" sz="11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F5EFFBA-95B8-44A2-CB8A-4B91FCB2D72F}"/>
              </a:ext>
            </a:extLst>
          </p:cNvPr>
          <p:cNvSpPr txBox="1"/>
          <p:nvPr/>
        </p:nvSpPr>
        <p:spPr>
          <a:xfrm>
            <a:off x="819796" y="893041"/>
            <a:ext cx="10396579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但是，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CAM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算法也存在显著缺陷：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990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6"/>
    </mc:Choice>
    <mc:Fallback>
      <p:transition spd="slow" advTm="39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剪去单角的矩形 1"/>
          <p:cNvSpPr/>
          <p:nvPr/>
        </p:nvSpPr>
        <p:spPr>
          <a:xfrm flipV="1">
            <a:off x="0" y="-99483"/>
            <a:ext cx="12192000" cy="8189248"/>
          </a:xfrm>
          <a:prstGeom prst="snip1Rect">
            <a:avLst>
              <a:gd name="adj" fmla="val 50000"/>
            </a:avLst>
          </a:prstGeom>
          <a:blipFill>
            <a:blip r:embed="rId3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grpSp>
        <p:nvGrpSpPr>
          <p:cNvPr id="25" name="组合 24"/>
          <p:cNvGrpSpPr/>
          <p:nvPr/>
        </p:nvGrpSpPr>
        <p:grpSpPr>
          <a:xfrm>
            <a:off x="10870305" y="242408"/>
            <a:ext cx="354496" cy="478885"/>
            <a:chOff x="7550086" y="49596"/>
            <a:chExt cx="1521906" cy="2055929"/>
          </a:xfrm>
        </p:grpSpPr>
        <p:sp>
          <p:nvSpPr>
            <p:cNvPr id="26" name="菱形 25"/>
            <p:cNvSpPr/>
            <p:nvPr/>
          </p:nvSpPr>
          <p:spPr>
            <a:xfrm>
              <a:off x="7550086" y="49596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7" name="菱形 26"/>
            <p:cNvSpPr/>
            <p:nvPr/>
          </p:nvSpPr>
          <p:spPr>
            <a:xfrm>
              <a:off x="8172400" y="669791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8" name="菱形 27"/>
            <p:cNvSpPr/>
            <p:nvPr/>
          </p:nvSpPr>
          <p:spPr>
            <a:xfrm>
              <a:off x="7550086" y="1208330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1234229" y="242408"/>
            <a:ext cx="354496" cy="478885"/>
            <a:chOff x="7550086" y="49596"/>
            <a:chExt cx="1521906" cy="2055929"/>
          </a:xfrm>
        </p:grpSpPr>
        <p:sp>
          <p:nvSpPr>
            <p:cNvPr id="30" name="菱形 29"/>
            <p:cNvSpPr/>
            <p:nvPr/>
          </p:nvSpPr>
          <p:spPr>
            <a:xfrm>
              <a:off x="7550086" y="49596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1" name="菱形 30"/>
            <p:cNvSpPr/>
            <p:nvPr/>
          </p:nvSpPr>
          <p:spPr>
            <a:xfrm>
              <a:off x="8172400" y="669791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2" name="菱形 31"/>
            <p:cNvSpPr/>
            <p:nvPr/>
          </p:nvSpPr>
          <p:spPr>
            <a:xfrm>
              <a:off x="7550086" y="1208330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1598155" y="242408"/>
            <a:ext cx="354496" cy="478885"/>
            <a:chOff x="7550086" y="49596"/>
            <a:chExt cx="1521906" cy="2055929"/>
          </a:xfrm>
        </p:grpSpPr>
        <p:sp>
          <p:nvSpPr>
            <p:cNvPr id="34" name="菱形 33"/>
            <p:cNvSpPr/>
            <p:nvPr/>
          </p:nvSpPr>
          <p:spPr>
            <a:xfrm>
              <a:off x="7550086" y="49596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5" name="菱形 34"/>
            <p:cNvSpPr/>
            <p:nvPr/>
          </p:nvSpPr>
          <p:spPr>
            <a:xfrm>
              <a:off x="8172400" y="669791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6" name="菱形 35"/>
            <p:cNvSpPr/>
            <p:nvPr/>
          </p:nvSpPr>
          <p:spPr>
            <a:xfrm>
              <a:off x="7550086" y="1208330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49" name="矩形 48"/>
          <p:cNvSpPr/>
          <p:nvPr/>
        </p:nvSpPr>
        <p:spPr>
          <a:xfrm>
            <a:off x="4599108" y="1216145"/>
            <a:ext cx="4475492" cy="768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831024" y="1216145"/>
            <a:ext cx="768085" cy="7680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</a:rPr>
              <a:t>1</a:t>
            </a:r>
            <a:endParaRPr lang="zh-CN" altLang="en-US" sz="4800" b="1" dirty="0">
              <a:solidFill>
                <a:schemeClr val="bg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385329" y="2444889"/>
            <a:ext cx="4475492" cy="768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599108" y="2435757"/>
            <a:ext cx="768085" cy="7680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/>
              <a:t>2</a:t>
            </a:r>
            <a:endParaRPr lang="zh-CN" altLang="en-US" sz="4800" b="1" dirty="0"/>
          </a:p>
        </p:txBody>
      </p:sp>
      <p:sp>
        <p:nvSpPr>
          <p:cNvPr id="53" name="矩形 52"/>
          <p:cNvSpPr/>
          <p:nvPr/>
        </p:nvSpPr>
        <p:spPr>
          <a:xfrm>
            <a:off x="4600689" y="4766818"/>
            <a:ext cx="4475492" cy="768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3831024" y="4769788"/>
            <a:ext cx="768085" cy="7680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/>
              <a:t>4</a:t>
            </a:r>
            <a:endParaRPr lang="zh-CN" altLang="en-US" sz="4800" b="1" dirty="0"/>
          </a:p>
        </p:txBody>
      </p:sp>
      <p:sp>
        <p:nvSpPr>
          <p:cNvPr id="57" name="矩形 56"/>
          <p:cNvSpPr/>
          <p:nvPr/>
        </p:nvSpPr>
        <p:spPr>
          <a:xfrm>
            <a:off x="4740575" y="1320127"/>
            <a:ext cx="30572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C5A89"/>
                </a:solidFill>
                <a:latin typeface="微软雅黑" pitchFamily="34" charset="-122"/>
                <a:ea typeface="微软雅黑" pitchFamily="34" charset="-122"/>
              </a:rPr>
              <a:t>研究背景与意义</a:t>
            </a:r>
          </a:p>
        </p:txBody>
      </p:sp>
      <p:sp>
        <p:nvSpPr>
          <p:cNvPr id="83" name="矩形 82"/>
          <p:cNvSpPr/>
          <p:nvPr/>
        </p:nvSpPr>
        <p:spPr>
          <a:xfrm>
            <a:off x="5527319" y="2522781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C5A89"/>
                </a:solidFill>
                <a:latin typeface="微软雅黑" pitchFamily="34" charset="-122"/>
                <a:ea typeface="微软雅黑" pitchFamily="34" charset="-122"/>
              </a:rPr>
              <a:t>研究现状</a:t>
            </a:r>
          </a:p>
        </p:txBody>
      </p:sp>
      <p:sp>
        <p:nvSpPr>
          <p:cNvPr id="84" name="矩形 83"/>
          <p:cNvSpPr/>
          <p:nvPr/>
        </p:nvSpPr>
        <p:spPr>
          <a:xfrm>
            <a:off x="4732519" y="4869220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C5A89"/>
                </a:solidFill>
                <a:latin typeface="微软雅黑" pitchFamily="34" charset="-122"/>
                <a:ea typeface="微软雅黑" pitchFamily="34" charset="-122"/>
              </a:rPr>
              <a:t>结论与展望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5BC8120-8A62-4BB0-8E72-AF1DA4DA9F1B}"/>
              </a:ext>
            </a:extLst>
          </p:cNvPr>
          <p:cNvSpPr/>
          <p:nvPr/>
        </p:nvSpPr>
        <p:spPr>
          <a:xfrm>
            <a:off x="5385329" y="3601287"/>
            <a:ext cx="4475492" cy="768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FC81D4D-3278-4231-A0CF-0220A4788964}"/>
              </a:ext>
            </a:extLst>
          </p:cNvPr>
          <p:cNvSpPr/>
          <p:nvPr/>
        </p:nvSpPr>
        <p:spPr>
          <a:xfrm>
            <a:off x="4599108" y="3592155"/>
            <a:ext cx="768085" cy="7680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/>
              <a:t>3</a:t>
            </a:r>
            <a:endParaRPr lang="zh-CN" altLang="en-US" sz="4800" b="1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FD643FB-F4E3-4ABA-BA3A-8E765BBC0EB0}"/>
              </a:ext>
            </a:extLst>
          </p:cNvPr>
          <p:cNvSpPr/>
          <p:nvPr/>
        </p:nvSpPr>
        <p:spPr>
          <a:xfrm>
            <a:off x="5527319" y="3679179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研究内容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894B7576-A0AC-4CD9-AC95-139A7C039BC1}"/>
              </a:ext>
            </a:extLst>
          </p:cNvPr>
          <p:cNvGrpSpPr/>
          <p:nvPr/>
        </p:nvGrpSpPr>
        <p:grpSpPr>
          <a:xfrm>
            <a:off x="1326996" y="2096131"/>
            <a:ext cx="2259935" cy="2060561"/>
            <a:chOff x="1326996" y="2096131"/>
            <a:chExt cx="2259935" cy="2060561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3D257129-B86B-4406-B34F-D82482C73231}"/>
                </a:ext>
              </a:extLst>
            </p:cNvPr>
            <p:cNvSpPr/>
            <p:nvPr/>
          </p:nvSpPr>
          <p:spPr>
            <a:xfrm>
              <a:off x="1945662" y="2515423"/>
              <a:ext cx="1641269" cy="1641269"/>
            </a:xfrm>
            <a:prstGeom prst="ellipse">
              <a:avLst/>
            </a:prstGeom>
            <a:blipFill>
              <a:blip r:embed="rId5" cstate="print"/>
              <a:stretch>
                <a:fillRect/>
              </a:stretch>
            </a:blipFill>
            <a:ln w="57150">
              <a:solidFill>
                <a:schemeClr val="bg1"/>
              </a:solidFill>
            </a:ln>
            <a:effectLst>
              <a:outerShdw blurRad="508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D5C3DCB7-7BB2-41F9-89DF-B4D8C73BE3C5}"/>
                </a:ext>
              </a:extLst>
            </p:cNvPr>
            <p:cNvSpPr/>
            <p:nvPr/>
          </p:nvSpPr>
          <p:spPr>
            <a:xfrm>
              <a:off x="2377304" y="2601747"/>
              <a:ext cx="822490" cy="140564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zh-CN" altLang="en-US" sz="4267" dirty="0">
                  <a:solidFill>
                    <a:schemeClr val="bg1"/>
                  </a:solidFill>
                  <a:latin typeface="微软雅黑"/>
                  <a:ea typeface="微软雅黑" pitchFamily="34" charset="-122"/>
                  <a:sym typeface="微软雅黑"/>
                </a:rPr>
                <a:t>目录</a:t>
              </a:r>
              <a:endParaRPr lang="en-US" altLang="zh-CN" sz="4267" dirty="0">
                <a:solidFill>
                  <a:schemeClr val="bg1"/>
                </a:solidFill>
                <a:latin typeface="微软雅黑"/>
                <a:ea typeface="微软雅黑" pitchFamily="34" charset="-122"/>
                <a:sym typeface="微软雅黑"/>
              </a:endParaRPr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0B5E7A00-C37D-4264-92DC-9437F9413913}"/>
                </a:ext>
              </a:extLst>
            </p:cNvPr>
            <p:cNvGrpSpPr/>
            <p:nvPr/>
          </p:nvGrpSpPr>
          <p:grpSpPr>
            <a:xfrm rot="20457332">
              <a:off x="1326996" y="2096131"/>
              <a:ext cx="1562892" cy="1212987"/>
              <a:chOff x="782675" y="1648780"/>
              <a:chExt cx="1172169" cy="909740"/>
            </a:xfrm>
            <a:solidFill>
              <a:schemeClr val="bg1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59" name="圆角矩形 63">
                <a:extLst>
                  <a:ext uri="{FF2B5EF4-FFF2-40B4-BE49-F238E27FC236}">
                    <a16:creationId xmlns:a16="http://schemas.microsoft.com/office/drawing/2014/main" id="{D5028FE3-8260-4532-8EA8-0ABDA91C7B05}"/>
                  </a:ext>
                </a:extLst>
              </p:cNvPr>
              <p:cNvSpPr/>
              <p:nvPr/>
            </p:nvSpPr>
            <p:spPr>
              <a:xfrm rot="2473112">
                <a:off x="1434975" y="1702245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60" name="圆角矩形 64">
                <a:extLst>
                  <a:ext uri="{FF2B5EF4-FFF2-40B4-BE49-F238E27FC236}">
                    <a16:creationId xmlns:a16="http://schemas.microsoft.com/office/drawing/2014/main" id="{A125AB88-276C-4EC9-AF72-A3F508D1CA2C}"/>
                  </a:ext>
                </a:extLst>
              </p:cNvPr>
              <p:cNvSpPr/>
              <p:nvPr/>
            </p:nvSpPr>
            <p:spPr>
              <a:xfrm rot="18673112">
                <a:off x="1434975" y="1702245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2" name="圆角矩形 65">
                <a:extLst>
                  <a:ext uri="{FF2B5EF4-FFF2-40B4-BE49-F238E27FC236}">
                    <a16:creationId xmlns:a16="http://schemas.microsoft.com/office/drawing/2014/main" id="{6DB6165E-E35E-4803-9622-CE1D81AF2598}"/>
                  </a:ext>
                </a:extLst>
              </p:cNvPr>
              <p:cNvSpPr/>
              <p:nvPr/>
            </p:nvSpPr>
            <p:spPr>
              <a:xfrm rot="3493932">
                <a:off x="993999" y="1833391"/>
                <a:ext cx="453892" cy="12962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5" name="圆角矩形 66">
                <a:extLst>
                  <a:ext uri="{FF2B5EF4-FFF2-40B4-BE49-F238E27FC236}">
                    <a16:creationId xmlns:a16="http://schemas.microsoft.com/office/drawing/2014/main" id="{2DFF1C01-E759-43F7-841B-C4EB8C1229FE}"/>
                  </a:ext>
                </a:extLst>
              </p:cNvPr>
              <p:cNvSpPr/>
              <p:nvPr/>
            </p:nvSpPr>
            <p:spPr>
              <a:xfrm rot="19693932">
                <a:off x="993999" y="1833391"/>
                <a:ext cx="453892" cy="12962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6" name="圆角矩形 67">
                <a:extLst>
                  <a:ext uri="{FF2B5EF4-FFF2-40B4-BE49-F238E27FC236}">
                    <a16:creationId xmlns:a16="http://schemas.microsoft.com/office/drawing/2014/main" id="{6E208426-90AC-4B14-A87E-86B7B8D5F227}"/>
                  </a:ext>
                </a:extLst>
              </p:cNvPr>
              <p:cNvSpPr/>
              <p:nvPr/>
            </p:nvSpPr>
            <p:spPr>
              <a:xfrm rot="3801381">
                <a:off x="1365852" y="1937875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7" name="圆角矩形 68">
                <a:extLst>
                  <a:ext uri="{FF2B5EF4-FFF2-40B4-BE49-F238E27FC236}">
                    <a16:creationId xmlns:a16="http://schemas.microsoft.com/office/drawing/2014/main" id="{FEB0E775-903B-4899-B425-F2C686FC1D11}"/>
                  </a:ext>
                </a:extLst>
              </p:cNvPr>
              <p:cNvSpPr/>
              <p:nvPr/>
            </p:nvSpPr>
            <p:spPr>
              <a:xfrm rot="20001381">
                <a:off x="1365852" y="1937875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8" name="圆角矩形 69">
                <a:extLst>
                  <a:ext uri="{FF2B5EF4-FFF2-40B4-BE49-F238E27FC236}">
                    <a16:creationId xmlns:a16="http://schemas.microsoft.com/office/drawing/2014/main" id="{F08D43DB-DE5B-4F82-A3C7-20680EBF593B}"/>
                  </a:ext>
                </a:extLst>
              </p:cNvPr>
              <p:cNvSpPr/>
              <p:nvPr/>
            </p:nvSpPr>
            <p:spPr>
              <a:xfrm rot="2473112">
                <a:off x="1061027" y="2129162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9" name="圆角矩形 70">
                <a:extLst>
                  <a:ext uri="{FF2B5EF4-FFF2-40B4-BE49-F238E27FC236}">
                    <a16:creationId xmlns:a16="http://schemas.microsoft.com/office/drawing/2014/main" id="{E959264A-A506-420B-B385-ABE09BE511B8}"/>
                  </a:ext>
                </a:extLst>
              </p:cNvPr>
              <p:cNvSpPr/>
              <p:nvPr/>
            </p:nvSpPr>
            <p:spPr>
              <a:xfrm rot="18673112">
                <a:off x="1061027" y="2129162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0" name="圆角矩形 71">
                <a:extLst>
                  <a:ext uri="{FF2B5EF4-FFF2-40B4-BE49-F238E27FC236}">
                    <a16:creationId xmlns:a16="http://schemas.microsoft.com/office/drawing/2014/main" id="{C36EB5F3-20FE-4A59-900B-40EE7293188E}"/>
                  </a:ext>
                </a:extLst>
              </p:cNvPr>
              <p:cNvSpPr/>
              <p:nvPr/>
            </p:nvSpPr>
            <p:spPr>
              <a:xfrm rot="21008604">
                <a:off x="833913" y="2003432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1" name="圆角矩形 72">
                <a:extLst>
                  <a:ext uri="{FF2B5EF4-FFF2-40B4-BE49-F238E27FC236}">
                    <a16:creationId xmlns:a16="http://schemas.microsoft.com/office/drawing/2014/main" id="{A998C301-DB93-4461-BC22-D6CACDA2ADE2}"/>
                  </a:ext>
                </a:extLst>
              </p:cNvPr>
              <p:cNvSpPr/>
              <p:nvPr/>
            </p:nvSpPr>
            <p:spPr>
              <a:xfrm rot="15608604">
                <a:off x="833913" y="2003432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2" name="圆角矩形 73">
                <a:extLst>
                  <a:ext uri="{FF2B5EF4-FFF2-40B4-BE49-F238E27FC236}">
                    <a16:creationId xmlns:a16="http://schemas.microsoft.com/office/drawing/2014/main" id="{485F38B1-3990-44D1-B1CB-A885BA131BE2}"/>
                  </a:ext>
                </a:extLst>
              </p:cNvPr>
              <p:cNvSpPr/>
              <p:nvPr/>
            </p:nvSpPr>
            <p:spPr>
              <a:xfrm rot="541275">
                <a:off x="805759" y="2204049"/>
                <a:ext cx="299355" cy="8549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3" name="圆角矩形 74">
                <a:extLst>
                  <a:ext uri="{FF2B5EF4-FFF2-40B4-BE49-F238E27FC236}">
                    <a16:creationId xmlns:a16="http://schemas.microsoft.com/office/drawing/2014/main" id="{BE5D2853-5DFA-4CF1-9EFE-28E7996A2748}"/>
                  </a:ext>
                </a:extLst>
              </p:cNvPr>
              <p:cNvSpPr/>
              <p:nvPr/>
            </p:nvSpPr>
            <p:spPr>
              <a:xfrm rot="16741275">
                <a:off x="805759" y="2204049"/>
                <a:ext cx="299355" cy="8549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4" name="圆角矩形 75">
                <a:extLst>
                  <a:ext uri="{FF2B5EF4-FFF2-40B4-BE49-F238E27FC236}">
                    <a16:creationId xmlns:a16="http://schemas.microsoft.com/office/drawing/2014/main" id="{D85E57C4-CF3F-483F-8FA4-D6D4C7126ED3}"/>
                  </a:ext>
                </a:extLst>
              </p:cNvPr>
              <p:cNvSpPr/>
              <p:nvPr/>
            </p:nvSpPr>
            <p:spPr>
              <a:xfrm rot="2473112">
                <a:off x="1509694" y="1879922"/>
                <a:ext cx="299355" cy="8549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5" name="圆角矩形 76">
                <a:extLst>
                  <a:ext uri="{FF2B5EF4-FFF2-40B4-BE49-F238E27FC236}">
                    <a16:creationId xmlns:a16="http://schemas.microsoft.com/office/drawing/2014/main" id="{63F9410F-52E6-43EC-8EAE-859BC0B9C6AE}"/>
                  </a:ext>
                </a:extLst>
              </p:cNvPr>
              <p:cNvSpPr/>
              <p:nvPr/>
            </p:nvSpPr>
            <p:spPr>
              <a:xfrm rot="18673112">
                <a:off x="1509694" y="1879922"/>
                <a:ext cx="299355" cy="8549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6" name="圆角矩形 77">
                <a:extLst>
                  <a:ext uri="{FF2B5EF4-FFF2-40B4-BE49-F238E27FC236}">
                    <a16:creationId xmlns:a16="http://schemas.microsoft.com/office/drawing/2014/main" id="{E89FCB4B-0F30-44D9-AC3D-2B1044E66E40}"/>
                  </a:ext>
                </a:extLst>
              </p:cNvPr>
              <p:cNvSpPr/>
              <p:nvPr/>
            </p:nvSpPr>
            <p:spPr>
              <a:xfrm rot="550675">
                <a:off x="782675" y="2462307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7" name="圆角矩形 78">
                <a:extLst>
                  <a:ext uri="{FF2B5EF4-FFF2-40B4-BE49-F238E27FC236}">
                    <a16:creationId xmlns:a16="http://schemas.microsoft.com/office/drawing/2014/main" id="{F5656223-FE89-42E2-8959-B050B4A5EBDF}"/>
                  </a:ext>
                </a:extLst>
              </p:cNvPr>
              <p:cNvSpPr/>
              <p:nvPr/>
            </p:nvSpPr>
            <p:spPr>
              <a:xfrm rot="16750675">
                <a:off x="782675" y="2462307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8" name="圆角矩形 79">
                <a:extLst>
                  <a:ext uri="{FF2B5EF4-FFF2-40B4-BE49-F238E27FC236}">
                    <a16:creationId xmlns:a16="http://schemas.microsoft.com/office/drawing/2014/main" id="{EBEE1E78-9C63-48AD-902B-BB46A2B4DF78}"/>
                  </a:ext>
                </a:extLst>
              </p:cNvPr>
              <p:cNvSpPr/>
              <p:nvPr/>
            </p:nvSpPr>
            <p:spPr>
              <a:xfrm rot="4083626">
                <a:off x="1805166" y="1949326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9" name="圆角矩形 80">
                <a:extLst>
                  <a:ext uri="{FF2B5EF4-FFF2-40B4-BE49-F238E27FC236}">
                    <a16:creationId xmlns:a16="http://schemas.microsoft.com/office/drawing/2014/main" id="{27C97BDC-44FA-480F-8D60-659BE0620F18}"/>
                  </a:ext>
                </a:extLst>
              </p:cNvPr>
              <p:cNvSpPr/>
              <p:nvPr/>
            </p:nvSpPr>
            <p:spPr>
              <a:xfrm rot="20283626">
                <a:off x="1805166" y="1949326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0549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4"/>
    </mc:Choice>
    <mc:Fallback>
      <p:transition spd="slow" advTm="28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CBE1BEC-D04E-4020-B395-F4A382FD4213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3.1 </a:t>
            </a:r>
            <a:r>
              <a:rPr kumimoji="1" lang="zh-CN" altLang="en-US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基于标签阈值的一致性注意力架构</a:t>
            </a:r>
            <a:r>
              <a:rPr kumimoji="1" lang="en-US" altLang="zh-CN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LTCAA</a:t>
            </a:r>
            <a:endParaRPr kumimoji="1" lang="zh-CN" altLang="en-US" sz="3600" b="1" dirty="0">
              <a:solidFill>
                <a:schemeClr val="bg1"/>
              </a:solidFill>
              <a:latin typeface="FZZhengHeiS-DB-GB" panose="02000000000000000000" pitchFamily="2" charset="-122"/>
              <a:ea typeface="FZZhengHeiS-DB-GB" panose="02000000000000000000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D8F495-FC63-4977-B8F2-B5289024B895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3D9DCDA-0714-43BB-85CF-6D5C88B98C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DE2EB70-9688-A366-7E39-30D85BA6B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2489" y="2169156"/>
            <a:ext cx="8107022" cy="45658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987F0A8-8051-C59E-91D9-F1640E9BF094}"/>
              </a:ext>
            </a:extLst>
          </p:cNvPr>
          <p:cNvSpPr txBox="1"/>
          <p:nvPr/>
        </p:nvSpPr>
        <p:spPr>
          <a:xfrm>
            <a:off x="296381" y="1064600"/>
            <a:ext cx="1990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0B067E-1F42-0A1F-A379-39006D2F0D86}"/>
              </a:ext>
            </a:extLst>
          </p:cNvPr>
          <p:cNvSpPr txBox="1"/>
          <p:nvPr/>
        </p:nvSpPr>
        <p:spPr>
          <a:xfrm>
            <a:off x="296380" y="1769046"/>
            <a:ext cx="10892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kern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本研究设计了一个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基于标签阈值的一致性注意力架构（</a:t>
            </a:r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LTCAA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）模型</a:t>
            </a:r>
            <a:r>
              <a:rPr lang="zh-CN" altLang="zh-CN" sz="2000" kern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，算法流程图如下图所示</a:t>
            </a:r>
            <a:r>
              <a:rPr lang="zh-CN" altLang="en-US" sz="2000" kern="1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7937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97"/>
    </mc:Choice>
    <mc:Fallback>
      <p:transition spd="slow" advTm="897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3CC0EBB-E3E8-90FB-CDAC-AB44D5B9E253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3.1 </a:t>
            </a:r>
            <a:r>
              <a:rPr kumimoji="1" lang="zh-CN" altLang="en-US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基于标签阈值的一致性注意力架构</a:t>
            </a:r>
            <a:r>
              <a:rPr kumimoji="1" lang="en-US" altLang="zh-CN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LTCAA</a:t>
            </a:r>
            <a:endParaRPr kumimoji="1" lang="zh-CN" altLang="en-US" sz="3600" b="1" dirty="0">
              <a:solidFill>
                <a:schemeClr val="bg1"/>
              </a:solidFill>
              <a:latin typeface="FZZhengHeiS-DB-GB" panose="02000000000000000000" pitchFamily="2" charset="-122"/>
              <a:ea typeface="FZZhengHeiS-DB-GB" panose="02000000000000000000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999F3C-B56D-2032-7D2A-3CEFB03B6EAB}"/>
              </a:ext>
            </a:extLst>
          </p:cNvPr>
          <p:cNvSpPr txBox="1"/>
          <p:nvPr/>
        </p:nvSpPr>
        <p:spPr>
          <a:xfrm>
            <a:off x="182081" y="1587820"/>
            <a:ext cx="10396579" cy="499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）标签阈值模块（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Label-based Specific Threshold Module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LSTM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995D80C-D6FF-0B90-A41C-17A4970B45F2}"/>
              </a:ext>
            </a:extLst>
          </p:cNvPr>
          <p:cNvSpPr txBox="1"/>
          <p:nvPr/>
        </p:nvSpPr>
        <p:spPr>
          <a:xfrm>
            <a:off x="296381" y="1064600"/>
            <a:ext cx="1990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1FD869-806A-80F0-C546-4B4C5F820CDE}"/>
              </a:ext>
            </a:extLst>
          </p:cNvPr>
          <p:cNvSpPr txBox="1"/>
          <p:nvPr/>
        </p:nvSpPr>
        <p:spPr>
          <a:xfrm>
            <a:off x="7056523" y="3103155"/>
            <a:ext cx="3893417" cy="17052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LSTM </a:t>
            </a:r>
            <a:r>
              <a:rPr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通过引入图像级标注信息，并调整目标与背景之间的激活水平，从而在弱监督条件下有效优化显著图的生成过程。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5DE380-CFA1-9D88-926D-A940DF1F7436}"/>
              </a:ext>
            </a:extLst>
          </p:cNvPr>
          <p:cNvSpPr txBox="1"/>
          <p:nvPr/>
        </p:nvSpPr>
        <p:spPr>
          <a:xfrm>
            <a:off x="1097683" y="6048049"/>
            <a:ext cx="10339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丰富监督信息，解决了全局阈值的局限性，减少了目标区域错误激活的情况，提高了分割的准确性。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7B8D533-5783-982A-16A0-196A533AE1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1" y="2393315"/>
            <a:ext cx="5956999" cy="31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464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"/>
    </mc:Choice>
    <mc:Fallback>
      <p:transition spd="slow" advTm="1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D71C5-65C7-1F99-89B8-43C8FD81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1E37124-D649-EB58-2D98-00A15D75BE12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3.1 </a:t>
            </a:r>
            <a:r>
              <a:rPr kumimoji="1" lang="zh-CN" altLang="en-US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基于标签阈值的一致性注意力架构</a:t>
            </a:r>
            <a:r>
              <a:rPr kumimoji="1" lang="en-US" altLang="zh-CN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LTCAA</a:t>
            </a:r>
            <a:endParaRPr kumimoji="1" lang="zh-CN" altLang="en-US" sz="3600" b="1" dirty="0">
              <a:solidFill>
                <a:schemeClr val="bg1"/>
              </a:solidFill>
              <a:latin typeface="FZZhengHeiS-DB-GB" panose="02000000000000000000" pitchFamily="2" charset="-122"/>
              <a:ea typeface="FZZhengHeiS-DB-GB" panose="02000000000000000000" pitchFamily="2" charset="-122"/>
            </a:endParaRPr>
          </a:p>
        </p:txBody>
      </p:sp>
      <p:pic>
        <p:nvPicPr>
          <p:cNvPr id="3" name="图片 7">
            <a:extLst>
              <a:ext uri="{FF2B5EF4-FFF2-40B4-BE49-F238E27FC236}">
                <a16:creationId xmlns:a16="http://schemas.microsoft.com/office/drawing/2014/main" id="{6F43C221-39A8-33F6-3872-C5AF6EB9F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81" y="2299313"/>
            <a:ext cx="5937250" cy="349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9C141E5-6025-5AC4-F15E-A4FB14476889}"/>
              </a:ext>
            </a:extLst>
          </p:cNvPr>
          <p:cNvSpPr txBox="1"/>
          <p:nvPr/>
        </p:nvSpPr>
        <p:spPr>
          <a:xfrm>
            <a:off x="182081" y="1587820"/>
            <a:ext cx="10396579" cy="499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）一致性约束模块（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Consistency Regularization Module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CRM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1D8912-8C72-E812-E446-55C316B0498F}"/>
              </a:ext>
            </a:extLst>
          </p:cNvPr>
          <p:cNvSpPr txBox="1"/>
          <p:nvPr/>
        </p:nvSpPr>
        <p:spPr>
          <a:xfrm>
            <a:off x="296381" y="1064600"/>
            <a:ext cx="1990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E0C9C9D-0642-65A3-966D-B331C27C97B0}"/>
              </a:ext>
            </a:extLst>
          </p:cNvPr>
          <p:cNvSpPr txBox="1"/>
          <p:nvPr/>
        </p:nvSpPr>
        <p:spPr>
          <a:xfrm>
            <a:off x="7056523" y="3103155"/>
            <a:ext cx="3893417" cy="17052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CRM</a:t>
            </a:r>
            <a:r>
              <a:rPr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在不增加额外标注成本的前提下，通过约束模型在不同输入变换下生成的一致性特征，强化对物体边界和形状等关键信息的识别能力。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10E0D8-5FEB-E04B-96A8-8907F42DF860}"/>
              </a:ext>
            </a:extLst>
          </p:cNvPr>
          <p:cNvSpPr txBox="1"/>
          <p:nvPr/>
        </p:nvSpPr>
        <p:spPr>
          <a:xfrm>
            <a:off x="1097683" y="6048049"/>
            <a:ext cx="103399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解决了传统</a:t>
            </a:r>
            <a:r>
              <a:rPr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CAM</a:t>
            </a:r>
            <a:r>
              <a:rPr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方法在边界模糊和细节丢失方面的局限性，显著提升了显著图的边界清晰度与细节保留能力。</a:t>
            </a:r>
          </a:p>
        </p:txBody>
      </p:sp>
    </p:spTree>
    <p:extLst>
      <p:ext uri="{BB962C8B-B14F-4D97-AF65-F5344CB8AC3E}">
        <p14:creationId xmlns:p14="http://schemas.microsoft.com/office/powerpoint/2010/main" val="9284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"/>
    </mc:Choice>
    <mc:Fallback>
      <p:transition spd="slow" advTm="2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2357F-F3FD-A161-A629-E284F1D5E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7E15379-C55C-E5C8-5415-894F1F5A3130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3.1 </a:t>
            </a:r>
            <a:r>
              <a:rPr kumimoji="1" lang="zh-CN" altLang="en-US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基于标签阈值的一致性注意力架构</a:t>
            </a:r>
            <a:r>
              <a:rPr kumimoji="1" lang="en-US" altLang="zh-CN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LTCAA</a:t>
            </a:r>
            <a:endParaRPr kumimoji="1" lang="zh-CN" altLang="en-US" sz="3600" b="1" dirty="0">
              <a:solidFill>
                <a:schemeClr val="bg1"/>
              </a:solidFill>
              <a:latin typeface="FZZhengHeiS-DB-GB" panose="02000000000000000000" pitchFamily="2" charset="-122"/>
              <a:ea typeface="FZZhengHeiS-DB-GB" panose="02000000000000000000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5F5A958-9686-2326-90E8-FB8E97E9D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81" y="2350202"/>
            <a:ext cx="5937250" cy="310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86F8A3C-9D96-2C0C-7306-7C3726F118EE}"/>
              </a:ext>
            </a:extLst>
          </p:cNvPr>
          <p:cNvSpPr txBox="1"/>
          <p:nvPr/>
        </p:nvSpPr>
        <p:spPr>
          <a:xfrm>
            <a:off x="182081" y="1587820"/>
            <a:ext cx="10396579" cy="499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）自注意力模块（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Self-Attention Module, SAM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FD7284-9385-E9BE-DE2D-0A45E18595A8}"/>
              </a:ext>
            </a:extLst>
          </p:cNvPr>
          <p:cNvSpPr txBox="1"/>
          <p:nvPr/>
        </p:nvSpPr>
        <p:spPr>
          <a:xfrm>
            <a:off x="296381" y="1064600"/>
            <a:ext cx="1990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4A9710-7F86-0878-EBA8-89A2BFB53340}"/>
              </a:ext>
            </a:extLst>
          </p:cNvPr>
          <p:cNvSpPr txBox="1"/>
          <p:nvPr/>
        </p:nvSpPr>
        <p:spPr>
          <a:xfrm>
            <a:off x="6820303" y="2485935"/>
            <a:ext cx="3893417" cy="12897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SAM</a:t>
            </a:r>
            <a:r>
              <a:rPr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通过捕捉空间和通道两个维度的上下文信息，扩展类激活图的激活范围。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EDD5BA-73F3-E449-4E96-C537A8652279}"/>
              </a:ext>
            </a:extLst>
          </p:cNvPr>
          <p:cNvSpPr txBox="1"/>
          <p:nvPr/>
        </p:nvSpPr>
        <p:spPr>
          <a:xfrm>
            <a:off x="827860" y="5715448"/>
            <a:ext cx="103399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弥补监督信息，更好地学习全局空间信息，激活更充分。</a:t>
            </a:r>
            <a:endParaRPr lang="en-US" altLang="zh-CN" b="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b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在经典自注意力机制的基础上去除了残差连接，保持激活强度的一致性，简化嵌入函数以减少参数数量，避免过拟合。</a:t>
            </a:r>
          </a:p>
        </p:txBody>
      </p:sp>
    </p:spTree>
    <p:extLst>
      <p:ext uri="{BB962C8B-B14F-4D97-AF65-F5344CB8AC3E}">
        <p14:creationId xmlns:p14="http://schemas.microsoft.com/office/powerpoint/2010/main" val="2726397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"/>
    </mc:Choice>
    <mc:Fallback>
      <p:transition spd="slow" advTm="5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A5E97-EDFA-3CE0-8DEF-1D1EFA9C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2EC517F-273A-FEC2-91A5-E39FE82851E2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3.1 </a:t>
            </a:r>
            <a:r>
              <a:rPr kumimoji="1" lang="zh-CN" altLang="en-US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基于标签阈值的一致性注意力架构</a:t>
            </a:r>
            <a:r>
              <a:rPr kumimoji="1" lang="en-US" altLang="zh-CN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LTCAA</a:t>
            </a:r>
            <a:endParaRPr kumimoji="1" lang="zh-CN" altLang="en-US" sz="3600" b="1" dirty="0">
              <a:solidFill>
                <a:schemeClr val="bg1"/>
              </a:solidFill>
              <a:latin typeface="FZZhengHeiS-DB-GB" panose="02000000000000000000" pitchFamily="2" charset="-122"/>
              <a:ea typeface="FZZhengHeiS-DB-GB" panose="020000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774213-C94A-2B95-2D7D-5CA27B9B8AF1}"/>
              </a:ext>
            </a:extLst>
          </p:cNvPr>
          <p:cNvSpPr txBox="1"/>
          <p:nvPr/>
        </p:nvSpPr>
        <p:spPr>
          <a:xfrm>
            <a:off x="182081" y="1587820"/>
            <a:ext cx="10396579" cy="499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）损失函数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Loss</a:t>
            </a:r>
            <a:endParaRPr lang="zh-CN" altLang="en-US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0F3D42-C85B-B678-BD80-45AE50054C43}"/>
              </a:ext>
            </a:extLst>
          </p:cNvPr>
          <p:cNvSpPr txBox="1"/>
          <p:nvPr/>
        </p:nvSpPr>
        <p:spPr>
          <a:xfrm>
            <a:off x="296381" y="1064600"/>
            <a:ext cx="1990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</a:t>
            </a:r>
          </a:p>
        </p:txBody>
      </p:sp>
      <p:pic>
        <p:nvPicPr>
          <p:cNvPr id="2050" name="图片 117">
            <a:extLst>
              <a:ext uri="{FF2B5EF4-FFF2-40B4-BE49-F238E27FC236}">
                <a16:creationId xmlns:a16="http://schemas.microsoft.com/office/drawing/2014/main" id="{2B22F43A-D7EB-A6C6-BE6E-4F5739C4A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64" y="2546507"/>
            <a:ext cx="4603854" cy="41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054D610-BA48-CC89-977B-A615BE68FC67}"/>
                  </a:ext>
                </a:extLst>
              </p:cNvPr>
              <p:cNvSpPr txBox="1"/>
              <p:nvPr/>
            </p:nvSpPr>
            <p:spPr>
              <a:xfrm>
                <a:off x="747635" y="2159678"/>
                <a:ext cx="1132444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损失函数由分类损失（</a:t>
                </a:r>
                <a14:m>
                  <m:oMath xmlns:m="http://schemas.openxmlformats.org/officeDocument/2006/math">
                    <m:r>
                      <a:rPr lang="en-US" altLang="zh-CN" sz="1800" i="1" kern="100" dirty="0" smtClean="0">
                        <a:effectLst/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𝐿𝑜𝑠</m:t>
                    </m:r>
                    <m:sSub>
                      <m:sSubPr>
                        <m:ctrlPr>
                          <a:rPr lang="en-US" altLang="zh-CN" sz="1800" i="1" kern="100" dirty="0" smtClean="0"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 dirty="0" smtClean="0"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800" i="1" kern="100" dirty="0" smtClean="0"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𝑐𝑙𝑠</m:t>
                        </m:r>
                      </m:sub>
                    </m:sSub>
                  </m:oMath>
                </a14:m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）、一致性正则化损失（</a:t>
                </a:r>
                <a:r>
                  <a:rPr lang="en-US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kern="10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𝐿𝑜𝑠</m:t>
                    </m:r>
                    <m:sSub>
                      <m:sSubPr>
                        <m:ctrlPr>
                          <a:rPr lang="en-US" altLang="zh-CN" i="1" kern="100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kern="100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𝐶𝑅</m:t>
                        </m:r>
                      </m:sub>
                    </m:sSub>
                    <m:r>
                      <a:rPr lang="en-US" altLang="zh-CN" i="1" kern="10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）和双分支交叉约束损失（</a:t>
                </a:r>
                <a:r>
                  <a:rPr lang="en-US" altLang="zh-CN" kern="100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kern="10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𝐿𝑜𝑠</m:t>
                    </m:r>
                    <m:sSub>
                      <m:sSubPr>
                        <m:ctrlPr>
                          <a:rPr lang="en-US" altLang="zh-CN" i="1" kern="100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kern="100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𝑆𝐶𝑅</m:t>
                        </m:r>
                      </m:sub>
                    </m:sSub>
                  </m:oMath>
                </a14:m>
                <a:r>
                  <a:rPr lang="en-US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en-US" kern="1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构成</a:t>
                </a:r>
                <a:r>
                  <a:rPr lang="zh-CN" altLang="zh-CN" sz="1800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054D610-BA48-CC89-977B-A615BE68F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35" y="2159678"/>
                <a:ext cx="11324443" cy="369332"/>
              </a:xfrm>
              <a:prstGeom prst="rect">
                <a:avLst/>
              </a:prstGeom>
              <a:blipFill>
                <a:blip r:embed="rId4"/>
                <a:stretch>
                  <a:fillRect l="-485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754143-8E4B-E482-28EF-3AB01B10C684}"/>
              </a:ext>
            </a:extLst>
          </p:cNvPr>
          <p:cNvGrpSpPr/>
          <p:nvPr/>
        </p:nvGrpSpPr>
        <p:grpSpPr>
          <a:xfrm>
            <a:off x="815864" y="3138241"/>
            <a:ext cx="10711572" cy="1115548"/>
            <a:chOff x="4422099" y="3394997"/>
            <a:chExt cx="10711572" cy="1115548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B6733078-02B6-5874-0B78-3AC52E26C08D}"/>
                </a:ext>
              </a:extLst>
            </p:cNvPr>
            <p:cNvGrpSpPr/>
            <p:nvPr/>
          </p:nvGrpSpPr>
          <p:grpSpPr>
            <a:xfrm>
              <a:off x="4422099" y="3394997"/>
              <a:ext cx="10711572" cy="1113361"/>
              <a:chOff x="4422099" y="3394999"/>
              <a:chExt cx="10711572" cy="40468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C065FC2C-C188-D846-290F-A8AEDF5E8043}"/>
                      </a:ext>
                    </a:extLst>
                  </p:cNvPr>
                  <p:cNvSpPr txBox="1"/>
                  <p:nvPr/>
                </p:nvSpPr>
                <p:spPr>
                  <a:xfrm>
                    <a:off x="4541094" y="3439949"/>
                    <a:ext cx="5868000" cy="13340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zh-CN" alt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分类损失（</a:t>
                    </a:r>
                    <a14:m>
                      <m:oMath xmlns:m="http://schemas.openxmlformats.org/officeDocument/2006/math">
                        <m:r>
                          <a:rPr lang="en-US" altLang="zh-CN" sz="1800" i="1" kern="100" dirty="0" smtClean="0">
                            <a:effectLst/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𝐿𝑜𝑠</m:t>
                        </m:r>
                        <m:sSub>
                          <m:sSubPr>
                            <m:ctrlPr>
                              <a:rPr lang="en-US" altLang="zh-CN" sz="1800" i="1" kern="100" dirty="0" smtClean="0">
                                <a:effectLst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 kern="100" dirty="0" smtClean="0">
                                <a:effectLst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800" i="1" kern="100" dirty="0" smtClean="0">
                                <a:effectLst/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𝑐𝑙𝑠</m:t>
                            </m:r>
                          </m:sub>
                        </m:sSub>
                      </m:oMath>
                    </a14:m>
                    <a:r>
                      <a:rPr lang="zh-CN" altLang="zh-CN" sz="1800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a:t>）</a:t>
                    </a:r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mc:Choice>
            <mc:Fallback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C065FC2C-C188-D846-290F-A8AEDF5E80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41094" y="3439949"/>
                    <a:ext cx="5868000" cy="13340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831" t="-8333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43A9A56-667D-C286-BB6D-D7B2F5329FD2}"/>
                  </a:ext>
                </a:extLst>
              </p:cNvPr>
              <p:cNvSpPr/>
              <p:nvPr/>
            </p:nvSpPr>
            <p:spPr>
              <a:xfrm>
                <a:off x="4422099" y="3394999"/>
                <a:ext cx="10711572" cy="404684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2051" name="图片 121">
              <a:extLst>
                <a:ext uri="{FF2B5EF4-FFF2-40B4-BE49-F238E27FC236}">
                  <a16:creationId xmlns:a16="http://schemas.microsoft.com/office/drawing/2014/main" id="{027F8FE0-09EB-E6B2-BE90-0326ECFC97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8663" y="3718545"/>
              <a:ext cx="6017567" cy="79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60EFA07-91F8-5E78-F282-F21834564CD5}"/>
              </a:ext>
            </a:extLst>
          </p:cNvPr>
          <p:cNvGrpSpPr/>
          <p:nvPr/>
        </p:nvGrpSpPr>
        <p:grpSpPr>
          <a:xfrm>
            <a:off x="815864" y="4271420"/>
            <a:ext cx="10711572" cy="1113361"/>
            <a:chOff x="4422099" y="3394999"/>
            <a:chExt cx="10711572" cy="4046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E64EAA86-171C-1E9C-A40E-C5780A1A8A5F}"/>
                    </a:ext>
                  </a:extLst>
                </p:cNvPr>
                <p:cNvSpPr txBox="1"/>
                <p:nvPr/>
              </p:nvSpPr>
              <p:spPr>
                <a:xfrm>
                  <a:off x="4541094" y="3439949"/>
                  <a:ext cx="5868000" cy="1334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zh-CN" kern="1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一致性正则化损失（</a:t>
                  </a:r>
                  <a:r>
                    <a:rPr lang="en-US" altLang="zh-CN" kern="1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i="1" kern="100" dirty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𝐿𝑜𝑠</m:t>
                      </m:r>
                      <m:sSub>
                        <m:sSubPr>
                          <m:ctrlPr>
                            <a:rPr lang="en-US" altLang="zh-CN" i="1" kern="100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kern="100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i="1" kern="100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𝐶𝑅</m:t>
                          </m:r>
                        </m:sub>
                      </m:sSub>
                      <m:r>
                        <a:rPr lang="en-US" altLang="zh-CN" i="1" kern="100" dirty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 </m:t>
                      </m:r>
                    </m:oMath>
                  </a14:m>
                  <a:r>
                    <a:rPr lang="zh-CN" altLang="zh-CN" kern="1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）</a:t>
                  </a:r>
                  <a:endParaRPr lang="zh-CN" altLang="en-US" dirty="0"/>
                </a:p>
              </p:txBody>
            </p:sp>
          </mc:Choice>
          <mc:Fallback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E64EAA86-171C-1E9C-A40E-C5780A1A8A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1094" y="3439949"/>
                  <a:ext cx="5868000" cy="133409"/>
                </a:xfrm>
                <a:prstGeom prst="rect">
                  <a:avLst/>
                </a:prstGeom>
                <a:blipFill>
                  <a:blip r:embed="rId7"/>
                  <a:stretch>
                    <a:fillRect l="-831" t="-11667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3560CC0-08DB-5EC6-FEA1-9B492C6F9040}"/>
                </a:ext>
              </a:extLst>
            </p:cNvPr>
            <p:cNvSpPr/>
            <p:nvPr/>
          </p:nvSpPr>
          <p:spPr>
            <a:xfrm>
              <a:off x="4422099" y="3394999"/>
              <a:ext cx="10711572" cy="40468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052" name="图片 126">
            <a:extLst>
              <a:ext uri="{FF2B5EF4-FFF2-40B4-BE49-F238E27FC236}">
                <a16:creationId xmlns:a16="http://schemas.microsoft.com/office/drawing/2014/main" id="{10FE8C5B-9A9F-C3EB-E6A1-37575207D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428" y="4762119"/>
            <a:ext cx="3716968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DBB16371-FEF6-A0F6-53B4-9C4387746A4B}"/>
              </a:ext>
            </a:extLst>
          </p:cNvPr>
          <p:cNvGrpSpPr/>
          <p:nvPr/>
        </p:nvGrpSpPr>
        <p:grpSpPr>
          <a:xfrm>
            <a:off x="815864" y="5402412"/>
            <a:ext cx="10711572" cy="1113361"/>
            <a:chOff x="4422099" y="3394999"/>
            <a:chExt cx="10711572" cy="4046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F1FE498-9D6D-4775-C66C-91C209A3DB3F}"/>
                    </a:ext>
                  </a:extLst>
                </p:cNvPr>
                <p:cNvSpPr txBox="1"/>
                <p:nvPr/>
              </p:nvSpPr>
              <p:spPr>
                <a:xfrm>
                  <a:off x="4541094" y="3439949"/>
                  <a:ext cx="5868000" cy="1334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zh-CN" kern="1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双分支交叉约束损失（</a:t>
                  </a:r>
                  <a:r>
                    <a:rPr lang="en-US" altLang="zh-CN" kern="100" dirty="0"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i="1" kern="100" dirty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𝐿𝑜𝑠</m:t>
                      </m:r>
                      <m:sSub>
                        <m:sSubPr>
                          <m:ctrlPr>
                            <a:rPr lang="en-US" altLang="zh-CN" i="1" kern="100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kern="100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i="1" kern="100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𝑆𝐶𝑅</m:t>
                          </m:r>
                        </m:sub>
                      </m:sSub>
                    </m:oMath>
                  </a14:m>
                  <a:r>
                    <a:rPr lang="en-US" altLang="zh-CN" kern="1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r>
                    <a:rPr lang="zh-CN" altLang="zh-CN" kern="1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）</a:t>
                  </a:r>
                  <a:endParaRPr lang="zh-CN" altLang="en-US" dirty="0"/>
                </a:p>
              </p:txBody>
            </p:sp>
          </mc:Choice>
          <mc:Fallback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F1FE498-9D6D-4775-C66C-91C209A3DB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1094" y="3439949"/>
                  <a:ext cx="5868000" cy="133409"/>
                </a:xfrm>
                <a:prstGeom prst="rect">
                  <a:avLst/>
                </a:prstGeom>
                <a:blipFill>
                  <a:blip r:embed="rId9"/>
                  <a:stretch>
                    <a:fillRect l="-831" t="-11667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E7AAFB2-CD0E-965F-9938-BC4BFC7CC00D}"/>
                </a:ext>
              </a:extLst>
            </p:cNvPr>
            <p:cNvSpPr/>
            <p:nvPr/>
          </p:nvSpPr>
          <p:spPr>
            <a:xfrm>
              <a:off x="4422099" y="3394999"/>
              <a:ext cx="10711572" cy="40468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053" name="图片 132">
            <a:extLst>
              <a:ext uri="{FF2B5EF4-FFF2-40B4-BE49-F238E27FC236}">
                <a16:creationId xmlns:a16="http://schemas.microsoft.com/office/drawing/2014/main" id="{5441CB30-FAFF-3EB9-5966-3ABC5CFE9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753" y="5959091"/>
            <a:ext cx="7369221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3180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31"/>
    </mc:Choice>
    <mc:Fallback>
      <p:transition spd="slow" advTm="53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C3F789F-2F83-4F50-AEE0-9B477A6202FC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0DB781E-04F7-4EF9-B36F-FA44150621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DBB41CB-61D1-9893-9D83-E1C564EFAB6D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3.1 </a:t>
            </a:r>
            <a:r>
              <a:rPr kumimoji="1" lang="zh-CN" altLang="en-US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基于标签阈值的一致性注意力架构</a:t>
            </a:r>
            <a:r>
              <a:rPr kumimoji="1" lang="en-US" altLang="zh-CN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LTCAA</a:t>
            </a:r>
            <a:endParaRPr kumimoji="1" lang="zh-CN" altLang="en-US" sz="3600" b="1" dirty="0">
              <a:solidFill>
                <a:schemeClr val="bg1"/>
              </a:solidFill>
              <a:latin typeface="FZZhengHeiS-DB-GB" panose="02000000000000000000" pitchFamily="2" charset="-122"/>
              <a:ea typeface="FZZhengHeiS-DB-GB" panose="02000000000000000000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04CFE56-0A99-1B29-DC6F-AD597872AE99}"/>
              </a:ext>
            </a:extLst>
          </p:cNvPr>
          <p:cNvSpPr txBox="1"/>
          <p:nvPr/>
        </p:nvSpPr>
        <p:spPr>
          <a:xfrm>
            <a:off x="296381" y="1064600"/>
            <a:ext cx="1990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实验设计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EBA5F73-A820-341E-70B2-8E7598DDE92F}"/>
              </a:ext>
            </a:extLst>
          </p:cNvPr>
          <p:cNvSpPr txBox="1"/>
          <p:nvPr/>
        </p:nvSpPr>
        <p:spPr>
          <a:xfrm>
            <a:off x="296381" y="1984628"/>
            <a:ext cx="37661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PASCAL VOC 2012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增强数据集：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（以下简称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VOC12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331C26-0F5C-EA8A-444D-6A9D4D715BB5}"/>
              </a:ext>
            </a:extLst>
          </p:cNvPr>
          <p:cNvSpPr txBox="1"/>
          <p:nvPr/>
        </p:nvSpPr>
        <p:spPr>
          <a:xfrm>
            <a:off x="4107240" y="198462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个前景类别，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个背景类别。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B9FD29F-8235-783C-DC5A-A3E35F7CF09B}"/>
              </a:ext>
            </a:extLst>
          </p:cNvPr>
          <p:cNvSpPr txBox="1"/>
          <p:nvPr/>
        </p:nvSpPr>
        <p:spPr>
          <a:xfrm>
            <a:off x="4107240" y="245985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训练集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10582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张，验证集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1449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张，测试集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1456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张。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74F0E43-DB69-14C7-2F1D-5935CCD17EBA}"/>
              </a:ext>
            </a:extLst>
          </p:cNvPr>
          <p:cNvSpPr txBox="1"/>
          <p:nvPr/>
        </p:nvSpPr>
        <p:spPr>
          <a:xfrm>
            <a:off x="296381" y="3589729"/>
            <a:ext cx="14239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评价指标：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7BF845C-2F88-880D-A905-24B881F859B1}"/>
                  </a:ext>
                </a:extLst>
              </p:cNvPr>
              <p:cNvSpPr txBox="1"/>
              <p:nvPr/>
            </p:nvSpPr>
            <p:spPr>
              <a:xfrm>
                <a:off x="1720331" y="3359795"/>
                <a:ext cx="3641253" cy="921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mI</m:t>
                      </m:r>
                      <m:r>
                        <m:rPr>
                          <m:sty m:val="p"/>
                        </m:rPr>
                        <a:rPr lang="en-US" altLang="zh-CN" sz="2000" i="1"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sub>
                        <m:sup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</m:sup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𝐹𝑁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7BF845C-2F88-880D-A905-24B881F85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331" y="3359795"/>
                <a:ext cx="3641253" cy="9215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1D9CE6FD-F6DB-7F80-8E95-415C5072DC40}"/>
              </a:ext>
            </a:extLst>
          </p:cNvPr>
          <p:cNvSpPr txBox="1"/>
          <p:nvPr/>
        </p:nvSpPr>
        <p:spPr>
          <a:xfrm>
            <a:off x="296381" y="4768334"/>
            <a:ext cx="14239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分割效果：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2F42D5-C558-4F85-B66E-9780FB2E39A7}"/>
              </a:ext>
            </a:extLst>
          </p:cNvPr>
          <p:cNvSpPr txBox="1"/>
          <p:nvPr/>
        </p:nvSpPr>
        <p:spPr>
          <a:xfrm>
            <a:off x="1607687" y="4764872"/>
            <a:ext cx="10135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本研究着重关注分类网络后生成的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伪标注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和最终</a:t>
            </a: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分割图像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的效果，与真实标注结果作对比。</a:t>
            </a:r>
          </a:p>
        </p:txBody>
      </p:sp>
    </p:spTree>
    <p:extLst>
      <p:ext uri="{BB962C8B-B14F-4D97-AF65-F5344CB8AC3E}">
        <p14:creationId xmlns:p14="http://schemas.microsoft.com/office/powerpoint/2010/main" val="1615875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885"/>
    </mc:Choice>
    <mc:Fallback>
      <p:transition spd="slow" advTm="41885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CC5F6-F078-F5A5-D2AD-0BD17DE93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895A05B-A2B8-A605-9C56-682F9BF465DF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05B13AA-9E4B-7449-C43E-0EDC0F3EAE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0F7C78F-A00F-13EA-0920-E79FC6D614C8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3.1 </a:t>
            </a:r>
            <a:r>
              <a:rPr kumimoji="1" lang="zh-CN" altLang="en-US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基于标签阈值的一致性注意力架构</a:t>
            </a:r>
            <a:r>
              <a:rPr kumimoji="1" lang="en-US" altLang="zh-CN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LTCAA</a:t>
            </a:r>
            <a:endParaRPr kumimoji="1" lang="zh-CN" altLang="en-US" sz="3600" b="1" dirty="0">
              <a:solidFill>
                <a:schemeClr val="bg1"/>
              </a:solidFill>
              <a:latin typeface="FZZhengHeiS-DB-GB" panose="02000000000000000000" pitchFamily="2" charset="-122"/>
              <a:ea typeface="FZZhengHeiS-DB-GB" panose="02000000000000000000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417ECD4-D5CB-A47F-FD05-C7C2D3D53EE3}"/>
              </a:ext>
            </a:extLst>
          </p:cNvPr>
          <p:cNvSpPr txBox="1"/>
          <p:nvPr/>
        </p:nvSpPr>
        <p:spPr>
          <a:xfrm>
            <a:off x="296381" y="1064600"/>
            <a:ext cx="1990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消融实验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B9C834-3F62-0A52-CE2C-50C98625AF98}"/>
              </a:ext>
            </a:extLst>
          </p:cNvPr>
          <p:cNvSpPr txBox="1"/>
          <p:nvPr/>
        </p:nvSpPr>
        <p:spPr>
          <a:xfrm>
            <a:off x="296381" y="1877265"/>
            <a:ext cx="103095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将本研究的模型在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voc12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数据集上运行，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并设计了各模块的消融实验。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CA85097-87CF-1E40-8551-79B70BE1B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174786"/>
              </p:ext>
            </p:extLst>
          </p:nvPr>
        </p:nvGraphicFramePr>
        <p:xfrm>
          <a:off x="35780" y="2777329"/>
          <a:ext cx="6060220" cy="22908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2044">
                  <a:extLst>
                    <a:ext uri="{9D8B030D-6E8A-4147-A177-3AD203B41FA5}">
                      <a16:colId xmlns:a16="http://schemas.microsoft.com/office/drawing/2014/main" val="2615509653"/>
                    </a:ext>
                  </a:extLst>
                </a:gridCol>
                <a:gridCol w="1212044">
                  <a:extLst>
                    <a:ext uri="{9D8B030D-6E8A-4147-A177-3AD203B41FA5}">
                      <a16:colId xmlns:a16="http://schemas.microsoft.com/office/drawing/2014/main" val="896878831"/>
                    </a:ext>
                  </a:extLst>
                </a:gridCol>
                <a:gridCol w="1212044">
                  <a:extLst>
                    <a:ext uri="{9D8B030D-6E8A-4147-A177-3AD203B41FA5}">
                      <a16:colId xmlns:a16="http://schemas.microsoft.com/office/drawing/2014/main" val="875950347"/>
                    </a:ext>
                  </a:extLst>
                </a:gridCol>
                <a:gridCol w="1212044">
                  <a:extLst>
                    <a:ext uri="{9D8B030D-6E8A-4147-A177-3AD203B41FA5}">
                      <a16:colId xmlns:a16="http://schemas.microsoft.com/office/drawing/2014/main" val="1040996456"/>
                    </a:ext>
                  </a:extLst>
                </a:gridCol>
                <a:gridCol w="1212044">
                  <a:extLst>
                    <a:ext uri="{9D8B030D-6E8A-4147-A177-3AD203B41FA5}">
                      <a16:colId xmlns:a16="http://schemas.microsoft.com/office/drawing/2014/main" val="3680798692"/>
                    </a:ext>
                  </a:extLst>
                </a:gridCol>
              </a:tblGrid>
              <a:tr h="4581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CRM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mIoU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(%)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374832"/>
                  </a:ext>
                </a:extLst>
              </a:tr>
              <a:tr h="4581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66.31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035823"/>
                  </a:ext>
                </a:extLst>
              </a:tr>
              <a:tr h="4581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68.15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132152"/>
                  </a:ext>
                </a:extLst>
              </a:tr>
              <a:tr h="4581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72.06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811693"/>
                  </a:ext>
                </a:extLst>
              </a:tr>
              <a:tr h="4581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72.38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326311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E23F964A-EC19-5A8B-FC45-0AFC3FAA8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050" y="582613"/>
            <a:ext cx="5937250" cy="627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9326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168"/>
    </mc:Choice>
    <mc:Fallback>
      <p:transition spd="slow" advTm="57168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7D070-0267-0DFE-2CF6-7207DC94A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E089B62-505E-25E3-D4C3-F67E274FFA3B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58CA503-E339-47A0-A61A-56E34EFBCE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7F2DA9C-4245-EBC8-832C-9FBF1002F853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3.1 </a:t>
            </a:r>
            <a:r>
              <a:rPr kumimoji="1" lang="zh-CN" altLang="en-US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基于标签阈值的一致性注意力架构</a:t>
            </a:r>
            <a:r>
              <a:rPr kumimoji="1" lang="en-US" altLang="zh-CN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LTCAA</a:t>
            </a:r>
            <a:endParaRPr kumimoji="1" lang="zh-CN" altLang="en-US" sz="3600" b="1" dirty="0">
              <a:solidFill>
                <a:schemeClr val="bg1"/>
              </a:solidFill>
              <a:latin typeface="FZZhengHeiS-DB-GB" panose="02000000000000000000" pitchFamily="2" charset="-122"/>
              <a:ea typeface="FZZhengHeiS-DB-GB" panose="02000000000000000000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6BE372-3137-5DDB-6291-B2E9BA5341FA}"/>
              </a:ext>
            </a:extLst>
          </p:cNvPr>
          <p:cNvSpPr txBox="1"/>
          <p:nvPr/>
        </p:nvSpPr>
        <p:spPr>
          <a:xfrm>
            <a:off x="296381" y="1064600"/>
            <a:ext cx="1990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对比实验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09DF83-B524-1019-A4DF-FDC3DD35229E}"/>
              </a:ext>
            </a:extLst>
          </p:cNvPr>
          <p:cNvSpPr txBox="1"/>
          <p:nvPr/>
        </p:nvSpPr>
        <p:spPr>
          <a:xfrm>
            <a:off x="296381" y="1799962"/>
            <a:ext cx="10963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将本研究的模型在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voc12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数据集上运行，获得伪标注，并与其他算法作对比的实验结果如下表：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14BB6BE-4567-CC0C-E5A4-5509C9ADA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759948"/>
              </p:ext>
            </p:extLst>
          </p:nvPr>
        </p:nvGraphicFramePr>
        <p:xfrm>
          <a:off x="3121318" y="2456915"/>
          <a:ext cx="5949364" cy="36223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12489">
                  <a:extLst>
                    <a:ext uri="{9D8B030D-6E8A-4147-A177-3AD203B41FA5}">
                      <a16:colId xmlns:a16="http://schemas.microsoft.com/office/drawing/2014/main" val="1866892137"/>
                    </a:ext>
                  </a:extLst>
                </a:gridCol>
                <a:gridCol w="2336875">
                  <a:extLst>
                    <a:ext uri="{9D8B030D-6E8A-4147-A177-3AD203B41FA5}">
                      <a16:colId xmlns:a16="http://schemas.microsoft.com/office/drawing/2014/main" val="627346197"/>
                    </a:ext>
                  </a:extLst>
                </a:gridCol>
              </a:tblGrid>
              <a:tr h="3323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模型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mIoU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(%)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520186"/>
                  </a:ext>
                </a:extLst>
              </a:tr>
              <a:tr h="3323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IRN</a:t>
                      </a:r>
                      <a:r>
                        <a:rPr lang="en-US" sz="2000" kern="100" baseline="300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[55] 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66.3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488060"/>
                  </a:ext>
                </a:extLst>
              </a:tr>
              <a:tr h="3323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SEAM</a:t>
                      </a:r>
                      <a:r>
                        <a:rPr lang="en-US" sz="20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[68] 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63.6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110421"/>
                  </a:ext>
                </a:extLst>
              </a:tr>
              <a:tr h="3323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CONTA</a:t>
                      </a:r>
                      <a:r>
                        <a:rPr lang="en-US" sz="2000" kern="100" baseline="300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[80] 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67.9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554790"/>
                  </a:ext>
                </a:extLst>
              </a:tr>
              <a:tr h="3323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AdvCAM</a:t>
                      </a:r>
                      <a:r>
                        <a:rPr lang="en-US" sz="2000" kern="100" baseline="300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[44] 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69.9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261589"/>
                  </a:ext>
                </a:extLst>
              </a:tr>
              <a:tr h="3323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DCAM</a:t>
                      </a:r>
                      <a:r>
                        <a:rPr lang="en-US" sz="2000" kern="100" baseline="300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[71] 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68.7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564781"/>
                  </a:ext>
                </a:extLst>
              </a:tr>
              <a:tr h="3323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AMR</a:t>
                      </a:r>
                      <a:r>
                        <a:rPr lang="en-US" sz="2000" kern="100" baseline="300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[65] 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69.7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902497"/>
                  </a:ext>
                </a:extLst>
              </a:tr>
              <a:tr h="3323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AMN</a:t>
                      </a:r>
                      <a:r>
                        <a:rPr lang="en-US" sz="2000" kern="100" baseline="300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[70] 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72.2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461748"/>
                  </a:ext>
                </a:extLst>
              </a:tr>
              <a:tr h="3323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LTCAA(ours)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72.4</a:t>
                      </a:r>
                      <a:endParaRPr lang="zh-CN" sz="2000" b="1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009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904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434"/>
    </mc:Choice>
    <mc:Fallback>
      <p:transition spd="slow" advTm="37434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DD3C-E9FC-9398-B5C8-F93529169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2F54531-5AF5-D0DB-B73C-B20505F8C287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7C6CBAA-8301-BC43-1A01-3A260D088B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6383B2A-BF99-5E05-CC61-9D196AEF489C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3.1 </a:t>
            </a:r>
            <a:r>
              <a:rPr kumimoji="1" lang="zh-CN" altLang="en-US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基于标签阈值的一致性注意力架构</a:t>
            </a:r>
            <a:r>
              <a:rPr kumimoji="1" lang="en-US" altLang="zh-CN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LTCAA</a:t>
            </a:r>
            <a:endParaRPr kumimoji="1" lang="zh-CN" altLang="en-US" sz="3600" b="1" dirty="0">
              <a:solidFill>
                <a:schemeClr val="bg1"/>
              </a:solidFill>
              <a:latin typeface="FZZhengHeiS-DB-GB" panose="02000000000000000000" pitchFamily="2" charset="-122"/>
              <a:ea typeface="FZZhengHeiS-DB-GB" panose="02000000000000000000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995F574-D5D7-634C-2F2C-BF202F7EF3A8}"/>
              </a:ext>
            </a:extLst>
          </p:cNvPr>
          <p:cNvSpPr txBox="1"/>
          <p:nvPr/>
        </p:nvSpPr>
        <p:spPr>
          <a:xfrm>
            <a:off x="296381" y="1064600"/>
            <a:ext cx="1990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对比实验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B1C71A-DD19-5A53-E0BE-426B0F06FD09}"/>
              </a:ext>
            </a:extLst>
          </p:cNvPr>
          <p:cNvSpPr txBox="1"/>
          <p:nvPr/>
        </p:nvSpPr>
        <p:spPr>
          <a:xfrm>
            <a:off x="273387" y="1599907"/>
            <a:ext cx="11645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将本研究的模型在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voc12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数据集上运行，获得最终分割结果，并与其他算法作对比的实验结果如下表：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CA3F96E-BC8B-C81D-FFC9-A9B899587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094107"/>
              </p:ext>
            </p:extLst>
          </p:nvPr>
        </p:nvGraphicFramePr>
        <p:xfrm>
          <a:off x="1686141" y="1938461"/>
          <a:ext cx="8865706" cy="47092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9950">
                  <a:extLst>
                    <a:ext uri="{9D8B030D-6E8A-4147-A177-3AD203B41FA5}">
                      <a16:colId xmlns:a16="http://schemas.microsoft.com/office/drawing/2014/main" val="3985032221"/>
                    </a:ext>
                  </a:extLst>
                </a:gridCol>
                <a:gridCol w="2234388">
                  <a:extLst>
                    <a:ext uri="{9D8B030D-6E8A-4147-A177-3AD203B41FA5}">
                      <a16:colId xmlns:a16="http://schemas.microsoft.com/office/drawing/2014/main" val="3244170724"/>
                    </a:ext>
                  </a:extLst>
                </a:gridCol>
                <a:gridCol w="2375684">
                  <a:extLst>
                    <a:ext uri="{9D8B030D-6E8A-4147-A177-3AD203B41FA5}">
                      <a16:colId xmlns:a16="http://schemas.microsoft.com/office/drawing/2014/main" val="4040353545"/>
                    </a:ext>
                  </a:extLst>
                </a:gridCol>
                <a:gridCol w="2375684">
                  <a:extLst>
                    <a:ext uri="{9D8B030D-6E8A-4147-A177-3AD203B41FA5}">
                      <a16:colId xmlns:a16="http://schemas.microsoft.com/office/drawing/2014/main" val="1614433011"/>
                    </a:ext>
                  </a:extLst>
                </a:gridCol>
              </a:tblGrid>
              <a:tr h="2484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模型</a:t>
                      </a: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骨干网络</a:t>
                      </a: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验证集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mIoU(%)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测试集</a:t>
                      </a: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mIoU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(%)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128633"/>
                  </a:ext>
                </a:extLst>
              </a:tr>
              <a:tr h="2484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SEC</a:t>
                      </a:r>
                      <a:r>
                        <a:rPr lang="en-US" sz="18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[40] 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VGG16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50.2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51.1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968074"/>
                  </a:ext>
                </a:extLst>
              </a:tr>
              <a:tr h="2484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AdvErasing</a:t>
                      </a:r>
                      <a:r>
                        <a:rPr lang="en-US" sz="18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[48]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VGG16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55.0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55.7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223863"/>
                  </a:ext>
                </a:extLst>
              </a:tr>
              <a:tr h="2484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CONTA</a:t>
                      </a:r>
                      <a:r>
                        <a:rPr lang="en-US" sz="1800" kern="100" baseline="300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[80] 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ResNet38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66.1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66.7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03774"/>
                  </a:ext>
                </a:extLst>
              </a:tr>
              <a:tr h="2484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SEAM</a:t>
                      </a:r>
                      <a:r>
                        <a:rPr lang="en-US" sz="18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[68] 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ResNet38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64.5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65.7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692363"/>
                  </a:ext>
                </a:extLst>
              </a:tr>
              <a:tr h="2484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IRN</a:t>
                      </a:r>
                      <a:r>
                        <a:rPr lang="en-US" sz="18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[55]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ResNet50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63.5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64.8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391399"/>
                  </a:ext>
                </a:extLst>
              </a:tr>
              <a:tr h="2484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OAA</a:t>
                      </a:r>
                      <a:r>
                        <a:rPr lang="en-US" sz="18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[58] 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ResNet101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65.2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66.4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725042"/>
                  </a:ext>
                </a:extLst>
              </a:tr>
              <a:tr h="2484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AdvCAM</a:t>
                      </a:r>
                      <a:r>
                        <a:rPr lang="en-US" sz="18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[44]</a:t>
                      </a: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ResNet101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68.1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68.0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996698"/>
                  </a:ext>
                </a:extLst>
              </a:tr>
              <a:tr h="2484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DCAM</a:t>
                      </a:r>
                      <a:r>
                        <a:rPr lang="en-US" sz="18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[71] 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ResNet101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69.2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69.4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863081"/>
                  </a:ext>
                </a:extLst>
              </a:tr>
              <a:tr h="2484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AMR</a:t>
                      </a:r>
                      <a:r>
                        <a:rPr lang="en-US" sz="18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[65] 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ResNet101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68.8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69.1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209733"/>
                  </a:ext>
                </a:extLst>
              </a:tr>
              <a:tr h="2484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PuzzleCAM</a:t>
                      </a:r>
                      <a:r>
                        <a:rPr lang="en-US" sz="1800" kern="100" baseline="300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[81]</a:t>
                      </a: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ResNet101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66.9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67.7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856751"/>
                  </a:ext>
                </a:extLst>
              </a:tr>
              <a:tr h="2484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AMN</a:t>
                      </a:r>
                      <a:r>
                        <a:rPr lang="en-US" sz="1800" kern="100" baseline="300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[70] 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ResNet101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69.5</a:t>
                      </a:r>
                      <a:endParaRPr lang="zh-CN" sz="1800" b="1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69.6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219544"/>
                  </a:ext>
                </a:extLst>
              </a:tr>
              <a:tr h="2484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LTCAA(ours)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ResNet101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69.4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69.9</a:t>
                      </a:r>
                      <a:endParaRPr lang="zh-CN" sz="1800" b="1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341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633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424"/>
    </mc:Choice>
    <mc:Fallback>
      <p:transition spd="slow" advTm="22424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2DED4-39A7-AE74-17A5-F22C80D6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525577C-B6D5-8DF2-0675-5B0D3172F974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A39855C-335E-3578-02FF-52A8617810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FAB7392-770C-8400-48EC-994BFBD76D30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3.1 </a:t>
            </a:r>
            <a:r>
              <a:rPr kumimoji="1" lang="zh-CN" altLang="en-US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基于标签阈值的一致性注意力架构</a:t>
            </a:r>
            <a:r>
              <a:rPr kumimoji="1" lang="en-US" altLang="zh-CN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LTCAA</a:t>
            </a:r>
            <a:endParaRPr kumimoji="1" lang="zh-CN" altLang="en-US" sz="3600" b="1" dirty="0">
              <a:solidFill>
                <a:schemeClr val="bg1"/>
              </a:solidFill>
              <a:latin typeface="FZZhengHeiS-DB-GB" panose="02000000000000000000" pitchFamily="2" charset="-122"/>
              <a:ea typeface="FZZhengHeiS-DB-GB" panose="02000000000000000000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D2E81B7-9BBD-E178-A5AC-BBA9C2CFBB87}"/>
              </a:ext>
            </a:extLst>
          </p:cNvPr>
          <p:cNvSpPr txBox="1"/>
          <p:nvPr/>
        </p:nvSpPr>
        <p:spPr>
          <a:xfrm>
            <a:off x="296381" y="1064600"/>
            <a:ext cx="1990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对比实验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1D752A-8A7A-025C-FDC9-A29B9C3DECE9}"/>
              </a:ext>
            </a:extLst>
          </p:cNvPr>
          <p:cNvSpPr txBox="1"/>
          <p:nvPr/>
        </p:nvSpPr>
        <p:spPr>
          <a:xfrm>
            <a:off x="296380" y="1587820"/>
            <a:ext cx="112511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为了进一步细化性能分析，本节还对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LTCAA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模型在不同类别物体上的分割性能进行了逐类别评估。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EECDAC9-6050-EDC2-6A78-DA9CE05A8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487530"/>
              </p:ext>
            </p:extLst>
          </p:nvPr>
        </p:nvGraphicFramePr>
        <p:xfrm>
          <a:off x="296380" y="2268471"/>
          <a:ext cx="5620496" cy="3542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9133">
                  <a:extLst>
                    <a:ext uri="{9D8B030D-6E8A-4147-A177-3AD203B41FA5}">
                      <a16:colId xmlns:a16="http://schemas.microsoft.com/office/drawing/2014/main" val="1181762785"/>
                    </a:ext>
                  </a:extLst>
                </a:gridCol>
                <a:gridCol w="931144">
                  <a:extLst>
                    <a:ext uri="{9D8B030D-6E8A-4147-A177-3AD203B41FA5}">
                      <a16:colId xmlns:a16="http://schemas.microsoft.com/office/drawing/2014/main" val="151293488"/>
                    </a:ext>
                  </a:extLst>
                </a:gridCol>
                <a:gridCol w="1129412">
                  <a:extLst>
                    <a:ext uri="{9D8B030D-6E8A-4147-A177-3AD203B41FA5}">
                      <a16:colId xmlns:a16="http://schemas.microsoft.com/office/drawing/2014/main" val="3984497412"/>
                    </a:ext>
                  </a:extLst>
                </a:gridCol>
                <a:gridCol w="723344">
                  <a:extLst>
                    <a:ext uri="{9D8B030D-6E8A-4147-A177-3AD203B41FA5}">
                      <a16:colId xmlns:a16="http://schemas.microsoft.com/office/drawing/2014/main" val="3290805564"/>
                    </a:ext>
                  </a:extLst>
                </a:gridCol>
                <a:gridCol w="937629">
                  <a:extLst>
                    <a:ext uri="{9D8B030D-6E8A-4147-A177-3AD203B41FA5}">
                      <a16:colId xmlns:a16="http://schemas.microsoft.com/office/drawing/2014/main" val="1563351585"/>
                    </a:ext>
                  </a:extLst>
                </a:gridCol>
                <a:gridCol w="819834">
                  <a:extLst>
                    <a:ext uri="{9D8B030D-6E8A-4147-A177-3AD203B41FA5}">
                      <a16:colId xmlns:a16="http://schemas.microsoft.com/office/drawing/2014/main" val="2239821521"/>
                    </a:ext>
                  </a:extLst>
                </a:gridCol>
              </a:tblGrid>
              <a:tr h="14995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类别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baseline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AffinityNet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SEAM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DCA</a:t>
                      </a:r>
                      <a:r>
                        <a:rPr lang="en-US" altLang="zh-CN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LTCAA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192769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Background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79.21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88.21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88.81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88.35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89.93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78420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Aeroplane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46.40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68.23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68.50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67.25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74.22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000397"/>
                  </a:ext>
                </a:extLst>
              </a:tr>
              <a:tr h="21396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Bicycle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28.58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30.62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33.28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44.00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45.18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7928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Bird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40.99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81.09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85.73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77.57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83.93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04136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Boat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33.83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49.57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40.36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55.97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69.02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0001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Bottle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43.01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61.02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63.31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60.27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65.24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095544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Bus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55.97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77.79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78.88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79.91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86.06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05971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Car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48.39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66.14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76.30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65.86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76.92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25689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Cat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37.05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75.14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79.81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83.10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81.92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46362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Chair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24.40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29.01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29.10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36.30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37.18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98019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69C48BC-0537-2975-748C-AE9B65B78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495800"/>
              </p:ext>
            </p:extLst>
          </p:nvPr>
        </p:nvGraphicFramePr>
        <p:xfrm>
          <a:off x="6260892" y="2535211"/>
          <a:ext cx="5609907" cy="3219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1761">
                  <a:extLst>
                    <a:ext uri="{9D8B030D-6E8A-4147-A177-3AD203B41FA5}">
                      <a16:colId xmlns:a16="http://schemas.microsoft.com/office/drawing/2014/main" val="566599271"/>
                    </a:ext>
                  </a:extLst>
                </a:gridCol>
                <a:gridCol w="930302">
                  <a:extLst>
                    <a:ext uri="{9D8B030D-6E8A-4147-A177-3AD203B41FA5}">
                      <a16:colId xmlns:a16="http://schemas.microsoft.com/office/drawing/2014/main" val="626707056"/>
                    </a:ext>
                  </a:extLst>
                </a:gridCol>
                <a:gridCol w="1137037">
                  <a:extLst>
                    <a:ext uri="{9D8B030D-6E8A-4147-A177-3AD203B41FA5}">
                      <a16:colId xmlns:a16="http://schemas.microsoft.com/office/drawing/2014/main" val="388690503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405998222"/>
                    </a:ext>
                  </a:extLst>
                </a:gridCol>
                <a:gridCol w="938254">
                  <a:extLst>
                    <a:ext uri="{9D8B030D-6E8A-4147-A177-3AD203B41FA5}">
                      <a16:colId xmlns:a16="http://schemas.microsoft.com/office/drawing/2014/main" val="3703680284"/>
                    </a:ext>
                  </a:extLst>
                </a:gridCol>
                <a:gridCol w="811033">
                  <a:extLst>
                    <a:ext uri="{9D8B030D-6E8A-4147-A177-3AD203B41FA5}">
                      <a16:colId xmlns:a16="http://schemas.microsoft.com/office/drawing/2014/main" val="4057785996"/>
                    </a:ext>
                  </a:extLst>
                </a:gridCol>
              </a:tblGrid>
              <a:tr h="28541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Dining Table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30.82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40.18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48.09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49.88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59.53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41337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Dog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41.95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80.36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79.92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85.27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79.12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61287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Horse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44.77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62.00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73.83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84.21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81.35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09619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Motorbike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54.61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70.42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71.43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79.80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80.30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60637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48.92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73.66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73.18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72.70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75.77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233149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Potted Plant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39.32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42.48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48.88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54.20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60.94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963335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Sheep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56.39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70.71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79.82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88.26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89.11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947936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Sofa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38.96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42.57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40.94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60.56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60.76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86003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47.00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68.12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58.18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61.86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65.24</a:t>
                      </a:r>
                      <a:endParaRPr lang="zh-CN" sz="1600" b="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734223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Tv/Monitor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42.02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51.59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53.04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57.45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57.61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77897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42F4794-6E1C-F10E-BAE3-CD22DA1AE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300645"/>
              </p:ext>
            </p:extLst>
          </p:nvPr>
        </p:nvGraphicFramePr>
        <p:xfrm>
          <a:off x="6260892" y="2208059"/>
          <a:ext cx="5620496" cy="322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9133">
                  <a:extLst>
                    <a:ext uri="{9D8B030D-6E8A-4147-A177-3AD203B41FA5}">
                      <a16:colId xmlns:a16="http://schemas.microsoft.com/office/drawing/2014/main" val="2431170441"/>
                    </a:ext>
                  </a:extLst>
                </a:gridCol>
                <a:gridCol w="931144">
                  <a:extLst>
                    <a:ext uri="{9D8B030D-6E8A-4147-A177-3AD203B41FA5}">
                      <a16:colId xmlns:a16="http://schemas.microsoft.com/office/drawing/2014/main" val="2413290621"/>
                    </a:ext>
                  </a:extLst>
                </a:gridCol>
                <a:gridCol w="1129412">
                  <a:extLst>
                    <a:ext uri="{9D8B030D-6E8A-4147-A177-3AD203B41FA5}">
                      <a16:colId xmlns:a16="http://schemas.microsoft.com/office/drawing/2014/main" val="1133757739"/>
                    </a:ext>
                  </a:extLst>
                </a:gridCol>
                <a:gridCol w="723344">
                  <a:extLst>
                    <a:ext uri="{9D8B030D-6E8A-4147-A177-3AD203B41FA5}">
                      <a16:colId xmlns:a16="http://schemas.microsoft.com/office/drawing/2014/main" val="1244286338"/>
                    </a:ext>
                  </a:extLst>
                </a:gridCol>
                <a:gridCol w="937629">
                  <a:extLst>
                    <a:ext uri="{9D8B030D-6E8A-4147-A177-3AD203B41FA5}">
                      <a16:colId xmlns:a16="http://schemas.microsoft.com/office/drawing/2014/main" val="4001955152"/>
                    </a:ext>
                  </a:extLst>
                </a:gridCol>
                <a:gridCol w="819834">
                  <a:extLst>
                    <a:ext uri="{9D8B030D-6E8A-4147-A177-3AD203B41FA5}">
                      <a16:colId xmlns:a16="http://schemas.microsoft.com/office/drawing/2014/main" val="1970033447"/>
                    </a:ext>
                  </a:extLst>
                </a:gridCol>
              </a:tblGrid>
              <a:tr h="14995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类别</a:t>
                      </a: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baseline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 err="1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AffinityNet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SEAM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DCA</a:t>
                      </a:r>
                      <a:r>
                        <a:rPr lang="en-US" altLang="zh-CN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LTCAA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433882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1459151-D3F1-0794-A7FE-40A361C80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295749"/>
              </p:ext>
            </p:extLst>
          </p:nvPr>
        </p:nvGraphicFramePr>
        <p:xfrm>
          <a:off x="296380" y="5810501"/>
          <a:ext cx="5609907" cy="321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1761">
                  <a:extLst>
                    <a:ext uri="{9D8B030D-6E8A-4147-A177-3AD203B41FA5}">
                      <a16:colId xmlns:a16="http://schemas.microsoft.com/office/drawing/2014/main" val="987778893"/>
                    </a:ext>
                  </a:extLst>
                </a:gridCol>
                <a:gridCol w="930302">
                  <a:extLst>
                    <a:ext uri="{9D8B030D-6E8A-4147-A177-3AD203B41FA5}">
                      <a16:colId xmlns:a16="http://schemas.microsoft.com/office/drawing/2014/main" val="1027581177"/>
                    </a:ext>
                  </a:extLst>
                </a:gridCol>
                <a:gridCol w="1137037">
                  <a:extLst>
                    <a:ext uri="{9D8B030D-6E8A-4147-A177-3AD203B41FA5}">
                      <a16:colId xmlns:a16="http://schemas.microsoft.com/office/drawing/2014/main" val="212468694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474380266"/>
                    </a:ext>
                  </a:extLst>
                </a:gridCol>
                <a:gridCol w="938254">
                  <a:extLst>
                    <a:ext uri="{9D8B030D-6E8A-4147-A177-3AD203B41FA5}">
                      <a16:colId xmlns:a16="http://schemas.microsoft.com/office/drawing/2014/main" val="1234221043"/>
                    </a:ext>
                  </a:extLst>
                </a:gridCol>
                <a:gridCol w="811033">
                  <a:extLst>
                    <a:ext uri="{9D8B030D-6E8A-4147-A177-3AD203B41FA5}">
                      <a16:colId xmlns:a16="http://schemas.microsoft.com/office/drawing/2014/main" val="3508987603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Cow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53.68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65.99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75.47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86.82</a:t>
                      </a:r>
                      <a:endParaRPr lang="zh-CN" sz="16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84.90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069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5950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2423"/>
    </mc:Choice>
    <mc:Fallback>
      <p:transition spd="slow" advTm="112423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2AC57CD4-7085-4BD8-92B5-ED865599EB9D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50102FB-C64B-4119-9CE3-9978FE94EB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4B22A9B-40CA-AD20-7A98-51E9A5FF304A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3.1 </a:t>
            </a:r>
            <a:r>
              <a:rPr kumimoji="1" lang="zh-CN" altLang="en-US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基于标签阈值的一致性注意力架构</a:t>
            </a:r>
            <a:r>
              <a:rPr kumimoji="1" lang="en-US" altLang="zh-CN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LTCAA</a:t>
            </a:r>
            <a:endParaRPr kumimoji="1" lang="zh-CN" altLang="en-US" sz="3600" b="1" dirty="0">
              <a:solidFill>
                <a:schemeClr val="bg1"/>
              </a:solidFill>
              <a:latin typeface="FZZhengHeiS-DB-GB" panose="02000000000000000000" pitchFamily="2" charset="-122"/>
              <a:ea typeface="FZZhengHeiS-DB-GB" panose="02000000000000000000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1C2E0E-C470-9782-BF30-A7D494FDC6AC}"/>
              </a:ext>
            </a:extLst>
          </p:cNvPr>
          <p:cNvSpPr txBox="1"/>
          <p:nvPr/>
        </p:nvSpPr>
        <p:spPr>
          <a:xfrm>
            <a:off x="296381" y="1064600"/>
            <a:ext cx="3183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实验结果可视化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AAB174-BF43-8F9F-22D2-FE38F7213BF1}"/>
              </a:ext>
            </a:extLst>
          </p:cNvPr>
          <p:cNvSpPr txBox="1"/>
          <p:nvPr/>
        </p:nvSpPr>
        <p:spPr>
          <a:xfrm>
            <a:off x="296381" y="1587820"/>
            <a:ext cx="111677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本研究利用原图和真实标注训练，经过分类网络生成的伪标注和经过分割网络生成的结果如下：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8EE1E0D-DE83-F5CC-3CAB-8238072FD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0" y="2111040"/>
            <a:ext cx="6048000" cy="432923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CFEB6CF-8E27-1892-A721-F03FF10D69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2000" y="2765190"/>
            <a:ext cx="6048000" cy="327465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5E3D6F8-6F43-D8C0-BE91-E43FC21E914B}"/>
              </a:ext>
            </a:extLst>
          </p:cNvPr>
          <p:cNvSpPr txBox="1"/>
          <p:nvPr/>
        </p:nvSpPr>
        <p:spPr>
          <a:xfrm>
            <a:off x="480060" y="639411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CD3E85-E488-34B0-A59C-5D42559831EE}"/>
              </a:ext>
            </a:extLst>
          </p:cNvPr>
          <p:cNvSpPr txBox="1"/>
          <p:nvPr/>
        </p:nvSpPr>
        <p:spPr>
          <a:xfrm>
            <a:off x="1760220" y="639411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真实标注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8CBA31-8CDF-9F24-48A1-7A3C20AA02CD}"/>
              </a:ext>
            </a:extLst>
          </p:cNvPr>
          <p:cNvSpPr txBox="1"/>
          <p:nvPr/>
        </p:nvSpPr>
        <p:spPr>
          <a:xfrm>
            <a:off x="3450748" y="6394112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伪标注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8398C4-1B91-16DE-8B39-9415F2DDBA1C}"/>
              </a:ext>
            </a:extLst>
          </p:cNvPr>
          <p:cNvSpPr txBox="1"/>
          <p:nvPr/>
        </p:nvSpPr>
        <p:spPr>
          <a:xfrm>
            <a:off x="4874847" y="641719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分割结果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B4CE2FC-C8F7-2107-B12B-D7A2BD72E1C3}"/>
              </a:ext>
            </a:extLst>
          </p:cNvPr>
          <p:cNvSpPr txBox="1"/>
          <p:nvPr/>
        </p:nvSpPr>
        <p:spPr>
          <a:xfrm>
            <a:off x="6541417" y="601676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7BC1746-AD21-6F4B-22AA-FA80CC58C400}"/>
              </a:ext>
            </a:extLst>
          </p:cNvPr>
          <p:cNvSpPr txBox="1"/>
          <p:nvPr/>
        </p:nvSpPr>
        <p:spPr>
          <a:xfrm>
            <a:off x="7821577" y="601676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真实标注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D71A600-96DB-CBAC-0C62-AC5A0CA2B455}"/>
              </a:ext>
            </a:extLst>
          </p:cNvPr>
          <p:cNvSpPr txBox="1"/>
          <p:nvPr/>
        </p:nvSpPr>
        <p:spPr>
          <a:xfrm>
            <a:off x="9512105" y="6016765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伪标注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BCED593-9119-D0BB-0D4F-C037482F56FE}"/>
              </a:ext>
            </a:extLst>
          </p:cNvPr>
          <p:cNvSpPr txBox="1"/>
          <p:nvPr/>
        </p:nvSpPr>
        <p:spPr>
          <a:xfrm>
            <a:off x="10936204" y="603984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分割结果</a:t>
            </a:r>
          </a:p>
        </p:txBody>
      </p:sp>
    </p:spTree>
    <p:extLst>
      <p:ext uri="{BB962C8B-B14F-4D97-AF65-F5344CB8AC3E}">
        <p14:creationId xmlns:p14="http://schemas.microsoft.com/office/powerpoint/2010/main" val="1091230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4607"/>
    </mc:Choice>
    <mc:Fallback>
      <p:transition spd="slow" advTm="124607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C6603-D57D-1C74-86F4-4F08C18D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F4699DEF-599D-59BF-E70D-F9EAF9E91F06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30A7D281-68A3-B460-5FFE-5ADCEFEA69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B6D7569-DAFB-B6BE-0F02-FAE94D1E28F0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3.1 </a:t>
            </a:r>
            <a:r>
              <a:rPr kumimoji="1" lang="zh-CN" altLang="en-US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基于标签阈值的一致性注意力架构</a:t>
            </a:r>
            <a:r>
              <a:rPr kumimoji="1" lang="en-US" altLang="zh-CN" sz="32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LTCAA</a:t>
            </a:r>
            <a:endParaRPr kumimoji="1" lang="zh-CN" altLang="en-US" sz="3600" b="1" dirty="0">
              <a:solidFill>
                <a:schemeClr val="bg1"/>
              </a:solidFill>
              <a:latin typeface="FZZhengHeiS-DB-GB" panose="02000000000000000000" pitchFamily="2" charset="-122"/>
              <a:ea typeface="FZZhengHeiS-DB-GB" panose="02000000000000000000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1DBCB6-5DC5-1D97-CB99-8332037EAB1C}"/>
              </a:ext>
            </a:extLst>
          </p:cNvPr>
          <p:cNvSpPr txBox="1"/>
          <p:nvPr/>
        </p:nvSpPr>
        <p:spPr>
          <a:xfrm>
            <a:off x="296381" y="1064600"/>
            <a:ext cx="3183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实验结果可视化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531B14-6125-A436-90FF-3F6D2268FFC7}"/>
              </a:ext>
            </a:extLst>
          </p:cNvPr>
          <p:cNvSpPr txBox="1"/>
          <p:nvPr/>
        </p:nvSpPr>
        <p:spPr>
          <a:xfrm>
            <a:off x="296381" y="1587820"/>
            <a:ext cx="111677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本研究利用原图和真实标注训练，经过分类网络生成的伪标注和经过分割网络生成的结果如下：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6FED622-F607-9D4E-46EA-131D71303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0" y="1921434"/>
            <a:ext cx="6012000" cy="467443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B79049E-E580-527A-3F9F-8CC46A8D26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635882"/>
            <a:ext cx="6012000" cy="324554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5B1143B-4675-B1B7-8F61-9CA6E2A2D594}"/>
              </a:ext>
            </a:extLst>
          </p:cNvPr>
          <p:cNvSpPr txBox="1"/>
          <p:nvPr/>
        </p:nvSpPr>
        <p:spPr>
          <a:xfrm>
            <a:off x="509491" y="649798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原图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F7F4F7-0CEE-F8F0-38AA-3F427E855523}"/>
              </a:ext>
            </a:extLst>
          </p:cNvPr>
          <p:cNvSpPr txBox="1"/>
          <p:nvPr/>
        </p:nvSpPr>
        <p:spPr>
          <a:xfrm>
            <a:off x="1789651" y="649798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真实标注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BB233B-CBC6-D80D-4250-A784ECCD798B}"/>
              </a:ext>
            </a:extLst>
          </p:cNvPr>
          <p:cNvSpPr txBox="1"/>
          <p:nvPr/>
        </p:nvSpPr>
        <p:spPr>
          <a:xfrm>
            <a:off x="3480179" y="6497985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伪标注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518155-4E59-C8A6-72D6-9BE3C58CCC80}"/>
              </a:ext>
            </a:extLst>
          </p:cNvPr>
          <p:cNvSpPr txBox="1"/>
          <p:nvPr/>
        </p:nvSpPr>
        <p:spPr>
          <a:xfrm>
            <a:off x="4904278" y="652106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分割结果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C5B6FB-561E-A02A-7243-B2D9EF61694D}"/>
              </a:ext>
            </a:extLst>
          </p:cNvPr>
          <p:cNvSpPr txBox="1"/>
          <p:nvPr/>
        </p:nvSpPr>
        <p:spPr>
          <a:xfrm>
            <a:off x="6541417" y="588142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EF8BA4-9C6E-6344-C8E7-6B14DCACBF04}"/>
              </a:ext>
            </a:extLst>
          </p:cNvPr>
          <p:cNvSpPr txBox="1"/>
          <p:nvPr/>
        </p:nvSpPr>
        <p:spPr>
          <a:xfrm>
            <a:off x="7821577" y="588142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真实标注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1FA9955-07A9-CF18-3D84-985ACABAEDDD}"/>
              </a:ext>
            </a:extLst>
          </p:cNvPr>
          <p:cNvSpPr txBox="1"/>
          <p:nvPr/>
        </p:nvSpPr>
        <p:spPr>
          <a:xfrm>
            <a:off x="9512105" y="5881423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伪标注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E285156-51A2-B182-F69C-63C3B3F59C7B}"/>
              </a:ext>
            </a:extLst>
          </p:cNvPr>
          <p:cNvSpPr txBox="1"/>
          <p:nvPr/>
        </p:nvSpPr>
        <p:spPr>
          <a:xfrm>
            <a:off x="10936204" y="5904507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分割结果</a:t>
            </a:r>
          </a:p>
        </p:txBody>
      </p:sp>
    </p:spTree>
    <p:extLst>
      <p:ext uri="{BB962C8B-B14F-4D97-AF65-F5344CB8AC3E}">
        <p14:creationId xmlns:p14="http://schemas.microsoft.com/office/powerpoint/2010/main" val="27477257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156"/>
    </mc:Choice>
    <mc:Fallback>
      <p:transition spd="slow" advTm="8415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D8897C2-D72C-45EE-BFE0-8AEFBB226695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B804072-C22C-4288-9900-885DC71CCB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0BA1A55-1712-3B8E-490F-9EAEFB45D68C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3.2 LTCAA</a:t>
            </a:r>
            <a:r>
              <a:rPr kumimoji="1" lang="zh-CN" altLang="en-US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模型在遥感图像的应用案例研究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694003-B3FB-2C85-ED81-B0128B7FB71D}"/>
              </a:ext>
            </a:extLst>
          </p:cNvPr>
          <p:cNvSpPr txBox="1"/>
          <p:nvPr/>
        </p:nvSpPr>
        <p:spPr>
          <a:xfrm>
            <a:off x="296381" y="1064600"/>
            <a:ext cx="3183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案例应用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E2378D-F93F-F8ED-5D5D-2EA8002D9A14}"/>
              </a:ext>
            </a:extLst>
          </p:cNvPr>
          <p:cNvSpPr txBox="1"/>
          <p:nvPr/>
        </p:nvSpPr>
        <p:spPr>
          <a:xfrm>
            <a:off x="296381" y="1587820"/>
            <a:ext cx="111677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为研究图像级标注弱监督语义分割方法的现实意义，本研究将设计的算法应用于遥感图像。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D492B7B-A207-72D7-18E4-4371213E1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56" y="2756060"/>
            <a:ext cx="2361537" cy="2361537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D230C89-7439-E47D-5062-2710F879FBF2}"/>
              </a:ext>
            </a:extLst>
          </p:cNvPr>
          <p:cNvSpPr/>
          <p:nvPr/>
        </p:nvSpPr>
        <p:spPr>
          <a:xfrm>
            <a:off x="4267199" y="3100910"/>
            <a:ext cx="2517913" cy="167183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数据处理</a:t>
            </a:r>
          </a:p>
        </p:txBody>
      </p:sp>
      <p:sp>
        <p:nvSpPr>
          <p:cNvPr id="15" name="立方体 14">
            <a:extLst>
              <a:ext uri="{FF2B5EF4-FFF2-40B4-BE49-F238E27FC236}">
                <a16:creationId xmlns:a16="http://schemas.microsoft.com/office/drawing/2014/main" id="{CAD71C19-3E75-E385-DD76-B4B7250B482B}"/>
              </a:ext>
            </a:extLst>
          </p:cNvPr>
          <p:cNvSpPr/>
          <p:nvPr/>
        </p:nvSpPr>
        <p:spPr>
          <a:xfrm>
            <a:off x="8030818" y="2177873"/>
            <a:ext cx="2941982" cy="3125548"/>
          </a:xfrm>
          <a:prstGeom prst="cube">
            <a:avLst>
              <a:gd name="adj" fmla="val 15141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LTCAA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4D6CBBF-9007-25CB-32F4-9C1266C0F401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3021493" y="3936829"/>
            <a:ext cx="12457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86A43B9-FF2E-E07E-294C-75965BF1243E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785112" y="3936828"/>
            <a:ext cx="113969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935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515"/>
    </mc:Choice>
    <mc:Fallback>
      <p:transition spd="slow" advTm="32515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9CE6C7E-A141-4BBC-BF72-2A628ED79FEA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0D3B16A-254B-4DDF-AA59-76A2638818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EDE8510-110C-4A61-48BA-CCA89738558A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3.2 LTCAA</a:t>
            </a:r>
            <a:r>
              <a:rPr kumimoji="1" lang="zh-CN" altLang="en-US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模型在遥感图像的应用案例研究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70AA0F-0FD1-E25E-452F-E52217E6A3A2}"/>
              </a:ext>
            </a:extLst>
          </p:cNvPr>
          <p:cNvSpPr txBox="1"/>
          <p:nvPr/>
        </p:nvSpPr>
        <p:spPr>
          <a:xfrm>
            <a:off x="296381" y="1064600"/>
            <a:ext cx="3183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数据集介绍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37FC90C-EAA4-6017-16D5-1AA2849E85C9}"/>
              </a:ext>
            </a:extLst>
          </p:cNvPr>
          <p:cNvGrpSpPr/>
          <p:nvPr/>
        </p:nvGrpSpPr>
        <p:grpSpPr>
          <a:xfrm>
            <a:off x="296381" y="1575087"/>
            <a:ext cx="11225059" cy="1092758"/>
            <a:chOff x="742780" y="2108235"/>
            <a:chExt cx="11225059" cy="1092758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8A5CACE-7A7E-2134-DA1F-89AC4F59B2A0}"/>
                </a:ext>
              </a:extLst>
            </p:cNvPr>
            <p:cNvSpPr txBox="1"/>
            <p:nvPr/>
          </p:nvSpPr>
          <p:spPr>
            <a:xfrm>
              <a:off x="742780" y="2108235"/>
              <a:ext cx="29280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ISPRS </a:t>
              </a:r>
              <a:r>
                <a:rPr lang="en-US" altLang="zh-CN" sz="2000" dirty="0" err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postdam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数据集：</a:t>
              </a:r>
              <a:endPara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172F84E-83E0-0059-8A02-81736DAC6B44}"/>
                </a:ext>
              </a:extLst>
            </p:cNvPr>
            <p:cNvSpPr txBox="1"/>
            <p:nvPr/>
          </p:nvSpPr>
          <p:spPr>
            <a:xfrm>
              <a:off x="3485321" y="2108235"/>
              <a:ext cx="848251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5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个前景类别，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个背景类别。</a:t>
              </a:r>
              <a:r>
                <a:rPr lang="en-US" altLang="zh-CN" sz="20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38</a:t>
              </a:r>
              <a:r>
                <a:rPr lang="zh-CN" altLang="zh-CN" sz="20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幅正校正图像，</a:t>
              </a:r>
              <a:r>
                <a:rPr lang="en-US" altLang="zh-CN" sz="20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6000*6000</a:t>
              </a:r>
              <a:r>
                <a:rPr lang="zh-CN" altLang="zh-CN" sz="20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像素。</a:t>
              </a:r>
              <a:endParaRPr lang="zh-CN" altLang="zh-CN" sz="20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endPara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615F08-BDD8-4DE5-1F7C-52F0D37E4B56}"/>
                </a:ext>
              </a:extLst>
            </p:cNvPr>
            <p:cNvSpPr txBox="1"/>
            <p:nvPr/>
          </p:nvSpPr>
          <p:spPr>
            <a:xfrm>
              <a:off x="3485321" y="2493107"/>
              <a:ext cx="8482517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包含多种遥感数据源，包括高分辨率光学遥感图像、激光雷达（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LiDAR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）数据以及高精度数字地表模型（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DSM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）等。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0F9EA2E8-6338-FEFB-7A21-3374BF298A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748" y="3089694"/>
            <a:ext cx="3600000" cy="360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27A3F96-B633-F57F-8B43-752FA35A73D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81" y="3089694"/>
            <a:ext cx="3600000" cy="36000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B957C84-4BFF-5549-D147-7D89D10366F9}"/>
              </a:ext>
            </a:extLst>
          </p:cNvPr>
          <p:cNvSpPr txBox="1"/>
          <p:nvPr/>
        </p:nvSpPr>
        <p:spPr>
          <a:xfrm>
            <a:off x="1542335" y="2720362"/>
            <a:ext cx="1196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RGB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55DB965-39E8-BDE0-E6A8-A8C98F8C947A}"/>
              </a:ext>
            </a:extLst>
          </p:cNvPr>
          <p:cNvSpPr txBox="1"/>
          <p:nvPr/>
        </p:nvSpPr>
        <p:spPr>
          <a:xfrm>
            <a:off x="5149268" y="2720362"/>
            <a:ext cx="15849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IRRG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2899E8C-352E-B789-5980-C45E10E46FB2}"/>
              </a:ext>
            </a:extLst>
          </p:cNvPr>
          <p:cNvSpPr txBox="1"/>
          <p:nvPr/>
        </p:nvSpPr>
        <p:spPr>
          <a:xfrm>
            <a:off x="8596979" y="3089694"/>
            <a:ext cx="29244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选取其中的 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IRRG 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样本（近红外、红、绿）进行分析与处理。该数据由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Leica ADS80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传感器获取，具有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厘米的空间分辨率，能够提供丰富的地物细节信息。 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IRRG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图像使用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近红外通道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替代常规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RGB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图像中的蓝色通道，增强了对植被、建筑等地物类别的光谱区分能力。</a:t>
            </a:r>
          </a:p>
        </p:txBody>
      </p:sp>
    </p:spTree>
    <p:extLst>
      <p:ext uri="{BB962C8B-B14F-4D97-AF65-F5344CB8AC3E}">
        <p14:creationId xmlns:p14="http://schemas.microsoft.com/office/powerpoint/2010/main" val="2563863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82"/>
    </mc:Choice>
    <mc:Fallback>
      <p:transition spd="slow" advTm="1482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733D59AF-8B34-406F-895F-7DEEF36E5AB2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B5039D3A-257F-4999-B1A9-165E5253CD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5B7DB3B-93B1-58E8-A793-609D33E93A84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3.2 LTCAA</a:t>
            </a:r>
            <a:r>
              <a:rPr kumimoji="1" lang="zh-CN" altLang="en-US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模型在遥感图像的应用案例研究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2E4AFF-E8FA-0FE7-CAC4-9D3AEA4B58E7}"/>
              </a:ext>
            </a:extLst>
          </p:cNvPr>
          <p:cNvSpPr txBox="1"/>
          <p:nvPr/>
        </p:nvSpPr>
        <p:spPr>
          <a:xfrm>
            <a:off x="296381" y="1064600"/>
            <a:ext cx="3183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数据准备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5E2C522-731A-E42F-FB4E-B166DCC16AEC}"/>
              </a:ext>
            </a:extLst>
          </p:cNvPr>
          <p:cNvGrpSpPr/>
          <p:nvPr/>
        </p:nvGrpSpPr>
        <p:grpSpPr>
          <a:xfrm>
            <a:off x="317166" y="1984628"/>
            <a:ext cx="10839211" cy="1422762"/>
            <a:chOff x="742780" y="2106998"/>
            <a:chExt cx="10839211" cy="142276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9F16981-69A5-FB5D-4625-C6131FAD45A4}"/>
                </a:ext>
              </a:extLst>
            </p:cNvPr>
            <p:cNvSpPr txBox="1"/>
            <p:nvPr/>
          </p:nvSpPr>
          <p:spPr>
            <a:xfrm>
              <a:off x="742780" y="2108235"/>
              <a:ext cx="1523340" cy="5486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数据格式</a:t>
              </a: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4F87603-EF45-E5DE-73A5-5A4E4E886199}"/>
                </a:ext>
              </a:extLst>
            </p:cNvPr>
            <p:cNvSpPr txBox="1"/>
            <p:nvPr/>
          </p:nvSpPr>
          <p:spPr>
            <a:xfrm>
              <a:off x="2533406" y="2106998"/>
              <a:ext cx="9048585" cy="14227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由于更换数据集，需要考虑数据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动态范围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处理。</a:t>
              </a:r>
              <a:endPara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ISPRS </a:t>
              </a:r>
              <a:r>
                <a:rPr lang="en-US" altLang="zh-CN" sz="2000" dirty="0" err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Postdam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数据集的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IRRG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图像均为</a:t>
              </a:r>
              <a:r>
                <a:rPr lang="en-US" altLang="zh-CN" sz="2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8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位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无符号整数（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unit8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）格式，与本文算法的输入要求</a:t>
              </a:r>
              <a:r>
                <a:rPr lang="zh-CN" altLang="en-US" sz="2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一致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，因此无需在动态范围方面进行额外的归一化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强度变换处理。</a:t>
              </a:r>
              <a:endPara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58B5367-62D9-3BB6-D55E-DCC298D38B75}"/>
              </a:ext>
            </a:extLst>
          </p:cNvPr>
          <p:cNvGrpSpPr/>
          <p:nvPr/>
        </p:nvGrpSpPr>
        <p:grpSpPr>
          <a:xfrm>
            <a:off x="296381" y="3583917"/>
            <a:ext cx="10859997" cy="968791"/>
            <a:chOff x="742780" y="2094220"/>
            <a:chExt cx="10859997" cy="968791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D2F82AE-907C-12E4-29C1-EF9DC75FE3F2}"/>
                </a:ext>
              </a:extLst>
            </p:cNvPr>
            <p:cNvSpPr txBox="1"/>
            <p:nvPr/>
          </p:nvSpPr>
          <p:spPr>
            <a:xfrm>
              <a:off x="742780" y="2108235"/>
              <a:ext cx="1523340" cy="5486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数据处理</a:t>
              </a: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9A2F68A-556F-1602-7D77-AFE2D1D40A43}"/>
                </a:ext>
              </a:extLst>
            </p:cNvPr>
            <p:cNvSpPr txBox="1"/>
            <p:nvPr/>
          </p:nvSpPr>
          <p:spPr>
            <a:xfrm>
              <a:off x="2554192" y="2094220"/>
              <a:ext cx="9048585" cy="9687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分块裁剪为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512*512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的尺寸，在裁剪过程中设计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30%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重叠区域。</a:t>
              </a:r>
              <a:endPara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舍弃前景类总占比＜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25%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的图像块。</a:t>
              </a:r>
              <a:endPara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6C570126-A6C5-CCA1-7D92-D923C71C2D92}"/>
              </a:ext>
            </a:extLst>
          </p:cNvPr>
          <p:cNvGrpSpPr/>
          <p:nvPr/>
        </p:nvGrpSpPr>
        <p:grpSpPr>
          <a:xfrm>
            <a:off x="317164" y="4917051"/>
            <a:ext cx="10839214" cy="1048172"/>
            <a:chOff x="742779" y="2108235"/>
            <a:chExt cx="10839214" cy="1048172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5323CAC-6A55-98EB-638B-2F922DDC8215}"/>
                </a:ext>
              </a:extLst>
            </p:cNvPr>
            <p:cNvSpPr txBox="1"/>
            <p:nvPr/>
          </p:nvSpPr>
          <p:spPr>
            <a:xfrm>
              <a:off x="742779" y="2108235"/>
              <a:ext cx="1947733" cy="10481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数据集准备</a:t>
              </a:r>
              <a:endPara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标签获取</a:t>
              </a: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endPara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A351F5C-5A01-40D5-BE2D-A31554AE5B11}"/>
                </a:ext>
              </a:extLst>
            </p:cNvPr>
            <p:cNvSpPr txBox="1"/>
            <p:nvPr/>
          </p:nvSpPr>
          <p:spPr>
            <a:xfrm>
              <a:off x="2533408" y="2112550"/>
              <a:ext cx="9048585" cy="9687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训练集共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24908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张图像块；验证集共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6228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张图像块。</a:t>
              </a:r>
              <a:endPara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根据提供的像素级真实标注提取图像级标注信息。</a:t>
              </a:r>
              <a:endPara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E14CEBA-C387-D5CA-5D55-3CEBF4F0DA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000" y="4585727"/>
            <a:ext cx="4140000" cy="188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905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76"/>
    </mc:Choice>
    <mc:Fallback>
      <p:transition spd="slow" advTm="9376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06DC820-F3AD-4D76-81CB-097B31579973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26CFF88-FFEC-4943-8BC6-E972ECBA2F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3C7F155-D210-E211-9EC8-571426BAE077}"/>
              </a:ext>
            </a:extLst>
          </p:cNvPr>
          <p:cNvSpPr txBox="1"/>
          <p:nvPr/>
        </p:nvSpPr>
        <p:spPr>
          <a:xfrm>
            <a:off x="296381" y="1064600"/>
            <a:ext cx="1990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141B78-84E5-7DA3-C36E-41395C845113}"/>
              </a:ext>
            </a:extLst>
          </p:cNvPr>
          <p:cNvSpPr txBox="1"/>
          <p:nvPr/>
        </p:nvSpPr>
        <p:spPr>
          <a:xfrm>
            <a:off x="296381" y="1799962"/>
            <a:ext cx="109638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将本研究的模型在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ISPRS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postdam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数据集上运行，获得伪标注，并与其他算法作对比的实验结果如下表：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9632F7-773B-B73D-360D-A78720FC1DB4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3.2 LTCAA</a:t>
            </a:r>
            <a:r>
              <a:rPr kumimoji="1" lang="zh-CN" altLang="en-US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模型在遥感图像的应用案例研究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3F09923-A537-B5B4-F55B-93448CBF3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542944"/>
              </p:ext>
            </p:extLst>
          </p:nvPr>
        </p:nvGraphicFramePr>
        <p:xfrm>
          <a:off x="3216000" y="3118874"/>
          <a:ext cx="5760000" cy="2724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349599182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1561885260"/>
                    </a:ext>
                  </a:extLst>
                </a:gridCol>
              </a:tblGrid>
              <a:tr h="37881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模型</a:t>
                      </a:r>
                    </a:p>
                  </a:txBody>
                  <a:tcPr marL="68580" marR="6858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0" kern="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mIoU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(%)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069880"/>
                  </a:ext>
                </a:extLst>
              </a:tr>
              <a:tr h="4642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CAM</a:t>
                      </a:r>
                      <a:r>
                        <a:rPr lang="en-US" sz="20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[39]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63.4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957228"/>
                  </a:ext>
                </a:extLst>
              </a:tr>
              <a:tr h="4642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IRN</a:t>
                      </a:r>
                      <a:r>
                        <a:rPr lang="en-US" sz="20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[55]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64.5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044155"/>
                  </a:ext>
                </a:extLst>
              </a:tr>
              <a:tr h="4642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PuzzleCAM</a:t>
                      </a:r>
                      <a:r>
                        <a:rPr lang="en-US" sz="20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[81] 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66.2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621160"/>
                  </a:ext>
                </a:extLst>
              </a:tr>
              <a:tr h="4642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SEAM</a:t>
                      </a:r>
                      <a:r>
                        <a:rPr lang="en-US" sz="20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[68] 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66.9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164292"/>
                  </a:ext>
                </a:extLst>
              </a:tr>
              <a:tr h="4642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LTCAA(ours)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67.1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231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148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22"/>
    </mc:Choice>
    <mc:Fallback>
      <p:transition spd="slow" advTm="12022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973FDD8D-04B3-4E2A-9A52-41A5462BF90E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8D17439-985E-4C55-AD55-5AAB4D0789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0C71EF0-AD50-A5DD-6FD9-FE4F58376636}"/>
              </a:ext>
            </a:extLst>
          </p:cNvPr>
          <p:cNvSpPr txBox="1"/>
          <p:nvPr/>
        </p:nvSpPr>
        <p:spPr>
          <a:xfrm>
            <a:off x="296381" y="1064600"/>
            <a:ext cx="19903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对比实验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E18DB5-337E-8835-3C91-1E8F9D754B3E}"/>
              </a:ext>
            </a:extLst>
          </p:cNvPr>
          <p:cNvSpPr txBox="1"/>
          <p:nvPr/>
        </p:nvSpPr>
        <p:spPr>
          <a:xfrm>
            <a:off x="296381" y="1799962"/>
            <a:ext cx="109638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将本研究的模型在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ISPRS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postdam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数据集上运行，获得最终分割结果，并与其他算法作对比的实验结果如下表：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739FC5-E0F0-EF1F-55AC-661F2E6C2262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3.2 LTCAA</a:t>
            </a:r>
            <a:r>
              <a:rPr kumimoji="1" lang="zh-CN" altLang="en-US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模型在遥感图像的应用案例研究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3AF9CB4-D8A5-DE87-AEEB-E24F8285F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481509"/>
              </p:ext>
            </p:extLst>
          </p:nvPr>
        </p:nvGraphicFramePr>
        <p:xfrm>
          <a:off x="2405999" y="2507848"/>
          <a:ext cx="7380001" cy="4067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5658">
                  <a:extLst>
                    <a:ext uri="{9D8B030D-6E8A-4147-A177-3AD203B41FA5}">
                      <a16:colId xmlns:a16="http://schemas.microsoft.com/office/drawing/2014/main" val="87054817"/>
                    </a:ext>
                  </a:extLst>
                </a:gridCol>
                <a:gridCol w="2808685">
                  <a:extLst>
                    <a:ext uri="{9D8B030D-6E8A-4147-A177-3AD203B41FA5}">
                      <a16:colId xmlns:a16="http://schemas.microsoft.com/office/drawing/2014/main" val="1014304657"/>
                    </a:ext>
                  </a:extLst>
                </a:gridCol>
                <a:gridCol w="2285658">
                  <a:extLst>
                    <a:ext uri="{9D8B030D-6E8A-4147-A177-3AD203B41FA5}">
                      <a16:colId xmlns:a16="http://schemas.microsoft.com/office/drawing/2014/main" val="836244060"/>
                    </a:ext>
                  </a:extLst>
                </a:gridCol>
              </a:tblGrid>
              <a:tr h="4541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模型</a:t>
                      </a: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骨干网络</a:t>
                      </a: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mIoU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(%)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683197"/>
                  </a:ext>
                </a:extLst>
              </a:tr>
              <a:tr h="4517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CAM</a:t>
                      </a:r>
                      <a:r>
                        <a:rPr lang="en-US" sz="20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[39]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ResNet38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73.4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013127"/>
                  </a:ext>
                </a:extLst>
              </a:tr>
              <a:tr h="4517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SEAM</a:t>
                      </a:r>
                      <a:r>
                        <a:rPr lang="en-US" sz="20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[68] 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ResNet38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79.9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777541"/>
                  </a:ext>
                </a:extLst>
              </a:tr>
              <a:tr h="4517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CONTA</a:t>
                      </a:r>
                      <a:r>
                        <a:rPr lang="en-US" sz="20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[80] 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ResNet38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77.1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059676"/>
                  </a:ext>
                </a:extLst>
              </a:tr>
              <a:tr h="4517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IRN</a:t>
                      </a:r>
                      <a:r>
                        <a:rPr lang="en-US" sz="20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[55] 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ResNet50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81.3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381617"/>
                  </a:ext>
                </a:extLst>
              </a:tr>
              <a:tr h="4517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AdvCAM</a:t>
                      </a:r>
                      <a:r>
                        <a:rPr lang="en-US" sz="20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[44]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ResNet101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76.5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355758"/>
                  </a:ext>
                </a:extLst>
              </a:tr>
              <a:tr h="4517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PuzzleCAM</a:t>
                      </a:r>
                      <a:r>
                        <a:rPr lang="en-US" sz="20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[81] 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ResNet101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77.9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897904"/>
                  </a:ext>
                </a:extLst>
              </a:tr>
              <a:tr h="4517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OME</a:t>
                      </a:r>
                      <a:r>
                        <a:rPr lang="en-US" sz="2000" kern="100" baseline="300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[82] 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ResNet101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82.7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872222"/>
                  </a:ext>
                </a:extLst>
              </a:tr>
              <a:tr h="4517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LTCAA(ours)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ResNet101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83.0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132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256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06"/>
    </mc:Choice>
    <mc:Fallback>
      <p:transition spd="slow" advTm="2906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06DC820-F3AD-4D76-81CB-097B31579973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26CFF88-FFEC-4943-8BC6-E972ECBA2F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67BAE37-9310-32C8-B4B4-67000E21A340}"/>
              </a:ext>
            </a:extLst>
          </p:cNvPr>
          <p:cNvSpPr txBox="1"/>
          <p:nvPr/>
        </p:nvSpPr>
        <p:spPr>
          <a:xfrm>
            <a:off x="296381" y="1064600"/>
            <a:ext cx="3183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实验结果可视化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F7B8F7-DE4F-FBAB-6060-B172BA4175AC}"/>
              </a:ext>
            </a:extLst>
          </p:cNvPr>
          <p:cNvSpPr txBox="1"/>
          <p:nvPr/>
        </p:nvSpPr>
        <p:spPr>
          <a:xfrm>
            <a:off x="296381" y="1587820"/>
            <a:ext cx="111677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本研究利用原图和真实标注训练，经过分类网络生成的伪标注结果如下：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577A78-13BB-9DDD-65EF-54B7842CC5AE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3.2 LTCAA</a:t>
            </a:r>
            <a:r>
              <a:rPr kumimoji="1" lang="zh-CN" altLang="en-US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模型在遥感图像的应用案例研究</a:t>
            </a:r>
          </a:p>
        </p:txBody>
      </p:sp>
      <p:pic>
        <p:nvPicPr>
          <p:cNvPr id="5" name="图片 2">
            <a:extLst>
              <a:ext uri="{FF2B5EF4-FFF2-40B4-BE49-F238E27FC236}">
                <a16:creationId xmlns:a16="http://schemas.microsoft.com/office/drawing/2014/main" id="{B017187A-C6BF-FFF8-F84A-55964DD94D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6090" y="2111040"/>
            <a:ext cx="5999820" cy="43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2B93CFC-2E9D-E914-9059-C496BFBB4257}"/>
              </a:ext>
            </a:extLst>
          </p:cNvPr>
          <p:cNvSpPr txBox="1"/>
          <p:nvPr/>
        </p:nvSpPr>
        <p:spPr>
          <a:xfrm>
            <a:off x="4023360" y="618481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汽车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BD6D54-F1B3-6821-80E2-5195F4990E2D}"/>
              </a:ext>
            </a:extLst>
          </p:cNvPr>
          <p:cNvSpPr txBox="1"/>
          <p:nvPr/>
        </p:nvSpPr>
        <p:spPr>
          <a:xfrm>
            <a:off x="6236469" y="618481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EE6A2A4-C225-12E8-88CC-4EC76D5BADAA}"/>
              </a:ext>
            </a:extLst>
          </p:cNvPr>
          <p:cNvSpPr txBox="1"/>
          <p:nvPr/>
        </p:nvSpPr>
        <p:spPr>
          <a:xfrm>
            <a:off x="8217669" y="618481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不透水表面</a:t>
            </a:r>
          </a:p>
        </p:txBody>
      </p:sp>
    </p:spTree>
    <p:extLst>
      <p:ext uri="{BB962C8B-B14F-4D97-AF65-F5344CB8AC3E}">
        <p14:creationId xmlns:p14="http://schemas.microsoft.com/office/powerpoint/2010/main" val="1816906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080"/>
    </mc:Choice>
    <mc:Fallback>
      <p:transition spd="slow" advTm="2408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7BF10-C5CB-659E-8C5D-12B700E8A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A593FAE4-59DC-5959-D5F3-C1D8658C7907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9807C25-909C-FAAA-9DE7-F242960AD2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35DF697-DA94-7D94-FE4C-21108453B505}"/>
              </a:ext>
            </a:extLst>
          </p:cNvPr>
          <p:cNvSpPr txBox="1"/>
          <p:nvPr/>
        </p:nvSpPr>
        <p:spPr>
          <a:xfrm>
            <a:off x="296381" y="1064600"/>
            <a:ext cx="3183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实验结果可视化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AC4135-4069-DA36-53BD-DB886AAE7DD9}"/>
              </a:ext>
            </a:extLst>
          </p:cNvPr>
          <p:cNvSpPr txBox="1"/>
          <p:nvPr/>
        </p:nvSpPr>
        <p:spPr>
          <a:xfrm>
            <a:off x="296381" y="1587820"/>
            <a:ext cx="111677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本研究利用原图和真实标注训练，经过分类网络生成的伪标注和经过分割网络生成的结果如下：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BF45C7-EDF3-841D-9D10-9137233BCCF9}"/>
              </a:ext>
            </a:extLst>
          </p:cNvPr>
          <p:cNvSpPr txBox="1"/>
          <p:nvPr/>
        </p:nvSpPr>
        <p:spPr>
          <a:xfrm>
            <a:off x="296381" y="21461"/>
            <a:ext cx="9007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3.2 LTCAA</a:t>
            </a:r>
            <a:r>
              <a:rPr kumimoji="1" lang="zh-CN" altLang="en-US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模型在遥感图像的应用案例研究</a:t>
            </a:r>
          </a:p>
        </p:txBody>
      </p:sp>
      <p:pic>
        <p:nvPicPr>
          <p:cNvPr id="5" name="图片 2">
            <a:extLst>
              <a:ext uri="{FF2B5EF4-FFF2-40B4-BE49-F238E27FC236}">
                <a16:creationId xmlns:a16="http://schemas.microsoft.com/office/drawing/2014/main" id="{84ADADED-6906-8B10-15A8-4CC02208A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037" y="2111040"/>
            <a:ext cx="6039926" cy="43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91D80E3-228C-AA11-7CA7-50CD4CD9E4EA}"/>
              </a:ext>
            </a:extLst>
          </p:cNvPr>
          <p:cNvSpPr txBox="1"/>
          <p:nvPr/>
        </p:nvSpPr>
        <p:spPr>
          <a:xfrm>
            <a:off x="3756660" y="64310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原始图像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0DB791-F95D-6F8E-3E00-9CD4BD5C71F5}"/>
              </a:ext>
            </a:extLst>
          </p:cNvPr>
          <p:cNvSpPr txBox="1"/>
          <p:nvPr/>
        </p:nvSpPr>
        <p:spPr>
          <a:xfrm>
            <a:off x="5880250" y="64310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真实标注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4AAC59-5676-ADBD-4044-965B3C94C2C2}"/>
              </a:ext>
            </a:extLst>
          </p:cNvPr>
          <p:cNvSpPr txBox="1"/>
          <p:nvPr/>
        </p:nvSpPr>
        <p:spPr>
          <a:xfrm>
            <a:off x="7728939" y="64310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分割结果</a:t>
            </a:r>
          </a:p>
        </p:txBody>
      </p:sp>
    </p:spTree>
    <p:extLst>
      <p:ext uri="{BB962C8B-B14F-4D97-AF65-F5344CB8AC3E}">
        <p14:creationId xmlns:p14="http://schemas.microsoft.com/office/powerpoint/2010/main" val="1889997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353"/>
    </mc:Choice>
    <mc:Fallback>
      <p:transition spd="slow" advTm="18353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剪去单角的矩形 1"/>
          <p:cNvSpPr/>
          <p:nvPr/>
        </p:nvSpPr>
        <p:spPr>
          <a:xfrm flipV="1">
            <a:off x="0" y="-99483"/>
            <a:ext cx="12192000" cy="8189248"/>
          </a:xfrm>
          <a:prstGeom prst="snip1Rect">
            <a:avLst>
              <a:gd name="adj" fmla="val 50000"/>
            </a:avLst>
          </a:prstGeom>
          <a:blipFill>
            <a:blip r:embed="rId3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grpSp>
        <p:nvGrpSpPr>
          <p:cNvPr id="25" name="组合 24"/>
          <p:cNvGrpSpPr/>
          <p:nvPr/>
        </p:nvGrpSpPr>
        <p:grpSpPr>
          <a:xfrm>
            <a:off x="10870305" y="242408"/>
            <a:ext cx="354496" cy="478885"/>
            <a:chOff x="7550086" y="49596"/>
            <a:chExt cx="1521906" cy="2055929"/>
          </a:xfrm>
        </p:grpSpPr>
        <p:sp>
          <p:nvSpPr>
            <p:cNvPr id="26" name="菱形 25"/>
            <p:cNvSpPr/>
            <p:nvPr/>
          </p:nvSpPr>
          <p:spPr>
            <a:xfrm>
              <a:off x="7550086" y="49596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7" name="菱形 26"/>
            <p:cNvSpPr/>
            <p:nvPr/>
          </p:nvSpPr>
          <p:spPr>
            <a:xfrm>
              <a:off x="8172400" y="669791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8" name="菱形 27"/>
            <p:cNvSpPr/>
            <p:nvPr/>
          </p:nvSpPr>
          <p:spPr>
            <a:xfrm>
              <a:off x="7550086" y="1208330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1234229" y="242408"/>
            <a:ext cx="354496" cy="478885"/>
            <a:chOff x="7550086" y="49596"/>
            <a:chExt cx="1521906" cy="2055929"/>
          </a:xfrm>
        </p:grpSpPr>
        <p:sp>
          <p:nvSpPr>
            <p:cNvPr id="30" name="菱形 29"/>
            <p:cNvSpPr/>
            <p:nvPr/>
          </p:nvSpPr>
          <p:spPr>
            <a:xfrm>
              <a:off x="7550086" y="49596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1" name="菱形 30"/>
            <p:cNvSpPr/>
            <p:nvPr/>
          </p:nvSpPr>
          <p:spPr>
            <a:xfrm>
              <a:off x="8172400" y="669791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2" name="菱形 31"/>
            <p:cNvSpPr/>
            <p:nvPr/>
          </p:nvSpPr>
          <p:spPr>
            <a:xfrm>
              <a:off x="7550086" y="1208330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1598155" y="242408"/>
            <a:ext cx="354496" cy="478885"/>
            <a:chOff x="7550086" y="49596"/>
            <a:chExt cx="1521906" cy="2055929"/>
          </a:xfrm>
        </p:grpSpPr>
        <p:sp>
          <p:nvSpPr>
            <p:cNvPr id="34" name="菱形 33"/>
            <p:cNvSpPr/>
            <p:nvPr/>
          </p:nvSpPr>
          <p:spPr>
            <a:xfrm>
              <a:off x="7550086" y="49596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5" name="菱形 34"/>
            <p:cNvSpPr/>
            <p:nvPr/>
          </p:nvSpPr>
          <p:spPr>
            <a:xfrm>
              <a:off x="8172400" y="669791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36" name="菱形 35"/>
            <p:cNvSpPr/>
            <p:nvPr/>
          </p:nvSpPr>
          <p:spPr>
            <a:xfrm>
              <a:off x="7550086" y="1208330"/>
              <a:ext cx="899592" cy="897195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49" name="矩形 48"/>
          <p:cNvSpPr/>
          <p:nvPr/>
        </p:nvSpPr>
        <p:spPr>
          <a:xfrm>
            <a:off x="4599108" y="1216145"/>
            <a:ext cx="4475492" cy="768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831024" y="1216145"/>
            <a:ext cx="768085" cy="7680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</a:rPr>
              <a:t>1</a:t>
            </a:r>
            <a:endParaRPr lang="zh-CN" altLang="en-US" sz="4800" b="1" dirty="0">
              <a:solidFill>
                <a:schemeClr val="bg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385329" y="2444889"/>
            <a:ext cx="4475492" cy="768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599108" y="2435757"/>
            <a:ext cx="768085" cy="7680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/>
              <a:t>2</a:t>
            </a:r>
            <a:endParaRPr lang="zh-CN" altLang="en-US" sz="4800" b="1" dirty="0"/>
          </a:p>
        </p:txBody>
      </p:sp>
      <p:sp>
        <p:nvSpPr>
          <p:cNvPr id="53" name="矩形 52"/>
          <p:cNvSpPr/>
          <p:nvPr/>
        </p:nvSpPr>
        <p:spPr>
          <a:xfrm>
            <a:off x="4600689" y="4766818"/>
            <a:ext cx="4475492" cy="768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3831024" y="4769788"/>
            <a:ext cx="768085" cy="7680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/>
              <a:t>4</a:t>
            </a:r>
            <a:endParaRPr lang="zh-CN" altLang="en-US" sz="4800" b="1" dirty="0"/>
          </a:p>
        </p:txBody>
      </p:sp>
      <p:sp>
        <p:nvSpPr>
          <p:cNvPr id="57" name="矩形 56"/>
          <p:cNvSpPr/>
          <p:nvPr/>
        </p:nvSpPr>
        <p:spPr>
          <a:xfrm>
            <a:off x="4740575" y="1320127"/>
            <a:ext cx="30572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C5A89"/>
                </a:solidFill>
                <a:latin typeface="微软雅黑" pitchFamily="34" charset="-122"/>
                <a:ea typeface="微软雅黑" pitchFamily="34" charset="-122"/>
              </a:rPr>
              <a:t>研究背景与意义</a:t>
            </a:r>
          </a:p>
        </p:txBody>
      </p:sp>
      <p:sp>
        <p:nvSpPr>
          <p:cNvPr id="83" name="矩形 82"/>
          <p:cNvSpPr/>
          <p:nvPr/>
        </p:nvSpPr>
        <p:spPr>
          <a:xfrm>
            <a:off x="5527319" y="2522781"/>
            <a:ext cx="30572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C5A89"/>
                </a:solidFill>
                <a:latin typeface="微软雅黑" pitchFamily="34" charset="-122"/>
                <a:ea typeface="微软雅黑" pitchFamily="34" charset="-122"/>
              </a:rPr>
              <a:t>国内外研究现状</a:t>
            </a:r>
          </a:p>
        </p:txBody>
      </p:sp>
      <p:sp>
        <p:nvSpPr>
          <p:cNvPr id="84" name="矩形 83"/>
          <p:cNvSpPr/>
          <p:nvPr/>
        </p:nvSpPr>
        <p:spPr>
          <a:xfrm>
            <a:off x="4732519" y="4869220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结论与展望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5BC8120-8A62-4BB0-8E72-AF1DA4DA9F1B}"/>
              </a:ext>
            </a:extLst>
          </p:cNvPr>
          <p:cNvSpPr/>
          <p:nvPr/>
        </p:nvSpPr>
        <p:spPr>
          <a:xfrm>
            <a:off x="5385329" y="3601287"/>
            <a:ext cx="4475492" cy="768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FC81D4D-3278-4231-A0CF-0220A4788964}"/>
              </a:ext>
            </a:extLst>
          </p:cNvPr>
          <p:cNvSpPr/>
          <p:nvPr/>
        </p:nvSpPr>
        <p:spPr>
          <a:xfrm>
            <a:off x="4599108" y="3592155"/>
            <a:ext cx="768085" cy="7680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b="1" dirty="0"/>
              <a:t>3</a:t>
            </a:r>
            <a:endParaRPr lang="zh-CN" altLang="en-US" sz="4800" b="1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FD643FB-F4E3-4ABA-BA3A-8E765BBC0EB0}"/>
              </a:ext>
            </a:extLst>
          </p:cNvPr>
          <p:cNvSpPr/>
          <p:nvPr/>
        </p:nvSpPr>
        <p:spPr>
          <a:xfrm>
            <a:off x="5527319" y="3679179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C5A89"/>
                </a:solidFill>
                <a:latin typeface="微软雅黑" pitchFamily="34" charset="-122"/>
                <a:ea typeface="微软雅黑" pitchFamily="34" charset="-122"/>
              </a:rPr>
              <a:t>研究内容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E0B073A-E012-4F9E-8847-9B00244F0BB0}"/>
              </a:ext>
            </a:extLst>
          </p:cNvPr>
          <p:cNvGrpSpPr/>
          <p:nvPr/>
        </p:nvGrpSpPr>
        <p:grpSpPr>
          <a:xfrm>
            <a:off x="1326996" y="2096131"/>
            <a:ext cx="2259935" cy="2060561"/>
            <a:chOff x="1326996" y="2096131"/>
            <a:chExt cx="2259935" cy="2060561"/>
          </a:xfrm>
        </p:grpSpPr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4FCB5952-E5CC-47FB-A13B-26BADF06FD9A}"/>
                </a:ext>
              </a:extLst>
            </p:cNvPr>
            <p:cNvSpPr/>
            <p:nvPr/>
          </p:nvSpPr>
          <p:spPr>
            <a:xfrm>
              <a:off x="1945662" y="2515423"/>
              <a:ext cx="1641269" cy="1641269"/>
            </a:xfrm>
            <a:prstGeom prst="ellipse">
              <a:avLst/>
            </a:prstGeom>
            <a:blipFill>
              <a:blip r:embed="rId5" cstate="print"/>
              <a:stretch>
                <a:fillRect/>
              </a:stretch>
            </a:blipFill>
            <a:ln w="57150">
              <a:solidFill>
                <a:schemeClr val="bg1"/>
              </a:solidFill>
            </a:ln>
            <a:effectLst>
              <a:outerShdw blurRad="508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A82FEB7A-D967-4F57-8431-FB48BDC3984D}"/>
                </a:ext>
              </a:extLst>
            </p:cNvPr>
            <p:cNvSpPr/>
            <p:nvPr/>
          </p:nvSpPr>
          <p:spPr>
            <a:xfrm>
              <a:off x="2377304" y="2601747"/>
              <a:ext cx="822490" cy="140564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zh-CN" altLang="en-US" sz="4267" dirty="0">
                  <a:solidFill>
                    <a:schemeClr val="bg1"/>
                  </a:solidFill>
                  <a:latin typeface="微软雅黑"/>
                  <a:ea typeface="微软雅黑" pitchFamily="34" charset="-122"/>
                  <a:sym typeface="微软雅黑"/>
                </a:rPr>
                <a:t>目录</a:t>
              </a:r>
              <a:endParaRPr lang="en-US" altLang="zh-CN" sz="4267" dirty="0">
                <a:solidFill>
                  <a:schemeClr val="bg1"/>
                </a:solidFill>
                <a:latin typeface="微软雅黑"/>
                <a:ea typeface="微软雅黑" pitchFamily="34" charset="-122"/>
                <a:sym typeface="微软雅黑"/>
              </a:endParaRPr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B9382A35-CCEB-4D01-9789-044FE3CC9FED}"/>
                </a:ext>
              </a:extLst>
            </p:cNvPr>
            <p:cNvGrpSpPr/>
            <p:nvPr/>
          </p:nvGrpSpPr>
          <p:grpSpPr>
            <a:xfrm rot="20457332">
              <a:off x="1326996" y="2096131"/>
              <a:ext cx="1562892" cy="1212987"/>
              <a:chOff x="782675" y="1648780"/>
              <a:chExt cx="1172169" cy="909740"/>
            </a:xfrm>
            <a:solidFill>
              <a:schemeClr val="bg1"/>
            </a:solidFill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grpSpPr>
          <p:sp>
            <p:nvSpPr>
              <p:cNvPr id="59" name="圆角矩形 63">
                <a:extLst>
                  <a:ext uri="{FF2B5EF4-FFF2-40B4-BE49-F238E27FC236}">
                    <a16:creationId xmlns:a16="http://schemas.microsoft.com/office/drawing/2014/main" id="{248C2555-302C-4536-8491-5D3D21FE75C4}"/>
                  </a:ext>
                </a:extLst>
              </p:cNvPr>
              <p:cNvSpPr/>
              <p:nvPr/>
            </p:nvSpPr>
            <p:spPr>
              <a:xfrm rot="2473112">
                <a:off x="1434975" y="1702245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60" name="圆角矩形 64">
                <a:extLst>
                  <a:ext uri="{FF2B5EF4-FFF2-40B4-BE49-F238E27FC236}">
                    <a16:creationId xmlns:a16="http://schemas.microsoft.com/office/drawing/2014/main" id="{3A4BCD9E-940F-40CB-A2CA-7EE868E9F345}"/>
                  </a:ext>
                </a:extLst>
              </p:cNvPr>
              <p:cNvSpPr/>
              <p:nvPr/>
            </p:nvSpPr>
            <p:spPr>
              <a:xfrm rot="18673112">
                <a:off x="1434975" y="1702245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2" name="圆角矩形 65">
                <a:extLst>
                  <a:ext uri="{FF2B5EF4-FFF2-40B4-BE49-F238E27FC236}">
                    <a16:creationId xmlns:a16="http://schemas.microsoft.com/office/drawing/2014/main" id="{30432BEA-3E4D-41D0-8D07-97A311A0337D}"/>
                  </a:ext>
                </a:extLst>
              </p:cNvPr>
              <p:cNvSpPr/>
              <p:nvPr/>
            </p:nvSpPr>
            <p:spPr>
              <a:xfrm rot="3493932">
                <a:off x="993999" y="1833391"/>
                <a:ext cx="453892" cy="12962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5" name="圆角矩形 66">
                <a:extLst>
                  <a:ext uri="{FF2B5EF4-FFF2-40B4-BE49-F238E27FC236}">
                    <a16:creationId xmlns:a16="http://schemas.microsoft.com/office/drawing/2014/main" id="{93163BE8-E3D4-4A4F-B8D5-66EEF4567DEF}"/>
                  </a:ext>
                </a:extLst>
              </p:cNvPr>
              <p:cNvSpPr/>
              <p:nvPr/>
            </p:nvSpPr>
            <p:spPr>
              <a:xfrm rot="19693932">
                <a:off x="993999" y="1833391"/>
                <a:ext cx="453892" cy="12962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6" name="圆角矩形 67">
                <a:extLst>
                  <a:ext uri="{FF2B5EF4-FFF2-40B4-BE49-F238E27FC236}">
                    <a16:creationId xmlns:a16="http://schemas.microsoft.com/office/drawing/2014/main" id="{7A5D3C0D-41A8-4A28-843A-24D014F63F25}"/>
                  </a:ext>
                </a:extLst>
              </p:cNvPr>
              <p:cNvSpPr/>
              <p:nvPr/>
            </p:nvSpPr>
            <p:spPr>
              <a:xfrm rot="3801381">
                <a:off x="1365852" y="1937875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7" name="圆角矩形 68">
                <a:extLst>
                  <a:ext uri="{FF2B5EF4-FFF2-40B4-BE49-F238E27FC236}">
                    <a16:creationId xmlns:a16="http://schemas.microsoft.com/office/drawing/2014/main" id="{94D62103-E849-4D89-BDFB-D36C487637A1}"/>
                  </a:ext>
                </a:extLst>
              </p:cNvPr>
              <p:cNvSpPr/>
              <p:nvPr/>
            </p:nvSpPr>
            <p:spPr>
              <a:xfrm rot="20001381">
                <a:off x="1365852" y="1937875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8" name="圆角矩形 69">
                <a:extLst>
                  <a:ext uri="{FF2B5EF4-FFF2-40B4-BE49-F238E27FC236}">
                    <a16:creationId xmlns:a16="http://schemas.microsoft.com/office/drawing/2014/main" id="{C5C8AA27-DCCB-4F70-B656-8A8AD75383C6}"/>
                  </a:ext>
                </a:extLst>
              </p:cNvPr>
              <p:cNvSpPr/>
              <p:nvPr/>
            </p:nvSpPr>
            <p:spPr>
              <a:xfrm rot="2473112">
                <a:off x="1061027" y="2129162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89" name="圆角矩形 70">
                <a:extLst>
                  <a:ext uri="{FF2B5EF4-FFF2-40B4-BE49-F238E27FC236}">
                    <a16:creationId xmlns:a16="http://schemas.microsoft.com/office/drawing/2014/main" id="{3BCB6A11-9C24-4B37-9174-D7B8D88C1A50}"/>
                  </a:ext>
                </a:extLst>
              </p:cNvPr>
              <p:cNvSpPr/>
              <p:nvPr/>
            </p:nvSpPr>
            <p:spPr>
              <a:xfrm rot="18673112">
                <a:off x="1061027" y="2129162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0" name="圆角矩形 71">
                <a:extLst>
                  <a:ext uri="{FF2B5EF4-FFF2-40B4-BE49-F238E27FC236}">
                    <a16:creationId xmlns:a16="http://schemas.microsoft.com/office/drawing/2014/main" id="{8B4044BF-7050-493D-8313-1CFCF69C3031}"/>
                  </a:ext>
                </a:extLst>
              </p:cNvPr>
              <p:cNvSpPr/>
              <p:nvPr/>
            </p:nvSpPr>
            <p:spPr>
              <a:xfrm rot="21008604">
                <a:off x="833913" y="2003432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1" name="圆角矩形 72">
                <a:extLst>
                  <a:ext uri="{FF2B5EF4-FFF2-40B4-BE49-F238E27FC236}">
                    <a16:creationId xmlns:a16="http://schemas.microsoft.com/office/drawing/2014/main" id="{35790B56-F5F9-4E0D-BC6E-4D777CE3D495}"/>
                  </a:ext>
                </a:extLst>
              </p:cNvPr>
              <p:cNvSpPr/>
              <p:nvPr/>
            </p:nvSpPr>
            <p:spPr>
              <a:xfrm rot="15608604">
                <a:off x="833913" y="2003432"/>
                <a:ext cx="164327" cy="46931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2" name="圆角矩形 73">
                <a:extLst>
                  <a:ext uri="{FF2B5EF4-FFF2-40B4-BE49-F238E27FC236}">
                    <a16:creationId xmlns:a16="http://schemas.microsoft.com/office/drawing/2014/main" id="{8FD6B723-5435-47A6-87EF-C9497E87A9AD}"/>
                  </a:ext>
                </a:extLst>
              </p:cNvPr>
              <p:cNvSpPr/>
              <p:nvPr/>
            </p:nvSpPr>
            <p:spPr>
              <a:xfrm rot="541275">
                <a:off x="805759" y="2204049"/>
                <a:ext cx="299355" cy="8549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3" name="圆角矩形 74">
                <a:extLst>
                  <a:ext uri="{FF2B5EF4-FFF2-40B4-BE49-F238E27FC236}">
                    <a16:creationId xmlns:a16="http://schemas.microsoft.com/office/drawing/2014/main" id="{EFAF070C-D32C-42A6-A11A-097B687BD44F}"/>
                  </a:ext>
                </a:extLst>
              </p:cNvPr>
              <p:cNvSpPr/>
              <p:nvPr/>
            </p:nvSpPr>
            <p:spPr>
              <a:xfrm rot="16741275">
                <a:off x="805759" y="2204049"/>
                <a:ext cx="299355" cy="8549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4" name="圆角矩形 75">
                <a:extLst>
                  <a:ext uri="{FF2B5EF4-FFF2-40B4-BE49-F238E27FC236}">
                    <a16:creationId xmlns:a16="http://schemas.microsoft.com/office/drawing/2014/main" id="{25095875-003D-4648-9A35-12EA4E9E6D4E}"/>
                  </a:ext>
                </a:extLst>
              </p:cNvPr>
              <p:cNvSpPr/>
              <p:nvPr/>
            </p:nvSpPr>
            <p:spPr>
              <a:xfrm rot="2473112">
                <a:off x="1509694" y="1879922"/>
                <a:ext cx="299355" cy="8549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5" name="圆角矩形 76">
                <a:extLst>
                  <a:ext uri="{FF2B5EF4-FFF2-40B4-BE49-F238E27FC236}">
                    <a16:creationId xmlns:a16="http://schemas.microsoft.com/office/drawing/2014/main" id="{2711C960-E8E6-4CD4-8DA3-D8000ADFD199}"/>
                  </a:ext>
                </a:extLst>
              </p:cNvPr>
              <p:cNvSpPr/>
              <p:nvPr/>
            </p:nvSpPr>
            <p:spPr>
              <a:xfrm rot="18673112">
                <a:off x="1509694" y="1879922"/>
                <a:ext cx="299355" cy="8549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6" name="圆角矩形 77">
                <a:extLst>
                  <a:ext uri="{FF2B5EF4-FFF2-40B4-BE49-F238E27FC236}">
                    <a16:creationId xmlns:a16="http://schemas.microsoft.com/office/drawing/2014/main" id="{1B30CF5F-221B-488A-A327-DA8B4617A58D}"/>
                  </a:ext>
                </a:extLst>
              </p:cNvPr>
              <p:cNvSpPr/>
              <p:nvPr/>
            </p:nvSpPr>
            <p:spPr>
              <a:xfrm rot="550675">
                <a:off x="782675" y="2462307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7" name="圆角矩形 78">
                <a:extLst>
                  <a:ext uri="{FF2B5EF4-FFF2-40B4-BE49-F238E27FC236}">
                    <a16:creationId xmlns:a16="http://schemas.microsoft.com/office/drawing/2014/main" id="{CF5B50CD-6CB2-47BB-AC4B-B01FE184DED2}"/>
                  </a:ext>
                </a:extLst>
              </p:cNvPr>
              <p:cNvSpPr/>
              <p:nvPr/>
            </p:nvSpPr>
            <p:spPr>
              <a:xfrm rot="16750675">
                <a:off x="782675" y="2462307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8" name="圆角矩形 79">
                <a:extLst>
                  <a:ext uri="{FF2B5EF4-FFF2-40B4-BE49-F238E27FC236}">
                    <a16:creationId xmlns:a16="http://schemas.microsoft.com/office/drawing/2014/main" id="{389A9D23-7426-4DC8-B0A4-E16D120C006D}"/>
                  </a:ext>
                </a:extLst>
              </p:cNvPr>
              <p:cNvSpPr/>
              <p:nvPr/>
            </p:nvSpPr>
            <p:spPr>
              <a:xfrm rot="4083626">
                <a:off x="1805166" y="1949326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  <p:sp>
            <p:nvSpPr>
              <p:cNvPr id="99" name="圆角矩形 80">
                <a:extLst>
                  <a:ext uri="{FF2B5EF4-FFF2-40B4-BE49-F238E27FC236}">
                    <a16:creationId xmlns:a16="http://schemas.microsoft.com/office/drawing/2014/main" id="{2865AA74-60EA-487F-A595-A97D2378D4CA}"/>
                  </a:ext>
                </a:extLst>
              </p:cNvPr>
              <p:cNvSpPr/>
              <p:nvPr/>
            </p:nvSpPr>
            <p:spPr>
              <a:xfrm rot="20283626">
                <a:off x="1805166" y="1949326"/>
                <a:ext cx="149678" cy="4274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67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0292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26"/>
    </mc:Choice>
    <mc:Fallback>
      <p:transition spd="slow" advTm="2726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4C2581E-1DFC-4218-8720-F83659F00B06}"/>
              </a:ext>
            </a:extLst>
          </p:cNvPr>
          <p:cNvSpPr txBox="1"/>
          <p:nvPr/>
        </p:nvSpPr>
        <p:spPr>
          <a:xfrm>
            <a:off x="296381" y="21461"/>
            <a:ext cx="4123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4. </a:t>
            </a:r>
            <a:r>
              <a:rPr kumimoji="1" lang="zh-CN" altLang="en-US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结论与展望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9093C1-6EB2-4A5A-A46A-6C206A7570C3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F6EB2D7-3829-4723-9289-75B9DEEC06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5523454-726A-3E6E-5D38-81BE93806CFF}"/>
              </a:ext>
            </a:extLst>
          </p:cNvPr>
          <p:cNvSpPr txBox="1"/>
          <p:nvPr/>
        </p:nvSpPr>
        <p:spPr>
          <a:xfrm>
            <a:off x="296381" y="1064600"/>
            <a:ext cx="3183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8D301E8-AC4C-6DF6-20B7-DE45CCBD12ED}"/>
              </a:ext>
            </a:extLst>
          </p:cNvPr>
          <p:cNvGrpSpPr/>
          <p:nvPr/>
        </p:nvGrpSpPr>
        <p:grpSpPr>
          <a:xfrm>
            <a:off x="296381" y="1782927"/>
            <a:ext cx="11054789" cy="960776"/>
            <a:chOff x="721995" y="1246900"/>
            <a:chExt cx="11054789" cy="960776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2DF822A-7D2A-3594-AF51-490F5E4340E0}"/>
                </a:ext>
              </a:extLst>
            </p:cNvPr>
            <p:cNvSpPr txBox="1"/>
            <p:nvPr/>
          </p:nvSpPr>
          <p:spPr>
            <a:xfrm>
              <a:off x="2345633" y="1246900"/>
              <a:ext cx="9431151" cy="960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针对当前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CAM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算法存在的不足，提出一种新的模型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LTCAA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来解决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CAM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存在的激活不平衡、激活不准确的问题，弥补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WSSS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FSSS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的差距。</a:t>
              </a:r>
              <a:endPara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D22D73E-7621-26AC-CD4A-FF5F9F2B04E9}"/>
                </a:ext>
              </a:extLst>
            </p:cNvPr>
            <p:cNvSpPr txBox="1"/>
            <p:nvPr/>
          </p:nvSpPr>
          <p:spPr>
            <a:xfrm>
              <a:off x="721995" y="1246900"/>
              <a:ext cx="1557379" cy="5804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模型设计：</a:t>
              </a:r>
              <a:endPara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6037D63-F391-3123-0ABA-55FEB102B1E7}"/>
              </a:ext>
            </a:extLst>
          </p:cNvPr>
          <p:cNvGrpSpPr/>
          <p:nvPr/>
        </p:nvGrpSpPr>
        <p:grpSpPr>
          <a:xfrm>
            <a:off x="296381" y="4414417"/>
            <a:ext cx="11054791" cy="1422762"/>
            <a:chOff x="721995" y="1246900"/>
            <a:chExt cx="11054791" cy="142276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5861814-9FE9-F570-3637-D76353E1C286}"/>
                </a:ext>
              </a:extLst>
            </p:cNvPr>
            <p:cNvSpPr txBox="1"/>
            <p:nvPr/>
          </p:nvSpPr>
          <p:spPr>
            <a:xfrm>
              <a:off x="2345634" y="1246900"/>
              <a:ext cx="9431152" cy="14227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将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LTCAA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模型分别用于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VOC12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数据集和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ISPRS </a:t>
              </a:r>
              <a:r>
                <a:rPr lang="en-US" altLang="zh-CN" sz="2000" dirty="0" err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postdam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遥感数据集，经过训练得到伪</a:t>
              </a:r>
              <a:r>
                <a:rPr lang="zh-CN" altLang="zh-CN" sz="18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标注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和最终分割结果，分割结果表现准确；使用</a:t>
              </a:r>
              <a:r>
                <a:rPr lang="en-US" altLang="zh-CN" sz="2000" dirty="0" err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miou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来对模型进行评估，与其他图像级标注</a:t>
              </a:r>
              <a:r>
                <a:rPr lang="en-US" altLang="zh-CN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WSSS</a:t>
              </a: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算法进行对比实验，结果优于对比算法。</a:t>
              </a:r>
              <a:endPara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E7344D2-364A-3DDA-0CE6-FB3024F0716E}"/>
                </a:ext>
              </a:extLst>
            </p:cNvPr>
            <p:cNvSpPr txBox="1"/>
            <p:nvPr/>
          </p:nvSpPr>
          <p:spPr>
            <a:xfrm>
              <a:off x="721995" y="1246900"/>
              <a:ext cx="1557379" cy="5804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实验研究：</a:t>
              </a:r>
              <a:endPara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99ED2F9-9C96-1757-8877-D10AB3A434FE}"/>
              </a:ext>
            </a:extLst>
          </p:cNvPr>
          <p:cNvGrpSpPr/>
          <p:nvPr/>
        </p:nvGrpSpPr>
        <p:grpSpPr>
          <a:xfrm>
            <a:off x="296381" y="3194432"/>
            <a:ext cx="11054791" cy="958660"/>
            <a:chOff x="721995" y="1246900"/>
            <a:chExt cx="11054791" cy="958660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1F516AF-40DD-9D94-3EDF-024B9812A26D}"/>
                </a:ext>
              </a:extLst>
            </p:cNvPr>
            <p:cNvSpPr txBox="1"/>
            <p:nvPr/>
          </p:nvSpPr>
          <p:spPr>
            <a:xfrm>
              <a:off x="2345634" y="1246900"/>
              <a:ext cx="9431152" cy="958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将提出的算法应用到遥感图像数据集，并根据遥感图像数据集的特点，对遥感图像作数据处理。</a:t>
              </a:r>
              <a:endPara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447957F-DB6D-8981-2CA2-4D5413473271}"/>
                </a:ext>
              </a:extLst>
            </p:cNvPr>
            <p:cNvSpPr txBox="1"/>
            <p:nvPr/>
          </p:nvSpPr>
          <p:spPr>
            <a:xfrm>
              <a:off x="721995" y="1246900"/>
              <a:ext cx="1557379" cy="5804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算法应用：</a:t>
              </a:r>
              <a:endPara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7699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220"/>
    </mc:Choice>
    <mc:Fallback>
      <p:transition spd="slow" advTm="6822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395BD-DB10-78CB-ACAC-C657D665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A71CFC7-7BC0-520A-EAF2-B6429757CF17}"/>
              </a:ext>
            </a:extLst>
          </p:cNvPr>
          <p:cNvSpPr txBox="1"/>
          <p:nvPr/>
        </p:nvSpPr>
        <p:spPr>
          <a:xfrm>
            <a:off x="296381" y="21461"/>
            <a:ext cx="4123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4. </a:t>
            </a:r>
            <a:r>
              <a:rPr kumimoji="1" lang="zh-CN" altLang="en-US" sz="3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结论与展望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78A7BB-A59D-3A6A-FACE-219D14F3A79E}"/>
              </a:ext>
            </a:extLst>
          </p:cNvPr>
          <p:cNvSpPr/>
          <p:nvPr/>
        </p:nvSpPr>
        <p:spPr>
          <a:xfrm>
            <a:off x="8671891" y="-117039"/>
            <a:ext cx="3440409" cy="923330"/>
          </a:xfrm>
          <a:prstGeom prst="rect">
            <a:avLst/>
          </a:prstGeom>
          <a:gradFill flip="none" rotWithShape="1">
            <a:gsLst>
              <a:gs pos="0">
                <a:srgbClr val="0C6190"/>
              </a:gs>
              <a:gs pos="100000">
                <a:srgbClr val="066FA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E11987D-C499-2729-37DE-BAA8A3ED27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9"/>
          <a:stretch/>
        </p:blipFill>
        <p:spPr>
          <a:xfrm>
            <a:off x="9303987" y="19050"/>
            <a:ext cx="2637620" cy="81087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212DCCE-1CF7-2881-8D61-751E083BF0F1}"/>
              </a:ext>
            </a:extLst>
          </p:cNvPr>
          <p:cNvSpPr txBox="1"/>
          <p:nvPr/>
        </p:nvSpPr>
        <p:spPr>
          <a:xfrm>
            <a:off x="296381" y="1064600"/>
            <a:ext cx="31837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展望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FA2439C-E084-8F5F-99A4-F457F6421AC5}"/>
              </a:ext>
            </a:extLst>
          </p:cNvPr>
          <p:cNvGrpSpPr/>
          <p:nvPr/>
        </p:nvGrpSpPr>
        <p:grpSpPr>
          <a:xfrm>
            <a:off x="296381" y="1782927"/>
            <a:ext cx="11401633" cy="1976368"/>
            <a:chOff x="721995" y="1246900"/>
            <a:chExt cx="11401633" cy="1976368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E28F2666-8C19-99B7-6C66-5E485A16C0BF}"/>
                </a:ext>
              </a:extLst>
            </p:cNvPr>
            <p:cNvSpPr txBox="1"/>
            <p:nvPr/>
          </p:nvSpPr>
          <p:spPr>
            <a:xfrm>
              <a:off x="1008939" y="1800506"/>
              <a:ext cx="11114689" cy="14227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目前的模型在处理同时出现的高相关像素区域（如火车和铁轨等）时，仍易产生混淆，常出现误激活背景类别的现象，影响分割精度。未来可尝试将模型生成的伪标注结果重新注入训练数据，通过引入额外的伪监督样本打破原始数据集中固有的上下文依赖，提升模型泛化能力与抗干扰能力。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C28F6A4-860A-2F56-27A8-1FC4DB7C61DC}"/>
                </a:ext>
              </a:extLst>
            </p:cNvPr>
            <p:cNvSpPr txBox="1"/>
            <p:nvPr/>
          </p:nvSpPr>
          <p:spPr>
            <a:xfrm>
              <a:off x="721995" y="1246900"/>
              <a:ext cx="2446819" cy="5808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1. 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数据集增强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C6CC73F3-EA3D-CA06-0473-0F76BFD60810}"/>
              </a:ext>
            </a:extLst>
          </p:cNvPr>
          <p:cNvGrpSpPr/>
          <p:nvPr/>
        </p:nvGrpSpPr>
        <p:grpSpPr>
          <a:xfrm>
            <a:off x="296381" y="4032533"/>
            <a:ext cx="11401633" cy="2003627"/>
            <a:chOff x="721995" y="1246900"/>
            <a:chExt cx="11401633" cy="200362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4F263F6-9C7C-6200-AA55-65E0AE02BAFF}"/>
                </a:ext>
              </a:extLst>
            </p:cNvPr>
            <p:cNvSpPr txBox="1"/>
            <p:nvPr/>
          </p:nvSpPr>
          <p:spPr>
            <a:xfrm>
              <a:off x="1008939" y="1827765"/>
              <a:ext cx="11114689" cy="14227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弱监督语义分割目前主流的方法是双阶段处理方式，即首先获取伪标签，然后再训练分割模型，这种方法虽然能够提高模型精度，但是无疑增加了弱监督语义分割任务的复杂性，因此，未来考虑优化算法流程，设计端到端的弱监督语义分割方法。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BBE6B57-F921-2EF5-C939-D56C77B443F8}"/>
                </a:ext>
              </a:extLst>
            </p:cNvPr>
            <p:cNvSpPr txBox="1"/>
            <p:nvPr/>
          </p:nvSpPr>
          <p:spPr>
            <a:xfrm>
              <a:off x="721995" y="1246900"/>
              <a:ext cx="3991840" cy="5808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2.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弱监督语义分割流程优化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6043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96"/>
    </mc:Choice>
    <mc:Fallback>
      <p:transition spd="slow" advTm="3396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DF3C0C3-A7F8-9E42-B1B2-DF4108AE93B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121"/>
            <a:ext cx="12192000" cy="684787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8939010-75C4-8149-9313-FED37C129112}"/>
              </a:ext>
            </a:extLst>
          </p:cNvPr>
          <p:cNvSpPr txBox="1"/>
          <p:nvPr/>
        </p:nvSpPr>
        <p:spPr>
          <a:xfrm>
            <a:off x="1203144" y="2710822"/>
            <a:ext cx="9785711" cy="1436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6600" b="1" dirty="0">
                <a:solidFill>
                  <a:schemeClr val="bg1"/>
                </a:solidFill>
                <a:latin typeface="FZZhengHeiS-DB-GB" panose="02000000000000000000" pitchFamily="2" charset="-122"/>
                <a:ea typeface="FZZhengHeiS-DB-GB" panose="02000000000000000000" pitchFamily="2" charset="-122"/>
              </a:rPr>
              <a:t>敬请各位专家批评指正！</a:t>
            </a:r>
          </a:p>
        </p:txBody>
      </p:sp>
    </p:spTree>
    <p:extLst>
      <p:ext uri="{BB962C8B-B14F-4D97-AF65-F5344CB8AC3E}">
        <p14:creationId xmlns:p14="http://schemas.microsoft.com/office/powerpoint/2010/main" val="919365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25"/>
    </mc:Choice>
    <mc:Fallback>
      <p:transition spd="slow" advTm="4025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73938</TotalTime>
  <Words>2824</Words>
  <Application>Microsoft Office PowerPoint</Application>
  <PresentationFormat>宽屏</PresentationFormat>
  <Paragraphs>541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FZZhengHeiS-DB-GB</vt:lpstr>
      <vt:lpstr>等线</vt:lpstr>
      <vt:lpstr>等线 Light</vt:lpstr>
      <vt:lpstr>微软雅黑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Niu Yunyun</dc:creator>
  <cp:lastModifiedBy>若妍 陈</cp:lastModifiedBy>
  <cp:revision>592</cp:revision>
  <dcterms:created xsi:type="dcterms:W3CDTF">2022-01-06T01:05:42Z</dcterms:created>
  <dcterms:modified xsi:type="dcterms:W3CDTF">2025-05-18T14:15:12Z</dcterms:modified>
</cp:coreProperties>
</file>