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17"/>
  </p:notesMasterIdLst>
  <p:sldIdLst>
    <p:sldId id="256" r:id="rId2"/>
    <p:sldId id="257" r:id="rId3"/>
    <p:sldId id="259" r:id="rId4"/>
    <p:sldId id="260" r:id="rId5"/>
    <p:sldId id="262" r:id="rId6"/>
    <p:sldId id="263" r:id="rId7"/>
    <p:sldId id="265" r:id="rId8"/>
    <p:sldId id="266" r:id="rId9"/>
    <p:sldId id="267" r:id="rId10"/>
    <p:sldId id="268" r:id="rId11"/>
    <p:sldId id="269" r:id="rId12"/>
    <p:sldId id="270" r:id="rId13"/>
    <p:sldId id="271" r:id="rId14"/>
    <p:sldId id="273" r:id="rId15"/>
    <p:sldId id="966"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4E98"/>
    <a:srgbClr val="004E97"/>
    <a:srgbClr val="004E96"/>
    <a:srgbClr val="004EAB"/>
    <a:srgbClr val="E20010"/>
    <a:srgbClr val="2F5597"/>
    <a:srgbClr val="F0AA50"/>
    <a:srgbClr val="F01E3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567"/>
  </p:normalViewPr>
  <p:slideViewPr>
    <p:cSldViewPr snapToGrid="0" snapToObjects="1">
      <p:cViewPr varScale="1">
        <p:scale>
          <a:sx n="107" d="100"/>
          <a:sy n="107" d="100"/>
        </p:scale>
        <p:origin x="750" y="102"/>
      </p:cViewPr>
      <p:guideLst/>
    </p:cSldViewPr>
  </p:slid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A7B6F0-605A-3A4D-97E8-EAE158ECB537}" type="datetimeFigureOut">
              <a:rPr kumimoji="1" lang="zh-CN" altLang="en-US" smtClean="0"/>
              <a:t>2026/5/13</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407EA9F-BAA9-954B-A225-7CFCF4778F98}" type="slidenum">
              <a:rPr kumimoji="1" lang="zh-CN" altLang="en-US" smtClean="0"/>
              <a:t>‹#›</a:t>
            </a:fld>
            <a:endParaRPr kumimoji="1" lang="zh-CN" altLang="en-US"/>
          </a:p>
        </p:txBody>
      </p:sp>
    </p:spTree>
    <p:extLst>
      <p:ext uri="{BB962C8B-B14F-4D97-AF65-F5344CB8AC3E}">
        <p14:creationId xmlns:p14="http://schemas.microsoft.com/office/powerpoint/2010/main" val="36818370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B48FA8CD-EFF7-4F1D-B386-5D89A2803BE5}" type="slidenum">
              <a:rPr lang="zh-CN" altLang="en-US" smtClean="0"/>
              <a:t>15</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p>
            <a:fld id="{60ACF372-61BF-A04E-928B-F1816CD04942}" type="datetimeFigureOut">
              <a:rPr kumimoji="1" lang="zh-CN" altLang="en-US" smtClean="0"/>
              <a:t>2026/5/13</a:t>
            </a:fld>
            <a:endParaRPr kumimoji="1" lang="zh-CN" altLang="en-US"/>
          </a:p>
        </p:txBody>
      </p:sp>
      <p:sp>
        <p:nvSpPr>
          <p:cNvPr id="5" name="Footer Placeholder 4"/>
          <p:cNvSpPr>
            <a:spLocks noGrp="1"/>
          </p:cNvSpPr>
          <p:nvPr>
            <p:ph type="ftr" sz="quarter" idx="11"/>
          </p:nvPr>
        </p:nvSpPr>
        <p:spPr/>
        <p:txBody>
          <a:bodyPr/>
          <a:lstStyle/>
          <a:p>
            <a:endParaRPr kumimoji="1" lang="zh-CN" altLang="en-US"/>
          </a:p>
        </p:txBody>
      </p:sp>
      <p:sp>
        <p:nvSpPr>
          <p:cNvPr id="6" name="Slide Number Placeholder 5"/>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15911431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60ACF372-61BF-A04E-928B-F1816CD04942}" type="datetimeFigureOut">
              <a:rPr kumimoji="1" lang="zh-CN" altLang="en-US" smtClean="0"/>
              <a:t>2026/5/13</a:t>
            </a:fld>
            <a:endParaRPr kumimoji="1" lang="zh-CN" altLang="en-US"/>
          </a:p>
        </p:txBody>
      </p:sp>
      <p:sp>
        <p:nvSpPr>
          <p:cNvPr id="5" name="Footer Placeholder 4"/>
          <p:cNvSpPr>
            <a:spLocks noGrp="1"/>
          </p:cNvSpPr>
          <p:nvPr>
            <p:ph type="ftr" sz="quarter" idx="11"/>
          </p:nvPr>
        </p:nvSpPr>
        <p:spPr/>
        <p:txBody>
          <a:bodyPr/>
          <a:lstStyle/>
          <a:p>
            <a:endParaRPr kumimoji="1" lang="zh-CN" altLang="en-US"/>
          </a:p>
        </p:txBody>
      </p:sp>
      <p:sp>
        <p:nvSpPr>
          <p:cNvPr id="6" name="Slide Number Placeholder 5"/>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25750331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60ACF372-61BF-A04E-928B-F1816CD04942}" type="datetimeFigureOut">
              <a:rPr kumimoji="1" lang="zh-CN" altLang="en-US" smtClean="0"/>
              <a:t>2026/5/13</a:t>
            </a:fld>
            <a:endParaRPr kumimoji="1" lang="zh-CN" altLang="en-US"/>
          </a:p>
        </p:txBody>
      </p:sp>
      <p:sp>
        <p:nvSpPr>
          <p:cNvPr id="5" name="Footer Placeholder 4"/>
          <p:cNvSpPr>
            <a:spLocks noGrp="1"/>
          </p:cNvSpPr>
          <p:nvPr>
            <p:ph type="ftr" sz="quarter" idx="11"/>
          </p:nvPr>
        </p:nvSpPr>
        <p:spPr/>
        <p:txBody>
          <a:bodyPr/>
          <a:lstStyle/>
          <a:p>
            <a:endParaRPr kumimoji="1" lang="zh-CN" altLang="en-US"/>
          </a:p>
        </p:txBody>
      </p:sp>
      <p:sp>
        <p:nvSpPr>
          <p:cNvPr id="6" name="Slide Number Placeholder 5"/>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26127903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Date Placeholder 4"/>
          <p:cNvSpPr>
            <a:spLocks noGrp="1"/>
          </p:cNvSpPr>
          <p:nvPr>
            <p:ph type="dt" sz="half" idx="10"/>
          </p:nvPr>
        </p:nvSpPr>
        <p:spPr/>
        <p:txBody>
          <a:bodyPr/>
          <a:lstStyle/>
          <a:p>
            <a:fld id="{60ACF372-61BF-A04E-928B-F1816CD04942}" type="datetimeFigureOut">
              <a:rPr kumimoji="1" lang="zh-CN" altLang="en-US" smtClean="0"/>
              <a:t>2026/5/13</a:t>
            </a:fld>
            <a:endParaRPr kumimoji="1" lang="zh-CN" altLang="en-US"/>
          </a:p>
        </p:txBody>
      </p:sp>
      <p:sp>
        <p:nvSpPr>
          <p:cNvPr id="6" name="Footer Placeholder 5"/>
          <p:cNvSpPr>
            <a:spLocks noGrp="1"/>
          </p:cNvSpPr>
          <p:nvPr>
            <p:ph type="ftr" sz="quarter" idx="11"/>
          </p:nvPr>
        </p:nvSpPr>
        <p:spPr/>
        <p:txBody>
          <a:bodyPr/>
          <a:lstStyle/>
          <a:p>
            <a:endParaRPr kumimoji="1" lang="zh-CN" altLang="en-US"/>
          </a:p>
        </p:txBody>
      </p:sp>
      <p:sp>
        <p:nvSpPr>
          <p:cNvPr id="7" name="Slide Number Placeholder 6"/>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31921034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zh-CN" altLang="en-US"/>
              <a:t>单击此处编辑母版标题样式</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7" name="Date Placeholder 6"/>
          <p:cNvSpPr>
            <a:spLocks noGrp="1"/>
          </p:cNvSpPr>
          <p:nvPr>
            <p:ph type="dt" sz="half" idx="10"/>
          </p:nvPr>
        </p:nvSpPr>
        <p:spPr/>
        <p:txBody>
          <a:bodyPr/>
          <a:lstStyle/>
          <a:p>
            <a:fld id="{60ACF372-61BF-A04E-928B-F1816CD04942}" type="datetimeFigureOut">
              <a:rPr kumimoji="1" lang="zh-CN" altLang="en-US" smtClean="0"/>
              <a:t>2026/5/13</a:t>
            </a:fld>
            <a:endParaRPr kumimoji="1" lang="zh-CN" altLang="en-US"/>
          </a:p>
        </p:txBody>
      </p:sp>
      <p:sp>
        <p:nvSpPr>
          <p:cNvPr id="8" name="Footer Placeholder 7"/>
          <p:cNvSpPr>
            <a:spLocks noGrp="1"/>
          </p:cNvSpPr>
          <p:nvPr>
            <p:ph type="ftr" sz="quarter" idx="11"/>
          </p:nvPr>
        </p:nvSpPr>
        <p:spPr/>
        <p:txBody>
          <a:bodyPr/>
          <a:lstStyle/>
          <a:p>
            <a:endParaRPr kumimoji="1" lang="zh-CN" altLang="en-US"/>
          </a:p>
        </p:txBody>
      </p:sp>
      <p:sp>
        <p:nvSpPr>
          <p:cNvPr id="9" name="Slide Number Placeholder 8"/>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3003012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Date Placeholder 2"/>
          <p:cNvSpPr>
            <a:spLocks noGrp="1"/>
          </p:cNvSpPr>
          <p:nvPr>
            <p:ph type="dt" sz="half" idx="10"/>
          </p:nvPr>
        </p:nvSpPr>
        <p:spPr/>
        <p:txBody>
          <a:bodyPr/>
          <a:lstStyle/>
          <a:p>
            <a:fld id="{60ACF372-61BF-A04E-928B-F1816CD04942}" type="datetimeFigureOut">
              <a:rPr kumimoji="1" lang="zh-CN" altLang="en-US" smtClean="0"/>
              <a:t>2026/5/13</a:t>
            </a:fld>
            <a:endParaRPr kumimoji="1" lang="zh-CN" altLang="en-US"/>
          </a:p>
        </p:txBody>
      </p:sp>
      <p:sp>
        <p:nvSpPr>
          <p:cNvPr id="4" name="Footer Placeholder 3"/>
          <p:cNvSpPr>
            <a:spLocks noGrp="1"/>
          </p:cNvSpPr>
          <p:nvPr>
            <p:ph type="ftr" sz="quarter" idx="11"/>
          </p:nvPr>
        </p:nvSpPr>
        <p:spPr/>
        <p:txBody>
          <a:bodyPr/>
          <a:lstStyle/>
          <a:p>
            <a:endParaRPr kumimoji="1" lang="zh-CN" altLang="en-US"/>
          </a:p>
        </p:txBody>
      </p:sp>
      <p:sp>
        <p:nvSpPr>
          <p:cNvPr id="5" name="Slide Number Placeholder 4"/>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35513706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0ACF372-61BF-A04E-928B-F1816CD04942}" type="datetimeFigureOut">
              <a:rPr kumimoji="1" lang="zh-CN" altLang="en-US" smtClean="0"/>
              <a:t>2026/5/13</a:t>
            </a:fld>
            <a:endParaRPr kumimoji="1" lang="zh-CN" altLang="en-US"/>
          </a:p>
        </p:txBody>
      </p:sp>
      <p:sp>
        <p:nvSpPr>
          <p:cNvPr id="3" name="Footer Placeholder 2"/>
          <p:cNvSpPr>
            <a:spLocks noGrp="1"/>
          </p:cNvSpPr>
          <p:nvPr>
            <p:ph type="ftr" sz="quarter" idx="11"/>
          </p:nvPr>
        </p:nvSpPr>
        <p:spPr/>
        <p:txBody>
          <a:bodyPr/>
          <a:lstStyle/>
          <a:p>
            <a:endParaRPr kumimoji="1" lang="zh-CN" altLang="en-US"/>
          </a:p>
        </p:txBody>
      </p:sp>
      <p:sp>
        <p:nvSpPr>
          <p:cNvPr id="4" name="Slide Number Placeholder 3"/>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9067688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60ACF372-61BF-A04E-928B-F1816CD04942}" type="datetimeFigureOut">
              <a:rPr kumimoji="1" lang="zh-CN" altLang="en-US" smtClean="0"/>
              <a:t>2026/5/13</a:t>
            </a:fld>
            <a:endParaRPr kumimoji="1" lang="zh-CN" altLang="en-US"/>
          </a:p>
        </p:txBody>
      </p:sp>
      <p:sp>
        <p:nvSpPr>
          <p:cNvPr id="6" name="Footer Placeholder 5"/>
          <p:cNvSpPr>
            <a:spLocks noGrp="1"/>
          </p:cNvSpPr>
          <p:nvPr>
            <p:ph type="ftr" sz="quarter" idx="11"/>
          </p:nvPr>
        </p:nvSpPr>
        <p:spPr/>
        <p:txBody>
          <a:bodyPr/>
          <a:lstStyle/>
          <a:p>
            <a:endParaRPr kumimoji="1" lang="zh-CN" altLang="en-US"/>
          </a:p>
        </p:txBody>
      </p:sp>
      <p:sp>
        <p:nvSpPr>
          <p:cNvPr id="7" name="Slide Number Placeholder 6"/>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25634256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60ACF372-61BF-A04E-928B-F1816CD04942}" type="datetimeFigureOut">
              <a:rPr kumimoji="1" lang="zh-CN" altLang="en-US" smtClean="0"/>
              <a:t>2026/5/13</a:t>
            </a:fld>
            <a:endParaRPr kumimoji="1" lang="zh-CN" altLang="en-US"/>
          </a:p>
        </p:txBody>
      </p:sp>
      <p:sp>
        <p:nvSpPr>
          <p:cNvPr id="6" name="Footer Placeholder 5"/>
          <p:cNvSpPr>
            <a:spLocks noGrp="1"/>
          </p:cNvSpPr>
          <p:nvPr>
            <p:ph type="ftr" sz="quarter" idx="11"/>
          </p:nvPr>
        </p:nvSpPr>
        <p:spPr/>
        <p:txBody>
          <a:bodyPr/>
          <a:lstStyle/>
          <a:p>
            <a:endParaRPr kumimoji="1" lang="zh-CN" altLang="en-US"/>
          </a:p>
        </p:txBody>
      </p:sp>
      <p:sp>
        <p:nvSpPr>
          <p:cNvPr id="7" name="Slide Number Placeholder 6"/>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4761400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60ACF372-61BF-A04E-928B-F1816CD04942}" type="datetimeFigureOut">
              <a:rPr kumimoji="1" lang="zh-CN" altLang="en-US" smtClean="0"/>
              <a:t>2026/5/13</a:t>
            </a:fld>
            <a:endParaRPr kumimoji="1" lang="zh-CN" altLang="en-US"/>
          </a:p>
        </p:txBody>
      </p:sp>
      <p:sp>
        <p:nvSpPr>
          <p:cNvPr id="5" name="Footer Placeholder 4"/>
          <p:cNvSpPr>
            <a:spLocks noGrp="1"/>
          </p:cNvSpPr>
          <p:nvPr>
            <p:ph type="ftr" sz="quarter" idx="11"/>
          </p:nvPr>
        </p:nvSpPr>
        <p:spPr/>
        <p:txBody>
          <a:bodyPr/>
          <a:lstStyle/>
          <a:p>
            <a:endParaRPr kumimoji="1" lang="zh-CN" altLang="en-US"/>
          </a:p>
        </p:txBody>
      </p:sp>
      <p:sp>
        <p:nvSpPr>
          <p:cNvPr id="6" name="Slide Number Placeholder 5"/>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25865738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60ACF372-61BF-A04E-928B-F1816CD04942}" type="datetimeFigureOut">
              <a:rPr kumimoji="1" lang="zh-CN" altLang="en-US" smtClean="0"/>
              <a:t>2026/5/13</a:t>
            </a:fld>
            <a:endParaRPr kumimoji="1" lang="zh-CN" altLang="en-US"/>
          </a:p>
        </p:txBody>
      </p:sp>
      <p:sp>
        <p:nvSpPr>
          <p:cNvPr id="5" name="Footer Placeholder 4"/>
          <p:cNvSpPr>
            <a:spLocks noGrp="1"/>
          </p:cNvSpPr>
          <p:nvPr>
            <p:ph type="ftr" sz="quarter" idx="11"/>
          </p:nvPr>
        </p:nvSpPr>
        <p:spPr/>
        <p:txBody>
          <a:bodyPr/>
          <a:lstStyle/>
          <a:p>
            <a:endParaRPr kumimoji="1" lang="zh-CN" altLang="en-US"/>
          </a:p>
        </p:txBody>
      </p:sp>
      <p:sp>
        <p:nvSpPr>
          <p:cNvPr id="6" name="Slide Number Placeholder 5"/>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9565707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0ACF372-61BF-A04E-928B-F1816CD04942}" type="datetimeFigureOut">
              <a:rPr kumimoji="1" lang="zh-CN" altLang="en-US" smtClean="0"/>
              <a:t>2026/5/13</a:t>
            </a:fld>
            <a:endParaRPr kumimoji="1" lang="zh-CN"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zh-CN"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282084407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cover_bg.jpg"/>
          <p:cNvPicPr>
            <a:picLocks noChangeAspect="1"/>
          </p:cNvPicPr>
          <p:nvPr/>
        </p:nvPicPr>
        <p:blipFill>
          <a:blip r:embed="rId2"/>
          <a:stretch>
            <a:fillRect/>
          </a:stretch>
        </p:blipFill>
        <p:spPr>
          <a:xfrm>
            <a:off x="-4749" y="0"/>
            <a:ext cx="12201499" cy="6858000"/>
          </a:xfrm>
          <a:prstGeom prst="rect">
            <a:avLst/>
          </a:prstGeom>
        </p:spPr>
      </p:pic>
      <p:sp>
        <p:nvSpPr>
          <p:cNvPr id="3" name="TextBox 2"/>
          <p:cNvSpPr txBox="1"/>
          <p:nvPr/>
        </p:nvSpPr>
        <p:spPr>
          <a:xfrm>
            <a:off x="182880" y="2432304"/>
            <a:ext cx="11795760" cy="713232"/>
          </a:xfrm>
          <a:prstGeom prst="rect">
            <a:avLst/>
          </a:prstGeom>
          <a:noFill/>
        </p:spPr>
        <p:txBody>
          <a:bodyPr wrap="square" lIns="0" tIns="0" rIns="0" bIns="0" anchor="t">
            <a:spAutoFit/>
          </a:bodyPr>
          <a:lstStyle/>
          <a:p>
            <a:pPr algn="ctr">
              <a:lnSpc>
                <a:spcPct val="105000"/>
              </a:lnSpc>
            </a:pPr>
            <a:r>
              <a:rPr sz="3100" b="1" dirty="0" err="1">
                <a:solidFill>
                  <a:srgbClr val="FFFFFF"/>
                </a:solidFill>
                <a:latin typeface="方正正中黑简体"/>
              </a:rPr>
              <a:t>基于多模态学习的药物分子性质预测研究</a:t>
            </a:r>
            <a:endParaRPr sz="3100" b="1" dirty="0">
              <a:solidFill>
                <a:srgbClr val="FFFFFF"/>
              </a:solidFill>
              <a:latin typeface="方正正中黑简体"/>
            </a:endParaRPr>
          </a:p>
        </p:txBody>
      </p:sp>
      <p:sp>
        <p:nvSpPr>
          <p:cNvPr id="4" name="TextBox 3"/>
          <p:cNvSpPr txBox="1"/>
          <p:nvPr/>
        </p:nvSpPr>
        <p:spPr>
          <a:xfrm>
            <a:off x="7187184" y="3968496"/>
            <a:ext cx="3840480" cy="896112"/>
          </a:xfrm>
          <a:prstGeom prst="rect">
            <a:avLst/>
          </a:prstGeom>
          <a:noFill/>
        </p:spPr>
        <p:txBody>
          <a:bodyPr wrap="square" lIns="0" tIns="0" rIns="0" bIns="0" anchor="t">
            <a:spAutoFit/>
          </a:bodyPr>
          <a:lstStyle/>
          <a:p>
            <a:pPr algn="l">
              <a:lnSpc>
                <a:spcPct val="118000"/>
              </a:lnSpc>
            </a:pPr>
            <a:r>
              <a:rPr sz="1400" b="0" dirty="0">
                <a:solidFill>
                  <a:srgbClr val="FFFFFF"/>
                </a:solidFill>
                <a:latin typeface="微软雅黑 Light"/>
              </a:rPr>
              <a:t>姓   </a:t>
            </a:r>
            <a:r>
              <a:rPr sz="1400" b="0" dirty="0" err="1">
                <a:solidFill>
                  <a:srgbClr val="FFFFFF"/>
                </a:solidFill>
                <a:latin typeface="微软雅黑 Light"/>
              </a:rPr>
              <a:t>名：范帅尧</a:t>
            </a:r>
            <a:endParaRPr sz="1400" b="0" dirty="0">
              <a:solidFill>
                <a:srgbClr val="FFFFFF"/>
              </a:solidFill>
              <a:latin typeface="微软雅黑 Light"/>
            </a:endParaRPr>
          </a:p>
          <a:p>
            <a:pPr algn="l">
              <a:lnSpc>
                <a:spcPct val="118000"/>
              </a:lnSpc>
            </a:pPr>
            <a:r>
              <a:rPr sz="1400" b="0" dirty="0">
                <a:solidFill>
                  <a:srgbClr val="FFFFFF"/>
                </a:solidFill>
                <a:latin typeface="微软雅黑 Light"/>
              </a:rPr>
              <a:t>导   </a:t>
            </a:r>
            <a:r>
              <a:rPr sz="1400" b="0" dirty="0" err="1">
                <a:solidFill>
                  <a:srgbClr val="FFFFFF"/>
                </a:solidFill>
                <a:latin typeface="微软雅黑 Light"/>
              </a:rPr>
              <a:t>师：牛云云教授</a:t>
            </a:r>
            <a:endParaRPr sz="1400" b="0" dirty="0">
              <a:solidFill>
                <a:srgbClr val="FFFFFF"/>
              </a:solidFill>
              <a:latin typeface="微软雅黑 Light"/>
            </a:endParaRPr>
          </a:p>
          <a:p>
            <a:pPr algn="l">
              <a:lnSpc>
                <a:spcPct val="118000"/>
              </a:lnSpc>
            </a:pPr>
            <a:r>
              <a:rPr sz="1400" b="0" dirty="0">
                <a:solidFill>
                  <a:srgbClr val="FFFFFF"/>
                </a:solidFill>
                <a:latin typeface="微软雅黑 Light"/>
              </a:rPr>
              <a:t>时   间：2026.05.13</a:t>
            </a:r>
          </a:p>
        </p:txBody>
      </p:sp>
      <p:pic>
        <p:nvPicPr>
          <p:cNvPr id="5" name="Picture 4" descr="logo.png"/>
          <p:cNvPicPr>
            <a:picLocks noChangeAspect="1"/>
          </p:cNvPicPr>
          <p:nvPr/>
        </p:nvPicPr>
        <p:blipFill>
          <a:blip r:embed="rId3"/>
          <a:stretch>
            <a:fillRect/>
          </a:stretch>
        </p:blipFill>
        <p:spPr>
          <a:xfrm>
            <a:off x="11301984" y="310896"/>
            <a:ext cx="402336" cy="457200"/>
          </a:xfrm>
          <a:prstGeom prst="rect">
            <a:avLst/>
          </a:prstGeom>
        </p:spPr>
      </p:pic>
      <p:sp>
        <p:nvSpPr>
          <p:cNvPr id="6" name="矩形 5">
            <a:extLst>
              <a:ext uri="{FF2B5EF4-FFF2-40B4-BE49-F238E27FC236}">
                <a16:creationId xmlns:a16="http://schemas.microsoft.com/office/drawing/2014/main" id="{C951202C-A03F-BAA3-2452-59A10A12153D}"/>
              </a:ext>
            </a:extLst>
          </p:cNvPr>
          <p:cNvSpPr/>
          <p:nvPr/>
        </p:nvSpPr>
        <p:spPr>
          <a:xfrm>
            <a:off x="4162166" y="689022"/>
            <a:ext cx="3861979" cy="1012810"/>
          </a:xfrm>
          <a:prstGeom prst="rect">
            <a:avLst/>
          </a:prstGeom>
          <a:blipFill>
            <a:blip r:embed="rId4"/>
            <a:stretch>
              <a:fillRect/>
            </a:stretch>
          </a:blipFill>
          <a:ln>
            <a:no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18288" y="0"/>
            <a:ext cx="3383280" cy="6858000"/>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ight Triangle 2"/>
          <p:cNvSpPr/>
          <p:nvPr/>
        </p:nvSpPr>
        <p:spPr>
          <a:xfrm>
            <a:off x="2560320" y="0"/>
            <a:ext cx="1325880" cy="6858000"/>
          </a:xfrm>
          <a:prstGeom prst="rtTriangle">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38912" y="1005840"/>
            <a:ext cx="822960" cy="822960"/>
          </a:xfrm>
          <a:prstGeom prst="rect">
            <a:avLst/>
          </a:prstGeom>
          <a:noFill/>
        </p:spPr>
        <p:txBody>
          <a:bodyPr wrap="square" lIns="0" tIns="0" rIns="0" bIns="0" anchor="t">
            <a:spAutoFit/>
          </a:bodyPr>
          <a:lstStyle/>
          <a:p>
            <a:pPr algn="ctr">
              <a:lnSpc>
                <a:spcPct val="105000"/>
              </a:lnSpc>
            </a:pPr>
            <a:r>
              <a:rPr sz="4200" b="1">
                <a:solidFill>
                  <a:srgbClr val="FFFFFF"/>
                </a:solidFill>
                <a:latin typeface="方正正中黑简体"/>
              </a:rPr>
              <a:t>目</a:t>
            </a:r>
          </a:p>
        </p:txBody>
      </p:sp>
      <p:sp>
        <p:nvSpPr>
          <p:cNvPr id="5" name="TextBox 4"/>
          <p:cNvSpPr txBox="1"/>
          <p:nvPr/>
        </p:nvSpPr>
        <p:spPr>
          <a:xfrm>
            <a:off x="1243584" y="1810512"/>
            <a:ext cx="822960" cy="822960"/>
          </a:xfrm>
          <a:prstGeom prst="rect">
            <a:avLst/>
          </a:prstGeom>
          <a:noFill/>
        </p:spPr>
        <p:txBody>
          <a:bodyPr wrap="square" lIns="0" tIns="0" rIns="0" bIns="0" anchor="t">
            <a:spAutoFit/>
          </a:bodyPr>
          <a:lstStyle/>
          <a:p>
            <a:pPr algn="ctr">
              <a:lnSpc>
                <a:spcPct val="105000"/>
              </a:lnSpc>
            </a:pPr>
            <a:r>
              <a:rPr sz="4200" b="1">
                <a:solidFill>
                  <a:srgbClr val="FFFFFF"/>
                </a:solidFill>
                <a:latin typeface="方正正中黑简体"/>
              </a:rPr>
              <a:t>录</a:t>
            </a:r>
          </a:p>
        </p:txBody>
      </p:sp>
      <p:sp>
        <p:nvSpPr>
          <p:cNvPr id="6" name="TextBox 5"/>
          <p:cNvSpPr txBox="1"/>
          <p:nvPr/>
        </p:nvSpPr>
        <p:spPr>
          <a:xfrm>
            <a:off x="365760" y="3246120"/>
            <a:ext cx="2148840" cy="310896"/>
          </a:xfrm>
          <a:prstGeom prst="rect">
            <a:avLst/>
          </a:prstGeom>
          <a:noFill/>
        </p:spPr>
        <p:txBody>
          <a:bodyPr wrap="square" lIns="0" tIns="0" rIns="0" bIns="0" anchor="t">
            <a:spAutoFit/>
          </a:bodyPr>
          <a:lstStyle/>
          <a:p>
            <a:pPr algn="l">
              <a:lnSpc>
                <a:spcPct val="105000"/>
              </a:lnSpc>
            </a:pPr>
            <a:r>
              <a:rPr sz="1700" b="0">
                <a:solidFill>
                  <a:srgbClr val="D9EAF7"/>
                </a:solidFill>
                <a:latin typeface="Aptos"/>
              </a:rPr>
              <a:t>CONTENTS</a:t>
            </a:r>
          </a:p>
        </p:txBody>
      </p:sp>
      <p:pic>
        <p:nvPicPr>
          <p:cNvPr id="7" name="Picture 6" descr="logo.png"/>
          <p:cNvPicPr>
            <a:picLocks noChangeAspect="1"/>
          </p:cNvPicPr>
          <p:nvPr/>
        </p:nvPicPr>
        <p:blipFill>
          <a:blip r:embed="rId2"/>
          <a:stretch>
            <a:fillRect/>
          </a:stretch>
        </p:blipFill>
        <p:spPr>
          <a:xfrm>
            <a:off x="11301984" y="310896"/>
            <a:ext cx="402336" cy="457200"/>
          </a:xfrm>
          <a:prstGeom prst="rect">
            <a:avLst/>
          </a:prstGeom>
        </p:spPr>
      </p:pic>
      <p:sp>
        <p:nvSpPr>
          <p:cNvPr id="8" name="TextBox 7"/>
          <p:cNvSpPr txBox="1"/>
          <p:nvPr/>
        </p:nvSpPr>
        <p:spPr>
          <a:xfrm>
            <a:off x="4617720" y="1078992"/>
            <a:ext cx="713232" cy="424796"/>
          </a:xfrm>
          <a:prstGeom prst="rect">
            <a:avLst/>
          </a:prstGeom>
          <a:noFill/>
        </p:spPr>
        <p:txBody>
          <a:bodyPr wrap="square" lIns="0" tIns="0" rIns="0" bIns="0" anchor="t">
            <a:spAutoFit/>
          </a:bodyPr>
          <a:lstStyle/>
          <a:p>
            <a:pPr algn="l">
              <a:lnSpc>
                <a:spcPct val="105000"/>
              </a:lnSpc>
            </a:pPr>
            <a:r>
              <a:rPr sz="2800" b="1" dirty="0">
                <a:solidFill>
                  <a:srgbClr val="004E98"/>
                </a:solidFill>
                <a:latin typeface="Microsoft YaHei"/>
              </a:rPr>
              <a:t>01 /</a:t>
            </a:r>
          </a:p>
        </p:txBody>
      </p:sp>
      <p:sp>
        <p:nvSpPr>
          <p:cNvPr id="9" name="TextBox 8"/>
          <p:cNvSpPr txBox="1"/>
          <p:nvPr/>
        </p:nvSpPr>
        <p:spPr>
          <a:xfrm>
            <a:off x="5376672" y="1060704"/>
            <a:ext cx="2560320" cy="424796"/>
          </a:xfrm>
          <a:prstGeom prst="rect">
            <a:avLst/>
          </a:prstGeom>
          <a:noFill/>
        </p:spPr>
        <p:txBody>
          <a:bodyPr wrap="square" lIns="0" tIns="0" rIns="0" bIns="0" anchor="t">
            <a:spAutoFit/>
          </a:bodyPr>
          <a:lstStyle/>
          <a:p>
            <a:pPr algn="l">
              <a:lnSpc>
                <a:spcPct val="105000"/>
              </a:lnSpc>
            </a:pPr>
            <a:r>
              <a:rPr sz="2800" b="1" dirty="0" err="1">
                <a:solidFill>
                  <a:srgbClr val="16324F"/>
                </a:solidFill>
                <a:latin typeface="Microsoft YaHei"/>
              </a:rPr>
              <a:t>研究背景与意义</a:t>
            </a:r>
            <a:endParaRPr sz="2800" b="1" dirty="0">
              <a:solidFill>
                <a:srgbClr val="16324F"/>
              </a:solidFill>
              <a:latin typeface="Microsoft YaHei"/>
            </a:endParaRPr>
          </a:p>
        </p:txBody>
      </p:sp>
      <p:sp>
        <p:nvSpPr>
          <p:cNvPr id="10" name="TextBox 9"/>
          <p:cNvSpPr txBox="1"/>
          <p:nvPr/>
        </p:nvSpPr>
        <p:spPr>
          <a:xfrm>
            <a:off x="5376672" y="1586103"/>
            <a:ext cx="4297680" cy="219456"/>
          </a:xfrm>
          <a:prstGeom prst="rect">
            <a:avLst/>
          </a:prstGeom>
          <a:noFill/>
        </p:spPr>
        <p:txBody>
          <a:bodyPr wrap="square" lIns="0" tIns="0" rIns="0" bIns="0" anchor="t">
            <a:spAutoFit/>
          </a:bodyPr>
          <a:lstStyle/>
          <a:p>
            <a:pPr algn="l">
              <a:lnSpc>
                <a:spcPct val="105000"/>
              </a:lnSpc>
            </a:pPr>
            <a:r>
              <a:rPr sz="1040" b="0" dirty="0" err="1">
                <a:solidFill>
                  <a:srgbClr val="5B6773"/>
                </a:solidFill>
                <a:latin typeface="微软雅黑 Light"/>
              </a:rPr>
              <a:t>药物发现早筛需求与多模态分子性质预测价值</a:t>
            </a:r>
            <a:endParaRPr sz="1040" b="0" dirty="0">
              <a:solidFill>
                <a:srgbClr val="5B6773"/>
              </a:solidFill>
              <a:latin typeface="微软雅黑 Light"/>
            </a:endParaRPr>
          </a:p>
        </p:txBody>
      </p:sp>
      <p:sp>
        <p:nvSpPr>
          <p:cNvPr id="11" name="Rectangle 10"/>
          <p:cNvSpPr/>
          <p:nvPr/>
        </p:nvSpPr>
        <p:spPr>
          <a:xfrm>
            <a:off x="5376672" y="1494663"/>
            <a:ext cx="4160520" cy="1097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17720" y="2249424"/>
            <a:ext cx="713232" cy="424796"/>
          </a:xfrm>
          <a:prstGeom prst="rect">
            <a:avLst/>
          </a:prstGeom>
          <a:noFill/>
        </p:spPr>
        <p:txBody>
          <a:bodyPr wrap="square" lIns="0" tIns="0" rIns="0" bIns="0" anchor="t">
            <a:spAutoFit/>
          </a:bodyPr>
          <a:lstStyle/>
          <a:p>
            <a:pPr algn="l">
              <a:lnSpc>
                <a:spcPct val="105000"/>
              </a:lnSpc>
            </a:pPr>
            <a:r>
              <a:rPr sz="2800" b="1">
                <a:solidFill>
                  <a:srgbClr val="004E98"/>
                </a:solidFill>
                <a:latin typeface="Microsoft YaHei"/>
              </a:rPr>
              <a:t>02 /</a:t>
            </a:r>
          </a:p>
        </p:txBody>
      </p:sp>
      <p:sp>
        <p:nvSpPr>
          <p:cNvPr id="13" name="TextBox 12"/>
          <p:cNvSpPr txBox="1"/>
          <p:nvPr/>
        </p:nvSpPr>
        <p:spPr>
          <a:xfrm>
            <a:off x="5376672" y="2231136"/>
            <a:ext cx="2560320" cy="424796"/>
          </a:xfrm>
          <a:prstGeom prst="rect">
            <a:avLst/>
          </a:prstGeom>
          <a:noFill/>
        </p:spPr>
        <p:txBody>
          <a:bodyPr wrap="square" lIns="0" tIns="0" rIns="0" bIns="0" anchor="t">
            <a:spAutoFit/>
          </a:bodyPr>
          <a:lstStyle/>
          <a:p>
            <a:pPr algn="l">
              <a:lnSpc>
                <a:spcPct val="105000"/>
              </a:lnSpc>
            </a:pPr>
            <a:r>
              <a:rPr sz="2800" b="1">
                <a:solidFill>
                  <a:srgbClr val="16324F"/>
                </a:solidFill>
                <a:latin typeface="Microsoft YaHei"/>
              </a:rPr>
              <a:t>研究现状</a:t>
            </a:r>
          </a:p>
        </p:txBody>
      </p:sp>
      <p:sp>
        <p:nvSpPr>
          <p:cNvPr id="14" name="TextBox 13"/>
          <p:cNvSpPr txBox="1"/>
          <p:nvPr/>
        </p:nvSpPr>
        <p:spPr>
          <a:xfrm>
            <a:off x="5376672" y="2756535"/>
            <a:ext cx="4297680" cy="219456"/>
          </a:xfrm>
          <a:prstGeom prst="rect">
            <a:avLst/>
          </a:prstGeom>
          <a:noFill/>
        </p:spPr>
        <p:txBody>
          <a:bodyPr wrap="square" lIns="0" tIns="0" rIns="0" bIns="0" anchor="t">
            <a:spAutoFit/>
          </a:bodyPr>
          <a:lstStyle/>
          <a:p>
            <a:pPr algn="l">
              <a:lnSpc>
                <a:spcPct val="105000"/>
              </a:lnSpc>
            </a:pPr>
            <a:r>
              <a:rPr sz="1040" b="0">
                <a:solidFill>
                  <a:srgbClr val="5B6773"/>
                </a:solidFill>
                <a:latin typeface="微软雅黑 Light"/>
              </a:rPr>
              <a:t>单模态、多模态方法进展及其主要不足</a:t>
            </a:r>
          </a:p>
        </p:txBody>
      </p:sp>
      <p:sp>
        <p:nvSpPr>
          <p:cNvPr id="15" name="Rectangle 14"/>
          <p:cNvSpPr/>
          <p:nvPr/>
        </p:nvSpPr>
        <p:spPr>
          <a:xfrm>
            <a:off x="5376672" y="2665095"/>
            <a:ext cx="4160520" cy="1097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617720" y="3419856"/>
            <a:ext cx="713232" cy="424796"/>
          </a:xfrm>
          <a:prstGeom prst="rect">
            <a:avLst/>
          </a:prstGeom>
          <a:noFill/>
        </p:spPr>
        <p:txBody>
          <a:bodyPr wrap="square" lIns="0" tIns="0" rIns="0" bIns="0" anchor="t">
            <a:spAutoFit/>
          </a:bodyPr>
          <a:lstStyle/>
          <a:p>
            <a:pPr algn="l">
              <a:lnSpc>
                <a:spcPct val="105000"/>
              </a:lnSpc>
            </a:pPr>
            <a:r>
              <a:rPr sz="2800" b="1">
                <a:solidFill>
                  <a:srgbClr val="004E98"/>
                </a:solidFill>
                <a:latin typeface="Microsoft YaHei"/>
              </a:rPr>
              <a:t>03 /</a:t>
            </a:r>
          </a:p>
        </p:txBody>
      </p:sp>
      <p:sp>
        <p:nvSpPr>
          <p:cNvPr id="17" name="TextBox 16"/>
          <p:cNvSpPr txBox="1"/>
          <p:nvPr/>
        </p:nvSpPr>
        <p:spPr>
          <a:xfrm>
            <a:off x="5376672" y="3401568"/>
            <a:ext cx="2560320" cy="424796"/>
          </a:xfrm>
          <a:prstGeom prst="rect">
            <a:avLst/>
          </a:prstGeom>
          <a:noFill/>
        </p:spPr>
        <p:txBody>
          <a:bodyPr wrap="square" lIns="0" tIns="0" rIns="0" bIns="0" anchor="t">
            <a:spAutoFit/>
          </a:bodyPr>
          <a:lstStyle/>
          <a:p>
            <a:pPr algn="l">
              <a:lnSpc>
                <a:spcPct val="105000"/>
              </a:lnSpc>
            </a:pPr>
            <a:r>
              <a:rPr sz="2800" b="1">
                <a:solidFill>
                  <a:srgbClr val="16324F"/>
                </a:solidFill>
                <a:latin typeface="Microsoft YaHei"/>
              </a:rPr>
              <a:t>研究内容</a:t>
            </a:r>
          </a:p>
        </p:txBody>
      </p:sp>
      <p:sp>
        <p:nvSpPr>
          <p:cNvPr id="18" name="TextBox 17"/>
          <p:cNvSpPr txBox="1"/>
          <p:nvPr/>
        </p:nvSpPr>
        <p:spPr>
          <a:xfrm>
            <a:off x="5376672" y="3907917"/>
            <a:ext cx="4297680" cy="219456"/>
          </a:xfrm>
          <a:prstGeom prst="rect">
            <a:avLst/>
          </a:prstGeom>
          <a:noFill/>
        </p:spPr>
        <p:txBody>
          <a:bodyPr wrap="square" lIns="0" tIns="0" rIns="0" bIns="0" anchor="t">
            <a:spAutoFit/>
          </a:bodyPr>
          <a:lstStyle/>
          <a:p>
            <a:pPr algn="l">
              <a:lnSpc>
                <a:spcPct val="105000"/>
              </a:lnSpc>
            </a:pPr>
            <a:r>
              <a:rPr sz="1040" b="0">
                <a:solidFill>
                  <a:srgbClr val="5B6773"/>
                </a:solidFill>
                <a:latin typeface="微软雅黑 Light"/>
              </a:rPr>
              <a:t>CoT-CMP 与 KGAMA 两项核心方法及实验验证</a:t>
            </a:r>
          </a:p>
        </p:txBody>
      </p:sp>
      <p:sp>
        <p:nvSpPr>
          <p:cNvPr id="19" name="Rectangle 18"/>
          <p:cNvSpPr/>
          <p:nvPr/>
        </p:nvSpPr>
        <p:spPr>
          <a:xfrm>
            <a:off x="5376672" y="3816477"/>
            <a:ext cx="4160520" cy="1097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617720" y="4590288"/>
            <a:ext cx="713232" cy="424796"/>
          </a:xfrm>
          <a:prstGeom prst="rect">
            <a:avLst/>
          </a:prstGeom>
          <a:noFill/>
        </p:spPr>
        <p:txBody>
          <a:bodyPr wrap="square" lIns="0" tIns="0" rIns="0" bIns="0" anchor="t">
            <a:spAutoFit/>
          </a:bodyPr>
          <a:lstStyle/>
          <a:p>
            <a:pPr algn="l">
              <a:lnSpc>
                <a:spcPct val="105000"/>
              </a:lnSpc>
            </a:pPr>
            <a:r>
              <a:rPr sz="2800" b="1">
                <a:solidFill>
                  <a:srgbClr val="004E98"/>
                </a:solidFill>
                <a:latin typeface="Microsoft YaHei"/>
              </a:rPr>
              <a:t>04 /</a:t>
            </a:r>
          </a:p>
        </p:txBody>
      </p:sp>
      <p:sp>
        <p:nvSpPr>
          <p:cNvPr id="21" name="TextBox 20"/>
          <p:cNvSpPr txBox="1"/>
          <p:nvPr/>
        </p:nvSpPr>
        <p:spPr>
          <a:xfrm>
            <a:off x="5376672" y="4572000"/>
            <a:ext cx="2560320" cy="424796"/>
          </a:xfrm>
          <a:prstGeom prst="rect">
            <a:avLst/>
          </a:prstGeom>
          <a:noFill/>
        </p:spPr>
        <p:txBody>
          <a:bodyPr wrap="square" lIns="0" tIns="0" rIns="0" bIns="0" anchor="t">
            <a:spAutoFit/>
          </a:bodyPr>
          <a:lstStyle/>
          <a:p>
            <a:pPr algn="l">
              <a:lnSpc>
                <a:spcPct val="105000"/>
              </a:lnSpc>
            </a:pPr>
            <a:r>
              <a:rPr sz="2800" b="1">
                <a:solidFill>
                  <a:srgbClr val="16324F"/>
                </a:solidFill>
                <a:latin typeface="Microsoft YaHei"/>
              </a:rPr>
              <a:t>结论与展望</a:t>
            </a:r>
          </a:p>
        </p:txBody>
      </p:sp>
      <p:sp>
        <p:nvSpPr>
          <p:cNvPr id="22" name="TextBox 21"/>
          <p:cNvSpPr txBox="1"/>
          <p:nvPr/>
        </p:nvSpPr>
        <p:spPr>
          <a:xfrm>
            <a:off x="5376672" y="5087874"/>
            <a:ext cx="4297680" cy="219456"/>
          </a:xfrm>
          <a:prstGeom prst="rect">
            <a:avLst/>
          </a:prstGeom>
          <a:noFill/>
        </p:spPr>
        <p:txBody>
          <a:bodyPr wrap="square" lIns="0" tIns="0" rIns="0" bIns="0" anchor="t">
            <a:spAutoFit/>
          </a:bodyPr>
          <a:lstStyle/>
          <a:p>
            <a:pPr algn="l">
              <a:lnSpc>
                <a:spcPct val="105000"/>
              </a:lnSpc>
            </a:pPr>
            <a:r>
              <a:rPr sz="1040" b="0">
                <a:solidFill>
                  <a:srgbClr val="5B6773"/>
                </a:solidFill>
                <a:latin typeface="微软雅黑 Light"/>
              </a:rPr>
              <a:t>研究贡献、局限性与未来工作方向</a:t>
            </a:r>
          </a:p>
        </p:txBody>
      </p:sp>
      <p:sp>
        <p:nvSpPr>
          <p:cNvPr id="23" name="Rectangle 22"/>
          <p:cNvSpPr/>
          <p:nvPr/>
        </p:nvSpPr>
        <p:spPr>
          <a:xfrm>
            <a:off x="5376672" y="4996433"/>
            <a:ext cx="4160520" cy="1097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39596" y="321183"/>
            <a:ext cx="5669280" cy="411480"/>
          </a:xfrm>
          <a:prstGeom prst="rect">
            <a:avLst/>
          </a:prstGeom>
          <a:noFill/>
        </p:spPr>
        <p:txBody>
          <a:bodyPr wrap="square" lIns="0" tIns="0" rIns="0" bIns="0" anchor="t">
            <a:spAutoFit/>
          </a:bodyPr>
          <a:lstStyle/>
          <a:p>
            <a:pPr algn="l">
              <a:lnSpc>
                <a:spcPct val="105000"/>
              </a:lnSpc>
            </a:pPr>
            <a:r>
              <a:rPr sz="2000" b="1" dirty="0" err="1">
                <a:solidFill>
                  <a:srgbClr val="004E98"/>
                </a:solidFill>
                <a:latin typeface="方正正中黑简体"/>
              </a:rPr>
              <a:t>研究背景：药物早筛对性质预测提出高要求</a:t>
            </a:r>
            <a:endParaRPr sz="2000" b="1" dirty="0">
              <a:solidFill>
                <a:srgbClr val="004E98"/>
              </a:solidFill>
              <a:latin typeface="方正正中黑简体"/>
            </a:endParaRPr>
          </a:p>
        </p:txBody>
      </p:sp>
      <p:pic>
        <p:nvPicPr>
          <p:cNvPr id="7" name="Picture 6" descr="logo.png"/>
          <p:cNvPicPr>
            <a:picLocks noChangeAspect="1"/>
          </p:cNvPicPr>
          <p:nvPr/>
        </p:nvPicPr>
        <p:blipFill>
          <a:blip r:embed="rId2"/>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0" name="TextBox 9"/>
          <p:cNvSpPr txBox="1"/>
          <p:nvPr/>
        </p:nvSpPr>
        <p:spPr>
          <a:xfrm>
            <a:off x="11384280" y="6565392"/>
            <a:ext cx="384048" cy="256032"/>
          </a:xfrm>
          <a:prstGeom prst="rect">
            <a:avLst/>
          </a:prstGeom>
          <a:noFill/>
        </p:spPr>
        <p:txBody>
          <a:bodyPr wrap="square" lIns="0" tIns="0" rIns="0" bIns="0" anchor="ctr">
            <a:spAutoFit/>
          </a:bodyPr>
          <a:lstStyle/>
          <a:p>
            <a:pPr algn="r">
              <a:lnSpc>
                <a:spcPct val="105000"/>
              </a:lnSpc>
            </a:pPr>
            <a:r>
              <a:rPr sz="900" b="0">
                <a:solidFill>
                  <a:srgbClr val="FFFFFF"/>
                </a:solidFill>
                <a:latin typeface="微软雅黑 Light"/>
              </a:rPr>
              <a:t>04</a:t>
            </a:r>
          </a:p>
        </p:txBody>
      </p:sp>
      <p:sp>
        <p:nvSpPr>
          <p:cNvPr id="11" name="TextBox 10"/>
          <p:cNvSpPr txBox="1"/>
          <p:nvPr/>
        </p:nvSpPr>
        <p:spPr>
          <a:xfrm>
            <a:off x="868680" y="1188720"/>
            <a:ext cx="5440680" cy="566928"/>
          </a:xfrm>
          <a:prstGeom prst="rect">
            <a:avLst/>
          </a:prstGeom>
          <a:noFill/>
        </p:spPr>
        <p:txBody>
          <a:bodyPr wrap="square" lIns="0" tIns="0" rIns="0" bIns="0" anchor="t">
            <a:spAutoFit/>
          </a:bodyPr>
          <a:lstStyle/>
          <a:p>
            <a:pPr algn="l">
              <a:lnSpc>
                <a:spcPct val="105000"/>
              </a:lnSpc>
            </a:pPr>
            <a:r>
              <a:rPr sz="1600" b="1">
                <a:solidFill>
                  <a:srgbClr val="16324F"/>
                </a:solidFill>
                <a:latin typeface="Microsoft YaHei"/>
              </a:rPr>
              <a:t>分子性质预测旨在建立分子结构与理化属性、生化性质之间的映射关系，是现代药物发现早期筛选中的重要环节。</a:t>
            </a:r>
          </a:p>
        </p:txBody>
      </p:sp>
      <p:sp>
        <p:nvSpPr>
          <p:cNvPr id="12" name="Rounded Rectangle 11"/>
          <p:cNvSpPr/>
          <p:nvPr/>
        </p:nvSpPr>
        <p:spPr>
          <a:xfrm>
            <a:off x="868680" y="2057400"/>
            <a:ext cx="2514600" cy="950976"/>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68680" y="2057400"/>
            <a:ext cx="91440" cy="950976"/>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069848" y="2258568"/>
            <a:ext cx="420624" cy="420624"/>
          </a:xfrm>
          <a:prstGeom prst="ellipse">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69848" y="2331720"/>
            <a:ext cx="420624" cy="164592"/>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1</a:t>
            </a:r>
          </a:p>
        </p:txBody>
      </p:sp>
      <p:sp>
        <p:nvSpPr>
          <p:cNvPr id="16" name="TextBox 15"/>
          <p:cNvSpPr txBox="1"/>
          <p:nvPr/>
        </p:nvSpPr>
        <p:spPr>
          <a:xfrm>
            <a:off x="1636776" y="2258568"/>
            <a:ext cx="1508760"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研发流程复杂</a:t>
            </a:r>
          </a:p>
        </p:txBody>
      </p:sp>
      <p:sp>
        <p:nvSpPr>
          <p:cNvPr id="17" name="TextBox 16"/>
          <p:cNvSpPr txBox="1"/>
          <p:nvPr/>
        </p:nvSpPr>
        <p:spPr>
          <a:xfrm>
            <a:off x="1179576" y="2679192"/>
            <a:ext cx="1965960" cy="237744"/>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创新药研发周期长、成本高，后期失败风险会显著放大前期筛选误差。</a:t>
            </a:r>
          </a:p>
        </p:txBody>
      </p:sp>
      <p:sp>
        <p:nvSpPr>
          <p:cNvPr id="18" name="Rounded Rectangle 17"/>
          <p:cNvSpPr/>
          <p:nvPr/>
        </p:nvSpPr>
        <p:spPr>
          <a:xfrm>
            <a:off x="3639312" y="2057400"/>
            <a:ext cx="2514600" cy="950976"/>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639312" y="2057400"/>
            <a:ext cx="91440" cy="950976"/>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3840480" y="2258568"/>
            <a:ext cx="420624" cy="420624"/>
          </a:xfrm>
          <a:prstGeom prst="ellipse">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840480" y="2331720"/>
            <a:ext cx="420624" cy="164592"/>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2</a:t>
            </a:r>
          </a:p>
        </p:txBody>
      </p:sp>
      <p:sp>
        <p:nvSpPr>
          <p:cNvPr id="22" name="TextBox 21"/>
          <p:cNvSpPr txBox="1"/>
          <p:nvPr/>
        </p:nvSpPr>
        <p:spPr>
          <a:xfrm>
            <a:off x="4407408" y="2258568"/>
            <a:ext cx="1508760"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实验验证昂贵</a:t>
            </a:r>
          </a:p>
        </p:txBody>
      </p:sp>
      <p:sp>
        <p:nvSpPr>
          <p:cNvPr id="23" name="TextBox 22"/>
          <p:cNvSpPr txBox="1"/>
          <p:nvPr/>
        </p:nvSpPr>
        <p:spPr>
          <a:xfrm>
            <a:off x="3950208" y="2679192"/>
            <a:ext cx="1965960" cy="237744"/>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候选分子数量巨大，湿实验难以覆盖全部化学空间。</a:t>
            </a:r>
          </a:p>
        </p:txBody>
      </p:sp>
      <p:sp>
        <p:nvSpPr>
          <p:cNvPr id="24" name="Rounded Rectangle 23"/>
          <p:cNvSpPr/>
          <p:nvPr/>
        </p:nvSpPr>
        <p:spPr>
          <a:xfrm>
            <a:off x="6400800" y="2057400"/>
            <a:ext cx="2514600" cy="950976"/>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400800" y="2057400"/>
            <a:ext cx="91440" cy="950976"/>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6601968" y="2258568"/>
            <a:ext cx="420624" cy="420624"/>
          </a:xfrm>
          <a:prstGeom prst="ellipse">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601968" y="2331720"/>
            <a:ext cx="420624" cy="164592"/>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3</a:t>
            </a:r>
          </a:p>
        </p:txBody>
      </p:sp>
      <p:sp>
        <p:nvSpPr>
          <p:cNvPr id="28" name="TextBox 27"/>
          <p:cNvSpPr txBox="1"/>
          <p:nvPr/>
        </p:nvSpPr>
        <p:spPr>
          <a:xfrm>
            <a:off x="7168896" y="2258568"/>
            <a:ext cx="1508760"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AI 可前置风险</a:t>
            </a:r>
          </a:p>
        </p:txBody>
      </p:sp>
      <p:sp>
        <p:nvSpPr>
          <p:cNvPr id="29" name="TextBox 28"/>
          <p:cNvSpPr txBox="1"/>
          <p:nvPr/>
        </p:nvSpPr>
        <p:spPr>
          <a:xfrm>
            <a:off x="6711696" y="2679192"/>
            <a:ext cx="1965960" cy="237744"/>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通过计算模型预测 ADMET、毒性和理化性质，辅助候选分子优先级排序。</a:t>
            </a:r>
          </a:p>
        </p:txBody>
      </p:sp>
      <p:sp>
        <p:nvSpPr>
          <p:cNvPr id="30" name="Rounded Rectangle 29"/>
          <p:cNvSpPr/>
          <p:nvPr/>
        </p:nvSpPr>
        <p:spPr>
          <a:xfrm>
            <a:off x="868680" y="3675887"/>
            <a:ext cx="5257800" cy="192024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图2-1 阿司匹林的多模态化学表征.png"/>
          <p:cNvPicPr>
            <a:picLocks noChangeAspect="1"/>
          </p:cNvPicPr>
          <p:nvPr/>
        </p:nvPicPr>
        <p:blipFill>
          <a:blip r:embed="rId3"/>
          <a:stretch>
            <a:fillRect/>
          </a:stretch>
        </p:blipFill>
        <p:spPr>
          <a:xfrm>
            <a:off x="2032187" y="3767327"/>
            <a:ext cx="2930784" cy="1499616"/>
          </a:xfrm>
          <a:prstGeom prst="rect">
            <a:avLst/>
          </a:prstGeom>
        </p:spPr>
      </p:pic>
      <p:sp>
        <p:nvSpPr>
          <p:cNvPr id="32" name="TextBox 31"/>
          <p:cNvSpPr txBox="1"/>
          <p:nvPr/>
        </p:nvSpPr>
        <p:spPr>
          <a:xfrm>
            <a:off x="978407" y="5349240"/>
            <a:ext cx="5038344" cy="164592"/>
          </a:xfrm>
          <a:prstGeom prst="rect">
            <a:avLst/>
          </a:prstGeom>
          <a:noFill/>
        </p:spPr>
        <p:txBody>
          <a:bodyPr wrap="square" lIns="0" tIns="0" rIns="0" bIns="0" anchor="t">
            <a:spAutoFit/>
          </a:bodyPr>
          <a:lstStyle/>
          <a:p>
            <a:pPr algn="ctr">
              <a:lnSpc>
                <a:spcPct val="105000"/>
              </a:lnSpc>
            </a:pPr>
            <a:r>
              <a:rPr sz="840" b="0">
                <a:solidFill>
                  <a:srgbClr val="5B6773"/>
                </a:solidFill>
                <a:latin typeface="微软雅黑 Light"/>
              </a:rPr>
              <a:t>同一分子可从图结构、SMILES、指纹和文本语义等角度表征</a:t>
            </a:r>
          </a:p>
        </p:txBody>
      </p:sp>
      <p:sp>
        <p:nvSpPr>
          <p:cNvPr id="33" name="Rounded Rectangle 32"/>
          <p:cNvSpPr/>
          <p:nvPr/>
        </p:nvSpPr>
        <p:spPr>
          <a:xfrm>
            <a:off x="6419088" y="3675887"/>
            <a:ext cx="4892040" cy="192024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Picture 33" descr="图2-2 消息传递机制示意图.png"/>
          <p:cNvPicPr>
            <a:picLocks noChangeAspect="1"/>
          </p:cNvPicPr>
          <p:nvPr/>
        </p:nvPicPr>
        <p:blipFill>
          <a:blip r:embed="rId4"/>
          <a:stretch>
            <a:fillRect/>
          </a:stretch>
        </p:blipFill>
        <p:spPr>
          <a:xfrm>
            <a:off x="6510527" y="3814810"/>
            <a:ext cx="4709159" cy="1404650"/>
          </a:xfrm>
          <a:prstGeom prst="rect">
            <a:avLst/>
          </a:prstGeom>
        </p:spPr>
      </p:pic>
      <p:sp>
        <p:nvSpPr>
          <p:cNvPr id="35" name="TextBox 34"/>
          <p:cNvSpPr txBox="1"/>
          <p:nvPr/>
        </p:nvSpPr>
        <p:spPr>
          <a:xfrm>
            <a:off x="6528816" y="5349240"/>
            <a:ext cx="4672583" cy="164592"/>
          </a:xfrm>
          <a:prstGeom prst="rect">
            <a:avLst/>
          </a:prstGeom>
          <a:noFill/>
        </p:spPr>
        <p:txBody>
          <a:bodyPr wrap="square" lIns="0" tIns="0" rIns="0" bIns="0" anchor="t">
            <a:spAutoFit/>
          </a:bodyPr>
          <a:lstStyle/>
          <a:p>
            <a:pPr algn="ctr">
              <a:lnSpc>
                <a:spcPct val="105000"/>
              </a:lnSpc>
            </a:pPr>
            <a:r>
              <a:rPr sz="840" b="0">
                <a:solidFill>
                  <a:srgbClr val="5B6773"/>
                </a:solidFill>
                <a:latin typeface="微软雅黑 Light"/>
              </a:rPr>
              <a:t>图神经网络为分子结构建模提供基础</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57884" y="301752"/>
            <a:ext cx="5669280" cy="411480"/>
          </a:xfrm>
          <a:prstGeom prst="rect">
            <a:avLst/>
          </a:prstGeom>
          <a:noFill/>
        </p:spPr>
        <p:txBody>
          <a:bodyPr wrap="square" lIns="0" tIns="0" rIns="0" bIns="0" anchor="t">
            <a:spAutoFit/>
          </a:bodyPr>
          <a:lstStyle/>
          <a:p>
            <a:pPr algn="l">
              <a:lnSpc>
                <a:spcPct val="105000"/>
              </a:lnSpc>
            </a:pPr>
            <a:r>
              <a:rPr sz="2000" b="1" dirty="0" err="1">
                <a:solidFill>
                  <a:srgbClr val="004E98"/>
                </a:solidFill>
                <a:latin typeface="方正正中黑简体"/>
              </a:rPr>
              <a:t>研究意义：提升准确性、可解释性与泛化能力</a:t>
            </a:r>
            <a:endParaRPr sz="2000" b="1" dirty="0">
              <a:solidFill>
                <a:srgbClr val="004E98"/>
              </a:solidFill>
              <a:latin typeface="方正正中黑简体"/>
            </a:endParaRPr>
          </a:p>
        </p:txBody>
      </p:sp>
      <p:sp>
        <p:nvSpPr>
          <p:cNvPr id="6" name="TextBox 5"/>
          <p:cNvSpPr txBox="1"/>
          <p:nvPr/>
        </p:nvSpPr>
        <p:spPr>
          <a:xfrm>
            <a:off x="7178040" y="338328"/>
            <a:ext cx="2880360" cy="274320"/>
          </a:xfrm>
          <a:prstGeom prst="rect">
            <a:avLst/>
          </a:prstGeom>
          <a:noFill/>
        </p:spPr>
        <p:txBody>
          <a:bodyPr wrap="square" lIns="0" tIns="0" rIns="0" bIns="0" anchor="t">
            <a:spAutoFit/>
          </a:bodyPr>
          <a:lstStyle/>
          <a:p>
            <a:pPr algn="r">
              <a:lnSpc>
                <a:spcPct val="105000"/>
              </a:lnSpc>
            </a:pPr>
            <a:r>
              <a:rPr sz="950" b="0">
                <a:solidFill>
                  <a:srgbClr val="347AA7"/>
                </a:solidFill>
                <a:latin typeface="微软雅黑 Light"/>
              </a:rPr>
              <a:t>第一部分 研究背景与意义</a:t>
            </a:r>
          </a:p>
        </p:txBody>
      </p:sp>
      <p:pic>
        <p:nvPicPr>
          <p:cNvPr id="7" name="Picture 6" descr="logo.png"/>
          <p:cNvPicPr>
            <a:picLocks noChangeAspect="1"/>
          </p:cNvPicPr>
          <p:nvPr/>
        </p:nvPicPr>
        <p:blipFill>
          <a:blip r:embed="rId2"/>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0" name="TextBox 9"/>
          <p:cNvSpPr txBox="1"/>
          <p:nvPr/>
        </p:nvSpPr>
        <p:spPr>
          <a:xfrm>
            <a:off x="11384280" y="6565392"/>
            <a:ext cx="384048" cy="256032"/>
          </a:xfrm>
          <a:prstGeom prst="rect">
            <a:avLst/>
          </a:prstGeom>
          <a:noFill/>
        </p:spPr>
        <p:txBody>
          <a:bodyPr wrap="square" lIns="0" tIns="0" rIns="0" bIns="0" anchor="ctr">
            <a:spAutoFit/>
          </a:bodyPr>
          <a:lstStyle/>
          <a:p>
            <a:pPr algn="r">
              <a:lnSpc>
                <a:spcPct val="105000"/>
              </a:lnSpc>
            </a:pPr>
            <a:r>
              <a:rPr sz="900" b="0">
                <a:solidFill>
                  <a:srgbClr val="FFFFFF"/>
                </a:solidFill>
                <a:latin typeface="微软雅黑 Light"/>
              </a:rPr>
              <a:t>05</a:t>
            </a:r>
          </a:p>
        </p:txBody>
      </p:sp>
      <p:sp>
        <p:nvSpPr>
          <p:cNvPr id="11" name="Rounded Rectangle 10"/>
          <p:cNvSpPr/>
          <p:nvPr/>
        </p:nvSpPr>
        <p:spPr>
          <a:xfrm>
            <a:off x="868680" y="1170432"/>
            <a:ext cx="2471165" cy="1207008"/>
          </a:xfrm>
          <a:prstGeom prst="round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7" y="1280160"/>
            <a:ext cx="292608" cy="182880"/>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1</a:t>
            </a:r>
          </a:p>
        </p:txBody>
      </p:sp>
      <p:sp>
        <p:nvSpPr>
          <p:cNvPr id="13" name="TextBox 12"/>
          <p:cNvSpPr txBox="1"/>
          <p:nvPr/>
        </p:nvSpPr>
        <p:spPr>
          <a:xfrm>
            <a:off x="1033271" y="1609344"/>
            <a:ext cx="2141982" cy="274320"/>
          </a:xfrm>
          <a:prstGeom prst="rect">
            <a:avLst/>
          </a:prstGeom>
          <a:noFill/>
        </p:spPr>
        <p:txBody>
          <a:bodyPr wrap="square" lIns="0" tIns="0" rIns="0" bIns="0" anchor="t">
            <a:spAutoFit/>
          </a:bodyPr>
          <a:lstStyle/>
          <a:p>
            <a:pPr algn="ctr">
              <a:lnSpc>
                <a:spcPct val="105000"/>
              </a:lnSpc>
            </a:pPr>
            <a:r>
              <a:rPr sz="1220" b="1">
                <a:solidFill>
                  <a:srgbClr val="FFFFFF"/>
                </a:solidFill>
                <a:latin typeface="微软雅黑 Light"/>
              </a:rPr>
              <a:t>候选分子</a:t>
            </a:r>
          </a:p>
        </p:txBody>
      </p:sp>
      <p:sp>
        <p:nvSpPr>
          <p:cNvPr id="14" name="TextBox 13"/>
          <p:cNvSpPr txBox="1"/>
          <p:nvPr/>
        </p:nvSpPr>
        <p:spPr>
          <a:xfrm>
            <a:off x="1033271" y="1956816"/>
            <a:ext cx="2141982" cy="347472"/>
          </a:xfrm>
          <a:prstGeom prst="rect">
            <a:avLst/>
          </a:prstGeom>
          <a:noFill/>
        </p:spPr>
        <p:txBody>
          <a:bodyPr wrap="square" lIns="0" tIns="0" rIns="0" bIns="0" anchor="t">
            <a:spAutoFit/>
          </a:bodyPr>
          <a:lstStyle/>
          <a:p>
            <a:pPr algn="ctr">
              <a:lnSpc>
                <a:spcPct val="105000"/>
              </a:lnSpc>
            </a:pPr>
            <a:r>
              <a:rPr sz="880" b="0">
                <a:solidFill>
                  <a:srgbClr val="EAF3FA"/>
                </a:solidFill>
                <a:latin typeface="微软雅黑 Light"/>
              </a:rPr>
              <a:t>海量化合物库</a:t>
            </a:r>
          </a:p>
        </p:txBody>
      </p:sp>
      <p:sp>
        <p:nvSpPr>
          <p:cNvPr id="15" name="Rounded Rectangle 14"/>
          <p:cNvSpPr/>
          <p:nvPr/>
        </p:nvSpPr>
        <p:spPr>
          <a:xfrm>
            <a:off x="3504437" y="1170432"/>
            <a:ext cx="2471165" cy="1207008"/>
          </a:xfrm>
          <a:prstGeom prst="round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14165" y="1280160"/>
            <a:ext cx="292608" cy="182880"/>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2</a:t>
            </a:r>
          </a:p>
        </p:txBody>
      </p:sp>
      <p:sp>
        <p:nvSpPr>
          <p:cNvPr id="17" name="TextBox 16"/>
          <p:cNvSpPr txBox="1"/>
          <p:nvPr/>
        </p:nvSpPr>
        <p:spPr>
          <a:xfrm>
            <a:off x="3669029" y="1609344"/>
            <a:ext cx="2141982" cy="274320"/>
          </a:xfrm>
          <a:prstGeom prst="rect">
            <a:avLst/>
          </a:prstGeom>
          <a:noFill/>
        </p:spPr>
        <p:txBody>
          <a:bodyPr wrap="square" lIns="0" tIns="0" rIns="0" bIns="0" anchor="t">
            <a:spAutoFit/>
          </a:bodyPr>
          <a:lstStyle/>
          <a:p>
            <a:pPr algn="ctr">
              <a:lnSpc>
                <a:spcPct val="105000"/>
              </a:lnSpc>
            </a:pPr>
            <a:r>
              <a:rPr sz="1220" b="1">
                <a:solidFill>
                  <a:srgbClr val="FFFFFF"/>
                </a:solidFill>
                <a:latin typeface="微软雅黑 Light"/>
              </a:rPr>
              <a:t>多模态表征</a:t>
            </a:r>
          </a:p>
        </p:txBody>
      </p:sp>
      <p:sp>
        <p:nvSpPr>
          <p:cNvPr id="18" name="TextBox 17"/>
          <p:cNvSpPr txBox="1"/>
          <p:nvPr/>
        </p:nvSpPr>
        <p:spPr>
          <a:xfrm>
            <a:off x="3669029" y="1956816"/>
            <a:ext cx="2141982" cy="347472"/>
          </a:xfrm>
          <a:prstGeom prst="rect">
            <a:avLst/>
          </a:prstGeom>
          <a:noFill/>
        </p:spPr>
        <p:txBody>
          <a:bodyPr wrap="square" lIns="0" tIns="0" rIns="0" bIns="0" anchor="t">
            <a:spAutoFit/>
          </a:bodyPr>
          <a:lstStyle/>
          <a:p>
            <a:pPr algn="ctr">
              <a:lnSpc>
                <a:spcPct val="105000"/>
              </a:lnSpc>
            </a:pPr>
            <a:r>
              <a:rPr sz="880" b="0">
                <a:solidFill>
                  <a:srgbClr val="EAF3FA"/>
                </a:solidFill>
                <a:latin typeface="微软雅黑 Light"/>
              </a:rPr>
              <a:t>结构、序列、指纹、文本</a:t>
            </a:r>
          </a:p>
        </p:txBody>
      </p:sp>
      <p:sp>
        <p:nvSpPr>
          <p:cNvPr id="19" name="Rounded Rectangle 18"/>
          <p:cNvSpPr/>
          <p:nvPr/>
        </p:nvSpPr>
        <p:spPr>
          <a:xfrm>
            <a:off x="6140196" y="1170432"/>
            <a:ext cx="2471165" cy="1207008"/>
          </a:xfrm>
          <a:prstGeom prst="round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249924" y="1280160"/>
            <a:ext cx="292608" cy="182880"/>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3</a:t>
            </a:r>
          </a:p>
        </p:txBody>
      </p:sp>
      <p:sp>
        <p:nvSpPr>
          <p:cNvPr id="21" name="TextBox 20"/>
          <p:cNvSpPr txBox="1"/>
          <p:nvPr/>
        </p:nvSpPr>
        <p:spPr>
          <a:xfrm>
            <a:off x="6304788" y="1609344"/>
            <a:ext cx="2141982" cy="274320"/>
          </a:xfrm>
          <a:prstGeom prst="rect">
            <a:avLst/>
          </a:prstGeom>
          <a:noFill/>
        </p:spPr>
        <p:txBody>
          <a:bodyPr wrap="square" lIns="0" tIns="0" rIns="0" bIns="0" anchor="t">
            <a:spAutoFit/>
          </a:bodyPr>
          <a:lstStyle/>
          <a:p>
            <a:pPr algn="ctr">
              <a:lnSpc>
                <a:spcPct val="105000"/>
              </a:lnSpc>
            </a:pPr>
            <a:r>
              <a:rPr sz="1220" b="1">
                <a:solidFill>
                  <a:srgbClr val="FFFFFF"/>
                </a:solidFill>
                <a:latin typeface="微软雅黑 Light"/>
              </a:rPr>
              <a:t>性质预测</a:t>
            </a:r>
          </a:p>
        </p:txBody>
      </p:sp>
      <p:sp>
        <p:nvSpPr>
          <p:cNvPr id="22" name="TextBox 21"/>
          <p:cNvSpPr txBox="1"/>
          <p:nvPr/>
        </p:nvSpPr>
        <p:spPr>
          <a:xfrm>
            <a:off x="6304788" y="1956816"/>
            <a:ext cx="2141982" cy="347472"/>
          </a:xfrm>
          <a:prstGeom prst="rect">
            <a:avLst/>
          </a:prstGeom>
          <a:noFill/>
        </p:spPr>
        <p:txBody>
          <a:bodyPr wrap="square" lIns="0" tIns="0" rIns="0" bIns="0" anchor="t">
            <a:spAutoFit/>
          </a:bodyPr>
          <a:lstStyle/>
          <a:p>
            <a:pPr algn="ctr">
              <a:lnSpc>
                <a:spcPct val="105000"/>
              </a:lnSpc>
            </a:pPr>
            <a:r>
              <a:rPr sz="880" b="0">
                <a:solidFill>
                  <a:srgbClr val="EAF3FA"/>
                </a:solidFill>
                <a:latin typeface="微软雅黑 Light"/>
              </a:rPr>
              <a:t>分类与回归任务</a:t>
            </a:r>
          </a:p>
        </p:txBody>
      </p:sp>
      <p:sp>
        <p:nvSpPr>
          <p:cNvPr id="23" name="Rounded Rectangle 22"/>
          <p:cNvSpPr/>
          <p:nvPr/>
        </p:nvSpPr>
        <p:spPr>
          <a:xfrm>
            <a:off x="8775953" y="1170432"/>
            <a:ext cx="2471165" cy="1207008"/>
          </a:xfrm>
          <a:prstGeom prst="roundRect">
            <a:avLst/>
          </a:prstGeom>
          <a:solidFill>
            <a:srgbClr val="163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885681" y="1280160"/>
            <a:ext cx="292608" cy="182880"/>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4</a:t>
            </a:r>
          </a:p>
        </p:txBody>
      </p:sp>
      <p:sp>
        <p:nvSpPr>
          <p:cNvPr id="25" name="TextBox 24"/>
          <p:cNvSpPr txBox="1"/>
          <p:nvPr/>
        </p:nvSpPr>
        <p:spPr>
          <a:xfrm>
            <a:off x="8940545" y="1609344"/>
            <a:ext cx="2141982" cy="274320"/>
          </a:xfrm>
          <a:prstGeom prst="rect">
            <a:avLst/>
          </a:prstGeom>
          <a:noFill/>
        </p:spPr>
        <p:txBody>
          <a:bodyPr wrap="square" lIns="0" tIns="0" rIns="0" bIns="0" anchor="t">
            <a:spAutoFit/>
          </a:bodyPr>
          <a:lstStyle/>
          <a:p>
            <a:pPr algn="ctr">
              <a:lnSpc>
                <a:spcPct val="105000"/>
              </a:lnSpc>
            </a:pPr>
            <a:r>
              <a:rPr sz="1220" b="1">
                <a:solidFill>
                  <a:srgbClr val="FFFFFF"/>
                </a:solidFill>
                <a:latin typeface="微软雅黑 Light"/>
              </a:rPr>
              <a:t>早期决策</a:t>
            </a:r>
          </a:p>
        </p:txBody>
      </p:sp>
      <p:sp>
        <p:nvSpPr>
          <p:cNvPr id="26" name="TextBox 25"/>
          <p:cNvSpPr txBox="1"/>
          <p:nvPr/>
        </p:nvSpPr>
        <p:spPr>
          <a:xfrm>
            <a:off x="8940545" y="1956816"/>
            <a:ext cx="2141982" cy="347472"/>
          </a:xfrm>
          <a:prstGeom prst="rect">
            <a:avLst/>
          </a:prstGeom>
          <a:noFill/>
        </p:spPr>
        <p:txBody>
          <a:bodyPr wrap="square" lIns="0" tIns="0" rIns="0" bIns="0" anchor="t">
            <a:spAutoFit/>
          </a:bodyPr>
          <a:lstStyle/>
          <a:p>
            <a:pPr algn="ctr">
              <a:lnSpc>
                <a:spcPct val="105000"/>
              </a:lnSpc>
            </a:pPr>
            <a:r>
              <a:rPr sz="880" b="0">
                <a:solidFill>
                  <a:srgbClr val="EAF3FA"/>
                </a:solidFill>
                <a:latin typeface="微软雅黑 Light"/>
              </a:rPr>
              <a:t>风险筛除与优先级排序</a:t>
            </a:r>
          </a:p>
        </p:txBody>
      </p:sp>
      <p:sp>
        <p:nvSpPr>
          <p:cNvPr id="27" name="Rounded Rectangle 26"/>
          <p:cNvSpPr/>
          <p:nvPr/>
        </p:nvSpPr>
        <p:spPr>
          <a:xfrm>
            <a:off x="868680" y="2999232"/>
            <a:ext cx="3182112" cy="111556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868680" y="2999232"/>
            <a:ext cx="91440" cy="111556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1069848" y="3200400"/>
            <a:ext cx="420624" cy="420624"/>
          </a:xfrm>
          <a:prstGeom prst="ellipse">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69848" y="3273551"/>
            <a:ext cx="420624" cy="164592"/>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01</a:t>
            </a:r>
          </a:p>
        </p:txBody>
      </p:sp>
      <p:sp>
        <p:nvSpPr>
          <p:cNvPr id="31" name="TextBox 30"/>
          <p:cNvSpPr txBox="1"/>
          <p:nvPr/>
        </p:nvSpPr>
        <p:spPr>
          <a:xfrm>
            <a:off x="1636776" y="3200400"/>
            <a:ext cx="2176272"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准确性</a:t>
            </a:r>
          </a:p>
        </p:txBody>
      </p:sp>
      <p:sp>
        <p:nvSpPr>
          <p:cNvPr id="32" name="TextBox 31"/>
          <p:cNvSpPr txBox="1"/>
          <p:nvPr/>
        </p:nvSpPr>
        <p:spPr>
          <a:xfrm>
            <a:off x="1179576" y="3621024"/>
            <a:ext cx="2633472" cy="402335"/>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充分利用分子多视角信息，弥补单一模态对复杂结构与药理语义表达不足的问题。</a:t>
            </a:r>
          </a:p>
        </p:txBody>
      </p:sp>
      <p:sp>
        <p:nvSpPr>
          <p:cNvPr id="33" name="Rounded Rectangle 32"/>
          <p:cNvSpPr/>
          <p:nvPr/>
        </p:nvSpPr>
        <p:spPr>
          <a:xfrm>
            <a:off x="4480560" y="2999232"/>
            <a:ext cx="3182112" cy="111556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4480560" y="2999232"/>
            <a:ext cx="91440" cy="1115568"/>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4681728" y="3200400"/>
            <a:ext cx="420624" cy="420624"/>
          </a:xfrm>
          <a:prstGeom prst="ellipse">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681728" y="3273551"/>
            <a:ext cx="420624" cy="164592"/>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02</a:t>
            </a:r>
          </a:p>
        </p:txBody>
      </p:sp>
      <p:sp>
        <p:nvSpPr>
          <p:cNvPr id="37" name="TextBox 36"/>
          <p:cNvSpPr txBox="1"/>
          <p:nvPr/>
        </p:nvSpPr>
        <p:spPr>
          <a:xfrm>
            <a:off x="5248656" y="3200400"/>
            <a:ext cx="2176272"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可解释性</a:t>
            </a:r>
          </a:p>
        </p:txBody>
      </p:sp>
      <p:sp>
        <p:nvSpPr>
          <p:cNvPr id="38" name="TextBox 37"/>
          <p:cNvSpPr txBox="1"/>
          <p:nvPr/>
        </p:nvSpPr>
        <p:spPr>
          <a:xfrm>
            <a:off x="4791456" y="3621024"/>
            <a:ext cx="2633472" cy="402335"/>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将大语言模型的推理能力转化为显式逻辑文本，使预测过程更容易被理解与审计。</a:t>
            </a:r>
          </a:p>
        </p:txBody>
      </p:sp>
      <p:sp>
        <p:nvSpPr>
          <p:cNvPr id="39" name="Rounded Rectangle 38"/>
          <p:cNvSpPr/>
          <p:nvPr/>
        </p:nvSpPr>
        <p:spPr>
          <a:xfrm>
            <a:off x="8092440" y="2999232"/>
            <a:ext cx="3182112" cy="111556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8092440" y="2999232"/>
            <a:ext cx="91440" cy="1115568"/>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8293608" y="3200400"/>
            <a:ext cx="420624" cy="420624"/>
          </a:xfrm>
          <a:prstGeom prst="ellipse">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293608" y="3273551"/>
            <a:ext cx="420624" cy="164592"/>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03</a:t>
            </a:r>
          </a:p>
        </p:txBody>
      </p:sp>
      <p:sp>
        <p:nvSpPr>
          <p:cNvPr id="43" name="TextBox 42"/>
          <p:cNvSpPr txBox="1"/>
          <p:nvPr/>
        </p:nvSpPr>
        <p:spPr>
          <a:xfrm>
            <a:off x="8860536" y="3200400"/>
            <a:ext cx="2176272"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泛化能力</a:t>
            </a:r>
          </a:p>
        </p:txBody>
      </p:sp>
      <p:sp>
        <p:nvSpPr>
          <p:cNvPr id="44" name="TextBox 43"/>
          <p:cNvSpPr txBox="1"/>
          <p:nvPr/>
        </p:nvSpPr>
        <p:spPr>
          <a:xfrm>
            <a:off x="8403336" y="3621024"/>
            <a:ext cx="2633472" cy="402335"/>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通过知识增强与图中心对齐降低文本噪声和模态冲突，提升跨数据集稳定表现。</a:t>
            </a:r>
          </a:p>
        </p:txBody>
      </p:sp>
      <p:sp>
        <p:nvSpPr>
          <p:cNvPr id="45" name="TextBox 44"/>
          <p:cNvSpPr txBox="1"/>
          <p:nvPr/>
        </p:nvSpPr>
        <p:spPr>
          <a:xfrm>
            <a:off x="1051560" y="5047488"/>
            <a:ext cx="9921240" cy="457200"/>
          </a:xfrm>
          <a:prstGeom prst="rect">
            <a:avLst/>
          </a:prstGeom>
          <a:noFill/>
        </p:spPr>
        <p:txBody>
          <a:bodyPr wrap="square" lIns="0" tIns="0" rIns="0" bIns="0" anchor="t">
            <a:spAutoFit/>
          </a:bodyPr>
          <a:lstStyle/>
          <a:p>
            <a:pPr algn="ctr">
              <a:lnSpc>
                <a:spcPct val="105000"/>
              </a:lnSpc>
            </a:pPr>
            <a:r>
              <a:rPr sz="1650" b="1">
                <a:solidFill>
                  <a:srgbClr val="004E98"/>
                </a:solidFill>
                <a:latin typeface="Microsoft YaHei"/>
              </a:rPr>
              <a:t>本文围绕多模态分子性质预测，提出两种方法：CoT-CMP 侧重可解释图文融合，KGAMA 侧重知识增强与稳健对齐。</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91259" y="301752"/>
            <a:ext cx="5669280" cy="411480"/>
          </a:xfrm>
          <a:prstGeom prst="rect">
            <a:avLst/>
          </a:prstGeom>
          <a:noFill/>
        </p:spPr>
        <p:txBody>
          <a:bodyPr wrap="square" lIns="0" tIns="0" rIns="0" bIns="0" anchor="t">
            <a:spAutoFit/>
          </a:bodyPr>
          <a:lstStyle/>
          <a:p>
            <a:pPr algn="l">
              <a:lnSpc>
                <a:spcPct val="105000"/>
              </a:lnSpc>
            </a:pPr>
            <a:r>
              <a:rPr sz="2000" b="1" dirty="0" err="1">
                <a:solidFill>
                  <a:srgbClr val="004E98"/>
                </a:solidFill>
                <a:latin typeface="方正正中黑简体"/>
              </a:rPr>
              <a:t>研究现状：从单模态建模到多模态融合</a:t>
            </a:r>
            <a:endParaRPr sz="2000" b="1" dirty="0">
              <a:solidFill>
                <a:srgbClr val="004E98"/>
              </a:solidFill>
              <a:latin typeface="方正正中黑简体"/>
            </a:endParaRPr>
          </a:p>
        </p:txBody>
      </p:sp>
      <p:sp>
        <p:nvSpPr>
          <p:cNvPr id="6" name="TextBox 5"/>
          <p:cNvSpPr txBox="1"/>
          <p:nvPr/>
        </p:nvSpPr>
        <p:spPr>
          <a:xfrm>
            <a:off x="7178040" y="338328"/>
            <a:ext cx="2880360" cy="274320"/>
          </a:xfrm>
          <a:prstGeom prst="rect">
            <a:avLst/>
          </a:prstGeom>
          <a:noFill/>
        </p:spPr>
        <p:txBody>
          <a:bodyPr wrap="square" lIns="0" tIns="0" rIns="0" bIns="0" anchor="t">
            <a:spAutoFit/>
          </a:bodyPr>
          <a:lstStyle/>
          <a:p>
            <a:pPr algn="r">
              <a:lnSpc>
                <a:spcPct val="105000"/>
              </a:lnSpc>
            </a:pPr>
            <a:r>
              <a:rPr sz="950" b="0">
                <a:solidFill>
                  <a:srgbClr val="347AA7"/>
                </a:solidFill>
                <a:latin typeface="微软雅黑 Light"/>
              </a:rPr>
              <a:t>第二部分 研究现状</a:t>
            </a:r>
          </a:p>
        </p:txBody>
      </p:sp>
      <p:pic>
        <p:nvPicPr>
          <p:cNvPr id="7" name="Picture 6" descr="logo.png"/>
          <p:cNvPicPr>
            <a:picLocks noChangeAspect="1"/>
          </p:cNvPicPr>
          <p:nvPr/>
        </p:nvPicPr>
        <p:blipFill>
          <a:blip r:embed="rId2"/>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0" name="TextBox 9"/>
          <p:cNvSpPr txBox="1"/>
          <p:nvPr/>
        </p:nvSpPr>
        <p:spPr>
          <a:xfrm>
            <a:off x="11384280" y="6565392"/>
            <a:ext cx="384048" cy="256032"/>
          </a:xfrm>
          <a:prstGeom prst="rect">
            <a:avLst/>
          </a:prstGeom>
          <a:noFill/>
        </p:spPr>
        <p:txBody>
          <a:bodyPr wrap="square" lIns="0" tIns="0" rIns="0" bIns="0" anchor="ctr">
            <a:spAutoFit/>
          </a:bodyPr>
          <a:lstStyle/>
          <a:p>
            <a:pPr algn="r">
              <a:lnSpc>
                <a:spcPct val="105000"/>
              </a:lnSpc>
            </a:pPr>
            <a:r>
              <a:rPr sz="900" b="0">
                <a:solidFill>
                  <a:srgbClr val="FFFFFF"/>
                </a:solidFill>
                <a:latin typeface="微软雅黑 Light"/>
              </a:rPr>
              <a:t>07</a:t>
            </a:r>
          </a:p>
        </p:txBody>
      </p:sp>
      <p:sp>
        <p:nvSpPr>
          <p:cNvPr id="11" name="Rounded Rectangle 10"/>
          <p:cNvSpPr/>
          <p:nvPr/>
        </p:nvSpPr>
        <p:spPr>
          <a:xfrm>
            <a:off x="868680" y="1115568"/>
            <a:ext cx="3246120" cy="193852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图2-3 图卷积神经网络结构示意图.png"/>
          <p:cNvPicPr>
            <a:picLocks noChangeAspect="1"/>
          </p:cNvPicPr>
          <p:nvPr/>
        </p:nvPicPr>
        <p:blipFill>
          <a:blip r:embed="rId3"/>
          <a:stretch>
            <a:fillRect/>
          </a:stretch>
        </p:blipFill>
        <p:spPr>
          <a:xfrm>
            <a:off x="1391259" y="1207008"/>
            <a:ext cx="2200960" cy="1517904"/>
          </a:xfrm>
          <a:prstGeom prst="rect">
            <a:avLst/>
          </a:prstGeom>
        </p:spPr>
      </p:pic>
      <p:sp>
        <p:nvSpPr>
          <p:cNvPr id="13" name="TextBox 12"/>
          <p:cNvSpPr txBox="1"/>
          <p:nvPr/>
        </p:nvSpPr>
        <p:spPr>
          <a:xfrm>
            <a:off x="978407" y="2807208"/>
            <a:ext cx="3026663" cy="164592"/>
          </a:xfrm>
          <a:prstGeom prst="rect">
            <a:avLst/>
          </a:prstGeom>
          <a:noFill/>
        </p:spPr>
        <p:txBody>
          <a:bodyPr wrap="square" lIns="0" tIns="0" rIns="0" bIns="0" anchor="t">
            <a:spAutoFit/>
          </a:bodyPr>
          <a:lstStyle/>
          <a:p>
            <a:pPr algn="ctr">
              <a:lnSpc>
                <a:spcPct val="105000"/>
              </a:lnSpc>
            </a:pPr>
            <a:r>
              <a:rPr sz="840" b="0">
                <a:solidFill>
                  <a:srgbClr val="5B6773"/>
                </a:solidFill>
                <a:latin typeface="微软雅黑 Light"/>
              </a:rPr>
              <a:t>图神经网络：结构拓扑建模</a:t>
            </a:r>
          </a:p>
        </p:txBody>
      </p:sp>
      <p:sp>
        <p:nvSpPr>
          <p:cNvPr id="14" name="Rounded Rectangle 13"/>
          <p:cNvSpPr/>
          <p:nvPr/>
        </p:nvSpPr>
        <p:spPr>
          <a:xfrm>
            <a:off x="4462272" y="1115568"/>
            <a:ext cx="3246120" cy="193852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图2-4 Transformer架构.png"/>
          <p:cNvPicPr>
            <a:picLocks noChangeAspect="1"/>
          </p:cNvPicPr>
          <p:nvPr/>
        </p:nvPicPr>
        <p:blipFill>
          <a:blip r:embed="rId4"/>
          <a:stretch>
            <a:fillRect/>
          </a:stretch>
        </p:blipFill>
        <p:spPr>
          <a:xfrm>
            <a:off x="4878860" y="1207008"/>
            <a:ext cx="2412943" cy="1517904"/>
          </a:xfrm>
          <a:prstGeom prst="rect">
            <a:avLst/>
          </a:prstGeom>
        </p:spPr>
      </p:pic>
      <p:sp>
        <p:nvSpPr>
          <p:cNvPr id="16" name="TextBox 15"/>
          <p:cNvSpPr txBox="1"/>
          <p:nvPr/>
        </p:nvSpPr>
        <p:spPr>
          <a:xfrm>
            <a:off x="4572000" y="2807208"/>
            <a:ext cx="3026663" cy="164592"/>
          </a:xfrm>
          <a:prstGeom prst="rect">
            <a:avLst/>
          </a:prstGeom>
          <a:noFill/>
        </p:spPr>
        <p:txBody>
          <a:bodyPr wrap="square" lIns="0" tIns="0" rIns="0" bIns="0" anchor="t">
            <a:spAutoFit/>
          </a:bodyPr>
          <a:lstStyle/>
          <a:p>
            <a:pPr algn="ctr">
              <a:lnSpc>
                <a:spcPct val="105000"/>
              </a:lnSpc>
            </a:pPr>
            <a:r>
              <a:rPr sz="840" b="0">
                <a:solidFill>
                  <a:srgbClr val="5B6773"/>
                </a:solidFill>
                <a:latin typeface="微软雅黑 Light"/>
              </a:rPr>
              <a:t>Transformer：序列与文本建模</a:t>
            </a:r>
          </a:p>
        </p:txBody>
      </p:sp>
      <p:sp>
        <p:nvSpPr>
          <p:cNvPr id="17" name="Rounded Rectangle 16"/>
          <p:cNvSpPr/>
          <p:nvPr/>
        </p:nvSpPr>
        <p:spPr>
          <a:xfrm>
            <a:off x="8065008" y="1115568"/>
            <a:ext cx="3246120" cy="193852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LoRA技术原理示意图.png"/>
          <p:cNvPicPr>
            <a:picLocks noChangeAspect="1"/>
          </p:cNvPicPr>
          <p:nvPr/>
        </p:nvPicPr>
        <p:blipFill>
          <a:blip r:embed="rId5"/>
          <a:stretch>
            <a:fillRect/>
          </a:stretch>
        </p:blipFill>
        <p:spPr>
          <a:xfrm>
            <a:off x="8872897" y="1207008"/>
            <a:ext cx="1630341" cy="1517904"/>
          </a:xfrm>
          <a:prstGeom prst="rect">
            <a:avLst/>
          </a:prstGeom>
        </p:spPr>
      </p:pic>
      <p:sp>
        <p:nvSpPr>
          <p:cNvPr id="19" name="TextBox 18"/>
          <p:cNvSpPr txBox="1"/>
          <p:nvPr/>
        </p:nvSpPr>
        <p:spPr>
          <a:xfrm>
            <a:off x="8174736" y="2807208"/>
            <a:ext cx="3026663" cy="164592"/>
          </a:xfrm>
          <a:prstGeom prst="rect">
            <a:avLst/>
          </a:prstGeom>
          <a:noFill/>
        </p:spPr>
        <p:txBody>
          <a:bodyPr wrap="square" lIns="0" tIns="0" rIns="0" bIns="0" anchor="t">
            <a:spAutoFit/>
          </a:bodyPr>
          <a:lstStyle/>
          <a:p>
            <a:pPr algn="ctr">
              <a:lnSpc>
                <a:spcPct val="105000"/>
              </a:lnSpc>
            </a:pPr>
            <a:r>
              <a:rPr sz="840" b="0">
                <a:solidFill>
                  <a:srgbClr val="5B6773"/>
                </a:solidFill>
                <a:latin typeface="微软雅黑 Light"/>
              </a:rPr>
              <a:t>LoRA：大模型高效适配</a:t>
            </a:r>
          </a:p>
        </p:txBody>
      </p:sp>
      <p:sp>
        <p:nvSpPr>
          <p:cNvPr id="20" name="Rounded Rectangle 19"/>
          <p:cNvSpPr/>
          <p:nvPr/>
        </p:nvSpPr>
        <p:spPr>
          <a:xfrm>
            <a:off x="868680" y="3520440"/>
            <a:ext cx="3200400" cy="1170432"/>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68680" y="3520440"/>
            <a:ext cx="91440" cy="1170432"/>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161288" y="3721608"/>
            <a:ext cx="2670048"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单模态方法</a:t>
            </a:r>
          </a:p>
        </p:txBody>
      </p:sp>
      <p:sp>
        <p:nvSpPr>
          <p:cNvPr id="23" name="TextBox 22"/>
          <p:cNvSpPr txBox="1"/>
          <p:nvPr/>
        </p:nvSpPr>
        <p:spPr>
          <a:xfrm>
            <a:off x="1179576" y="4142232"/>
            <a:ext cx="2651760" cy="457200"/>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基于分子图、SMILES、指纹或理化描述分别建模，结构清晰但信息来源有限。</a:t>
            </a:r>
          </a:p>
        </p:txBody>
      </p:sp>
      <p:sp>
        <p:nvSpPr>
          <p:cNvPr id="24" name="Rounded Rectangle 23"/>
          <p:cNvSpPr/>
          <p:nvPr/>
        </p:nvSpPr>
        <p:spPr>
          <a:xfrm>
            <a:off x="4498848" y="3520440"/>
            <a:ext cx="3200400" cy="1170432"/>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498848" y="3520440"/>
            <a:ext cx="91440" cy="1170432"/>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791456" y="3721608"/>
            <a:ext cx="2670048"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多模态方法</a:t>
            </a:r>
          </a:p>
        </p:txBody>
      </p:sp>
      <p:sp>
        <p:nvSpPr>
          <p:cNvPr id="27" name="TextBox 26"/>
          <p:cNvSpPr txBox="1"/>
          <p:nvPr/>
        </p:nvSpPr>
        <p:spPr>
          <a:xfrm>
            <a:off x="4809744" y="4142232"/>
            <a:ext cx="2651760" cy="457200"/>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将图、序列、文本等信息联合学习，能补充分子结构与药理语义之间的信息缺口。</a:t>
            </a:r>
          </a:p>
        </p:txBody>
      </p:sp>
      <p:sp>
        <p:nvSpPr>
          <p:cNvPr id="28" name="Rounded Rectangle 27"/>
          <p:cNvSpPr/>
          <p:nvPr/>
        </p:nvSpPr>
        <p:spPr>
          <a:xfrm>
            <a:off x="8119872" y="3520440"/>
            <a:ext cx="3200400" cy="1170432"/>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8119872" y="3520440"/>
            <a:ext cx="91440" cy="117043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412480" y="3721608"/>
            <a:ext cx="2670048"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大模型方法</a:t>
            </a:r>
          </a:p>
        </p:txBody>
      </p:sp>
      <p:sp>
        <p:nvSpPr>
          <p:cNvPr id="31" name="TextBox 30"/>
          <p:cNvSpPr txBox="1"/>
          <p:nvPr/>
        </p:nvSpPr>
        <p:spPr>
          <a:xfrm>
            <a:off x="8430768" y="4142232"/>
            <a:ext cx="2651760" cy="457200"/>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LLM 具备领域知识和文本生成能力，但直接用于性质预测时仍需解决幻觉与解释约束问题。</a:t>
            </a:r>
          </a:p>
        </p:txBody>
      </p:sp>
      <p:sp>
        <p:nvSpPr>
          <p:cNvPr id="32" name="TextBox 31"/>
          <p:cNvSpPr txBox="1"/>
          <p:nvPr/>
        </p:nvSpPr>
        <p:spPr>
          <a:xfrm>
            <a:off x="914400" y="5212080"/>
            <a:ext cx="10332720" cy="347472"/>
          </a:xfrm>
          <a:prstGeom prst="rect">
            <a:avLst/>
          </a:prstGeom>
          <a:noFill/>
        </p:spPr>
        <p:txBody>
          <a:bodyPr wrap="square" lIns="0" tIns="0" rIns="0" bIns="0" anchor="t">
            <a:spAutoFit/>
          </a:bodyPr>
          <a:lstStyle/>
          <a:p>
            <a:pPr algn="ctr">
              <a:lnSpc>
                <a:spcPct val="105000"/>
              </a:lnSpc>
            </a:pPr>
            <a:r>
              <a:rPr sz="1500" b="1">
                <a:solidFill>
                  <a:srgbClr val="004E98"/>
                </a:solidFill>
                <a:latin typeface="微软雅黑 Light"/>
              </a:rPr>
              <a:t>总体趋势：从“只看结构”逐步走向“结构 + 语义 + 先验知识”的综合表征学习。</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57884" y="269748"/>
            <a:ext cx="5669280" cy="411480"/>
          </a:xfrm>
          <a:prstGeom prst="rect">
            <a:avLst/>
          </a:prstGeom>
          <a:noFill/>
        </p:spPr>
        <p:txBody>
          <a:bodyPr wrap="square" lIns="0" tIns="0" rIns="0" bIns="0" anchor="t">
            <a:spAutoFit/>
          </a:bodyPr>
          <a:lstStyle/>
          <a:p>
            <a:pPr algn="l">
              <a:lnSpc>
                <a:spcPct val="105000"/>
              </a:lnSpc>
            </a:pPr>
            <a:r>
              <a:rPr sz="2000" b="1" dirty="0" err="1">
                <a:solidFill>
                  <a:srgbClr val="004E98"/>
                </a:solidFill>
                <a:latin typeface="方正正中黑简体"/>
              </a:rPr>
              <a:t>当前研究不足</a:t>
            </a:r>
            <a:endParaRPr sz="2000" b="1" dirty="0">
              <a:solidFill>
                <a:srgbClr val="004E98"/>
              </a:solidFill>
              <a:latin typeface="方正正中黑简体"/>
            </a:endParaRPr>
          </a:p>
        </p:txBody>
      </p:sp>
      <p:sp>
        <p:nvSpPr>
          <p:cNvPr id="6" name="TextBox 5"/>
          <p:cNvSpPr txBox="1"/>
          <p:nvPr/>
        </p:nvSpPr>
        <p:spPr>
          <a:xfrm>
            <a:off x="7178040" y="338328"/>
            <a:ext cx="2880360" cy="274320"/>
          </a:xfrm>
          <a:prstGeom prst="rect">
            <a:avLst/>
          </a:prstGeom>
          <a:noFill/>
        </p:spPr>
        <p:txBody>
          <a:bodyPr wrap="square" lIns="0" tIns="0" rIns="0" bIns="0" anchor="t">
            <a:spAutoFit/>
          </a:bodyPr>
          <a:lstStyle/>
          <a:p>
            <a:pPr algn="r">
              <a:lnSpc>
                <a:spcPct val="105000"/>
              </a:lnSpc>
            </a:pPr>
            <a:r>
              <a:rPr sz="950" b="0">
                <a:solidFill>
                  <a:srgbClr val="347AA7"/>
                </a:solidFill>
                <a:latin typeface="微软雅黑 Light"/>
              </a:rPr>
              <a:t>第二部分 研究现状</a:t>
            </a:r>
          </a:p>
        </p:txBody>
      </p:sp>
      <p:pic>
        <p:nvPicPr>
          <p:cNvPr id="7" name="Picture 6" descr="logo.png"/>
          <p:cNvPicPr>
            <a:picLocks noChangeAspect="1"/>
          </p:cNvPicPr>
          <p:nvPr/>
        </p:nvPicPr>
        <p:blipFill>
          <a:blip r:embed="rId2"/>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0" name="TextBox 9"/>
          <p:cNvSpPr txBox="1"/>
          <p:nvPr/>
        </p:nvSpPr>
        <p:spPr>
          <a:xfrm>
            <a:off x="11384280" y="6565392"/>
            <a:ext cx="384048" cy="256032"/>
          </a:xfrm>
          <a:prstGeom prst="rect">
            <a:avLst/>
          </a:prstGeom>
          <a:noFill/>
        </p:spPr>
        <p:txBody>
          <a:bodyPr wrap="square" lIns="0" tIns="0" rIns="0" bIns="0" anchor="ctr">
            <a:spAutoFit/>
          </a:bodyPr>
          <a:lstStyle/>
          <a:p>
            <a:pPr algn="r">
              <a:lnSpc>
                <a:spcPct val="105000"/>
              </a:lnSpc>
            </a:pPr>
            <a:r>
              <a:rPr sz="900" b="0">
                <a:solidFill>
                  <a:srgbClr val="FFFFFF"/>
                </a:solidFill>
                <a:latin typeface="微软雅黑 Light"/>
              </a:rPr>
              <a:t>08</a:t>
            </a:r>
          </a:p>
        </p:txBody>
      </p:sp>
      <p:sp>
        <p:nvSpPr>
          <p:cNvPr id="11" name="Rounded Rectangle 10"/>
          <p:cNvSpPr/>
          <p:nvPr/>
        </p:nvSpPr>
        <p:spPr>
          <a:xfrm>
            <a:off x="868680" y="1207008"/>
            <a:ext cx="3246120" cy="148132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868680" y="1207008"/>
            <a:ext cx="91440" cy="148132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069848" y="1408176"/>
            <a:ext cx="420624" cy="420624"/>
          </a:xfrm>
          <a:prstGeom prst="ellipse">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69848" y="1481328"/>
            <a:ext cx="420624" cy="164592"/>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01</a:t>
            </a:r>
          </a:p>
        </p:txBody>
      </p:sp>
      <p:sp>
        <p:nvSpPr>
          <p:cNvPr id="15" name="TextBox 14"/>
          <p:cNvSpPr txBox="1"/>
          <p:nvPr/>
        </p:nvSpPr>
        <p:spPr>
          <a:xfrm>
            <a:off x="1636776" y="1408176"/>
            <a:ext cx="2240279"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拓扑感知受限与信息回流</a:t>
            </a:r>
          </a:p>
        </p:txBody>
      </p:sp>
      <p:sp>
        <p:nvSpPr>
          <p:cNvPr id="16" name="TextBox 15"/>
          <p:cNvSpPr txBox="1"/>
          <p:nvPr/>
        </p:nvSpPr>
        <p:spPr>
          <a:xfrm>
            <a:off x="1179576" y="1828800"/>
            <a:ext cx="2697479" cy="768096"/>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传统图神经网络多依赖局部节点聚合，化学键动态交互建模不足；深层传播易出现信息冗余。</a:t>
            </a:r>
          </a:p>
        </p:txBody>
      </p:sp>
      <p:sp>
        <p:nvSpPr>
          <p:cNvPr id="17" name="Rounded Rectangle 16"/>
          <p:cNvSpPr/>
          <p:nvPr/>
        </p:nvSpPr>
        <p:spPr>
          <a:xfrm>
            <a:off x="4462272" y="1207008"/>
            <a:ext cx="3246120" cy="148132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462272" y="1207008"/>
            <a:ext cx="91440" cy="1481328"/>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663440" y="1408176"/>
            <a:ext cx="420624" cy="420624"/>
          </a:xfrm>
          <a:prstGeom prst="ellipse">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663440" y="1481328"/>
            <a:ext cx="420624" cy="164592"/>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02</a:t>
            </a:r>
          </a:p>
        </p:txBody>
      </p:sp>
      <p:sp>
        <p:nvSpPr>
          <p:cNvPr id="21" name="TextBox 20"/>
          <p:cNvSpPr txBox="1"/>
          <p:nvPr/>
        </p:nvSpPr>
        <p:spPr>
          <a:xfrm>
            <a:off x="5230368" y="1408176"/>
            <a:ext cx="2240279"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LLM 直接预测难以解释</a:t>
            </a:r>
          </a:p>
        </p:txBody>
      </p:sp>
      <p:sp>
        <p:nvSpPr>
          <p:cNvPr id="22" name="TextBox 21"/>
          <p:cNvSpPr txBox="1"/>
          <p:nvPr/>
        </p:nvSpPr>
        <p:spPr>
          <a:xfrm>
            <a:off x="4773168" y="1828800"/>
            <a:ext cx="2697479" cy="768096"/>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面对复杂 ADMET 任务时，端到端文本映射缺少中间药理逻辑约束，容易产生幻觉。</a:t>
            </a:r>
          </a:p>
        </p:txBody>
      </p:sp>
      <p:sp>
        <p:nvSpPr>
          <p:cNvPr id="23" name="Rounded Rectangle 22"/>
          <p:cNvSpPr/>
          <p:nvPr/>
        </p:nvSpPr>
        <p:spPr>
          <a:xfrm>
            <a:off x="8065008" y="1207008"/>
            <a:ext cx="3246120" cy="148132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8065008" y="1207008"/>
            <a:ext cx="91440" cy="1481328"/>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8266176" y="1408176"/>
            <a:ext cx="420624" cy="420624"/>
          </a:xfrm>
          <a:prstGeom prst="ellipse">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66176" y="1481328"/>
            <a:ext cx="420624" cy="164592"/>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03</a:t>
            </a:r>
          </a:p>
        </p:txBody>
      </p:sp>
      <p:sp>
        <p:nvSpPr>
          <p:cNvPr id="27" name="TextBox 26"/>
          <p:cNvSpPr txBox="1"/>
          <p:nvPr/>
        </p:nvSpPr>
        <p:spPr>
          <a:xfrm>
            <a:off x="8833104" y="1408176"/>
            <a:ext cx="2240279"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文本噪声与模态对齐困难</a:t>
            </a:r>
          </a:p>
        </p:txBody>
      </p:sp>
      <p:sp>
        <p:nvSpPr>
          <p:cNvPr id="28" name="TextBox 27"/>
          <p:cNvSpPr txBox="1"/>
          <p:nvPr/>
        </p:nvSpPr>
        <p:spPr>
          <a:xfrm>
            <a:off x="8375904" y="1828800"/>
            <a:ext cx="2697479" cy="768096"/>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公共医学文本存在冗余和质量差异，粗粒度对比学习可能引入语义冲突和负迁移。</a:t>
            </a:r>
          </a:p>
        </p:txBody>
      </p:sp>
      <p:sp>
        <p:nvSpPr>
          <p:cNvPr id="29" name="Rounded Rectangle 28"/>
          <p:cNvSpPr/>
          <p:nvPr/>
        </p:nvSpPr>
        <p:spPr>
          <a:xfrm>
            <a:off x="1024128" y="3767328"/>
            <a:ext cx="4754880" cy="1024128"/>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325880" y="3968496"/>
            <a:ext cx="1325880" cy="256032"/>
          </a:xfrm>
          <a:prstGeom prst="rect">
            <a:avLst/>
          </a:prstGeom>
          <a:noFill/>
        </p:spPr>
        <p:txBody>
          <a:bodyPr wrap="square" lIns="0" tIns="0" rIns="0" bIns="0" anchor="t">
            <a:spAutoFit/>
          </a:bodyPr>
          <a:lstStyle/>
          <a:p>
            <a:pPr algn="l">
              <a:lnSpc>
                <a:spcPct val="105000"/>
              </a:lnSpc>
            </a:pPr>
            <a:r>
              <a:rPr sz="1700" b="1">
                <a:solidFill>
                  <a:srgbClr val="004E98"/>
                </a:solidFill>
                <a:latin typeface="Microsoft YaHei"/>
              </a:rPr>
              <a:t>CoT-CMP</a:t>
            </a:r>
          </a:p>
        </p:txBody>
      </p:sp>
      <p:sp>
        <p:nvSpPr>
          <p:cNvPr id="31" name="TextBox 30"/>
          <p:cNvSpPr txBox="1"/>
          <p:nvPr/>
        </p:nvSpPr>
        <p:spPr>
          <a:xfrm>
            <a:off x="1325880" y="4315968"/>
            <a:ext cx="3977639" cy="237744"/>
          </a:xfrm>
          <a:prstGeom prst="rect">
            <a:avLst/>
          </a:prstGeom>
          <a:noFill/>
        </p:spPr>
        <p:txBody>
          <a:bodyPr wrap="square" lIns="0" tIns="0" rIns="0" bIns="0" anchor="t">
            <a:spAutoFit/>
          </a:bodyPr>
          <a:lstStyle/>
          <a:p>
            <a:pPr algn="l">
              <a:lnSpc>
                <a:spcPct val="105000"/>
              </a:lnSpc>
            </a:pPr>
            <a:r>
              <a:rPr sz="1120" b="0">
                <a:solidFill>
                  <a:srgbClr val="5B6773"/>
                </a:solidFill>
                <a:latin typeface="微软雅黑 Light"/>
              </a:rPr>
              <a:t>通过思维链增强文本可解释性，通过 CMPNN 强化图结构交互建模。</a:t>
            </a:r>
          </a:p>
        </p:txBody>
      </p:sp>
      <p:sp>
        <p:nvSpPr>
          <p:cNvPr id="32" name="Rounded Rectangle 31"/>
          <p:cNvSpPr/>
          <p:nvPr/>
        </p:nvSpPr>
        <p:spPr>
          <a:xfrm>
            <a:off x="6419088" y="3767328"/>
            <a:ext cx="4754880" cy="1024128"/>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720840" y="3968496"/>
            <a:ext cx="1325880" cy="256032"/>
          </a:xfrm>
          <a:prstGeom prst="rect">
            <a:avLst/>
          </a:prstGeom>
          <a:noFill/>
        </p:spPr>
        <p:txBody>
          <a:bodyPr wrap="square" lIns="0" tIns="0" rIns="0" bIns="0" anchor="t">
            <a:spAutoFit/>
          </a:bodyPr>
          <a:lstStyle/>
          <a:p>
            <a:pPr algn="l">
              <a:lnSpc>
                <a:spcPct val="105000"/>
              </a:lnSpc>
            </a:pPr>
            <a:r>
              <a:rPr sz="1700" b="1">
                <a:solidFill>
                  <a:srgbClr val="004E98"/>
                </a:solidFill>
                <a:latin typeface="Microsoft YaHei"/>
              </a:rPr>
              <a:t>KGAMA</a:t>
            </a:r>
          </a:p>
        </p:txBody>
      </p:sp>
      <p:sp>
        <p:nvSpPr>
          <p:cNvPr id="34" name="TextBox 33"/>
          <p:cNvSpPr txBox="1"/>
          <p:nvPr/>
        </p:nvSpPr>
        <p:spPr>
          <a:xfrm>
            <a:off x="6720840" y="4315968"/>
            <a:ext cx="3977639" cy="237744"/>
          </a:xfrm>
          <a:prstGeom prst="rect">
            <a:avLst/>
          </a:prstGeom>
          <a:noFill/>
        </p:spPr>
        <p:txBody>
          <a:bodyPr wrap="square" lIns="0" tIns="0" rIns="0" bIns="0" anchor="t">
            <a:spAutoFit/>
          </a:bodyPr>
          <a:lstStyle/>
          <a:p>
            <a:pPr algn="l">
              <a:lnSpc>
                <a:spcPct val="105000"/>
              </a:lnSpc>
            </a:pPr>
            <a:r>
              <a:rPr sz="1120" b="0">
                <a:solidFill>
                  <a:srgbClr val="5B6773"/>
                </a:solidFill>
                <a:latin typeface="微软雅黑 Light"/>
              </a:rPr>
              <a:t>通过知识重写提高文本质量，通过图中心对齐与不确定性加权稳定融合。</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280160" y="292608"/>
            <a:ext cx="5669280" cy="411480"/>
          </a:xfrm>
          <a:prstGeom prst="rect">
            <a:avLst/>
          </a:prstGeom>
          <a:noFill/>
        </p:spPr>
        <p:txBody>
          <a:bodyPr wrap="square" lIns="0" tIns="0" rIns="0" bIns="0" anchor="t">
            <a:spAutoFit/>
          </a:bodyPr>
          <a:lstStyle/>
          <a:p>
            <a:pPr algn="l">
              <a:lnSpc>
                <a:spcPct val="105000"/>
              </a:lnSpc>
            </a:pPr>
            <a:r>
              <a:rPr sz="2000" b="1" dirty="0" err="1">
                <a:solidFill>
                  <a:srgbClr val="004E98"/>
                </a:solidFill>
                <a:latin typeface="方正正中黑简体"/>
              </a:rPr>
              <a:t>研究内容整体框架</a:t>
            </a:r>
            <a:endParaRPr sz="2000" b="1" dirty="0">
              <a:solidFill>
                <a:srgbClr val="004E98"/>
              </a:solidFill>
              <a:latin typeface="方正正中黑简体"/>
            </a:endParaRPr>
          </a:p>
        </p:txBody>
      </p:sp>
      <p:sp>
        <p:nvSpPr>
          <p:cNvPr id="6" name="TextBox 5"/>
          <p:cNvSpPr txBox="1"/>
          <p:nvPr/>
        </p:nvSpPr>
        <p:spPr>
          <a:xfrm>
            <a:off x="7178040" y="338328"/>
            <a:ext cx="2880360" cy="274320"/>
          </a:xfrm>
          <a:prstGeom prst="rect">
            <a:avLst/>
          </a:prstGeom>
          <a:noFill/>
        </p:spPr>
        <p:txBody>
          <a:bodyPr wrap="square" lIns="0" tIns="0" rIns="0" bIns="0" anchor="t">
            <a:spAutoFit/>
          </a:bodyPr>
          <a:lstStyle/>
          <a:p>
            <a:pPr algn="r">
              <a:lnSpc>
                <a:spcPct val="105000"/>
              </a:lnSpc>
            </a:pPr>
            <a:r>
              <a:rPr sz="950" b="0">
                <a:solidFill>
                  <a:srgbClr val="347AA7"/>
                </a:solidFill>
                <a:latin typeface="微软雅黑 Light"/>
              </a:rPr>
              <a:t>第三部分 研究内容</a:t>
            </a:r>
          </a:p>
        </p:txBody>
      </p:sp>
      <p:pic>
        <p:nvPicPr>
          <p:cNvPr id="7" name="Picture 6" descr="logo.png"/>
          <p:cNvPicPr>
            <a:picLocks noChangeAspect="1"/>
          </p:cNvPicPr>
          <p:nvPr/>
        </p:nvPicPr>
        <p:blipFill>
          <a:blip r:embed="rId2"/>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0" name="TextBox 9"/>
          <p:cNvSpPr txBox="1"/>
          <p:nvPr/>
        </p:nvSpPr>
        <p:spPr>
          <a:xfrm>
            <a:off x="11384280" y="6565392"/>
            <a:ext cx="384048" cy="256032"/>
          </a:xfrm>
          <a:prstGeom prst="rect">
            <a:avLst/>
          </a:prstGeom>
          <a:noFill/>
        </p:spPr>
        <p:txBody>
          <a:bodyPr wrap="square" lIns="0" tIns="0" rIns="0" bIns="0" anchor="ctr">
            <a:spAutoFit/>
          </a:bodyPr>
          <a:lstStyle/>
          <a:p>
            <a:pPr algn="r">
              <a:lnSpc>
                <a:spcPct val="105000"/>
              </a:lnSpc>
            </a:pPr>
            <a:r>
              <a:rPr sz="900" b="0">
                <a:solidFill>
                  <a:srgbClr val="FFFFFF"/>
                </a:solidFill>
                <a:latin typeface="微软雅黑 Light"/>
              </a:rPr>
              <a:t>10</a:t>
            </a:r>
          </a:p>
        </p:txBody>
      </p:sp>
      <p:sp>
        <p:nvSpPr>
          <p:cNvPr id="11" name="Rounded Rectangle 10"/>
          <p:cNvSpPr/>
          <p:nvPr/>
        </p:nvSpPr>
        <p:spPr>
          <a:xfrm>
            <a:off x="868680" y="1234440"/>
            <a:ext cx="4983480" cy="1261872"/>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868680" y="1234440"/>
            <a:ext cx="91440" cy="1261872"/>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069848" y="1435608"/>
            <a:ext cx="420624" cy="420624"/>
          </a:xfrm>
          <a:prstGeom prst="ellipse">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69848" y="1508760"/>
            <a:ext cx="420624" cy="164592"/>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01</a:t>
            </a:r>
          </a:p>
        </p:txBody>
      </p:sp>
      <p:sp>
        <p:nvSpPr>
          <p:cNvPr id="15" name="TextBox 14"/>
          <p:cNvSpPr txBox="1"/>
          <p:nvPr/>
        </p:nvSpPr>
        <p:spPr>
          <a:xfrm>
            <a:off x="1636776" y="1435608"/>
            <a:ext cx="3977639"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研究内容一：CoT-CMP</a:t>
            </a:r>
          </a:p>
        </p:txBody>
      </p:sp>
      <p:sp>
        <p:nvSpPr>
          <p:cNvPr id="16" name="TextBox 15"/>
          <p:cNvSpPr txBox="1"/>
          <p:nvPr/>
        </p:nvSpPr>
        <p:spPr>
          <a:xfrm>
            <a:off x="1179576" y="1856232"/>
            <a:ext cx="4434840" cy="548639"/>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面向 TDC ADMET 基准组，构建思维链增强与通信式消息传递结合的图文双塔预测框架。</a:t>
            </a:r>
          </a:p>
        </p:txBody>
      </p:sp>
      <p:sp>
        <p:nvSpPr>
          <p:cNvPr id="17" name="Rounded Rectangle 16"/>
          <p:cNvSpPr/>
          <p:nvPr/>
        </p:nvSpPr>
        <p:spPr>
          <a:xfrm>
            <a:off x="6327648" y="1234440"/>
            <a:ext cx="4983480" cy="1261872"/>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327648" y="1234440"/>
            <a:ext cx="91440" cy="1261872"/>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6528816" y="1435608"/>
            <a:ext cx="420624" cy="420624"/>
          </a:xfrm>
          <a:prstGeom prst="ellipse">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28816" y="1508760"/>
            <a:ext cx="420624" cy="164592"/>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02</a:t>
            </a:r>
          </a:p>
        </p:txBody>
      </p:sp>
      <p:sp>
        <p:nvSpPr>
          <p:cNvPr id="21" name="TextBox 20"/>
          <p:cNvSpPr txBox="1"/>
          <p:nvPr/>
        </p:nvSpPr>
        <p:spPr>
          <a:xfrm>
            <a:off x="7095744" y="1435608"/>
            <a:ext cx="3977639"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研究内容二：KGAMA</a:t>
            </a:r>
          </a:p>
        </p:txBody>
      </p:sp>
      <p:sp>
        <p:nvSpPr>
          <p:cNvPr id="22" name="TextBox 21"/>
          <p:cNvSpPr txBox="1"/>
          <p:nvPr/>
        </p:nvSpPr>
        <p:spPr>
          <a:xfrm>
            <a:off x="6638544" y="1856232"/>
            <a:ext cx="4434840" cy="548639"/>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面向 MoleculeNet 基准组，构建知识增强、图中心对齐和四模态融合的分子性质预测框架。</a:t>
            </a:r>
          </a:p>
        </p:txBody>
      </p:sp>
      <p:sp>
        <p:nvSpPr>
          <p:cNvPr id="23" name="Rounded Rectangle 22"/>
          <p:cNvSpPr/>
          <p:nvPr/>
        </p:nvSpPr>
        <p:spPr>
          <a:xfrm>
            <a:off x="868680" y="2852928"/>
            <a:ext cx="4983480" cy="205740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图3-1CoTCMP架构图.png"/>
          <p:cNvPicPr>
            <a:picLocks noChangeAspect="1"/>
          </p:cNvPicPr>
          <p:nvPr/>
        </p:nvPicPr>
        <p:blipFill>
          <a:blip r:embed="rId3"/>
          <a:stretch>
            <a:fillRect/>
          </a:stretch>
        </p:blipFill>
        <p:spPr>
          <a:xfrm>
            <a:off x="1099847" y="2944368"/>
            <a:ext cx="4521145" cy="1636775"/>
          </a:xfrm>
          <a:prstGeom prst="rect">
            <a:avLst/>
          </a:prstGeom>
        </p:spPr>
      </p:pic>
      <p:sp>
        <p:nvSpPr>
          <p:cNvPr id="25" name="TextBox 24"/>
          <p:cNvSpPr txBox="1"/>
          <p:nvPr/>
        </p:nvSpPr>
        <p:spPr>
          <a:xfrm>
            <a:off x="978407" y="4663440"/>
            <a:ext cx="4764024" cy="164592"/>
          </a:xfrm>
          <a:prstGeom prst="rect">
            <a:avLst/>
          </a:prstGeom>
          <a:noFill/>
        </p:spPr>
        <p:txBody>
          <a:bodyPr wrap="square" lIns="0" tIns="0" rIns="0" bIns="0" anchor="t">
            <a:spAutoFit/>
          </a:bodyPr>
          <a:lstStyle/>
          <a:p>
            <a:pPr algn="ctr">
              <a:lnSpc>
                <a:spcPct val="105000"/>
              </a:lnSpc>
            </a:pPr>
            <a:r>
              <a:rPr sz="840" b="0">
                <a:solidFill>
                  <a:srgbClr val="5B6773"/>
                </a:solidFill>
                <a:latin typeface="微软雅黑 Light"/>
              </a:rPr>
              <a:t>CoT-CMP：文本推理 + 图结构编码 + 交叉注意力</a:t>
            </a:r>
          </a:p>
        </p:txBody>
      </p:sp>
      <p:sp>
        <p:nvSpPr>
          <p:cNvPr id="26" name="Rounded Rectangle 25"/>
          <p:cNvSpPr/>
          <p:nvPr/>
        </p:nvSpPr>
        <p:spPr>
          <a:xfrm>
            <a:off x="6327648" y="2852928"/>
            <a:ext cx="4983480" cy="205740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KGAMA模型架构.png"/>
          <p:cNvPicPr>
            <a:picLocks noChangeAspect="1"/>
          </p:cNvPicPr>
          <p:nvPr/>
        </p:nvPicPr>
        <p:blipFill>
          <a:blip r:embed="rId4"/>
          <a:stretch>
            <a:fillRect/>
          </a:stretch>
        </p:blipFill>
        <p:spPr>
          <a:xfrm>
            <a:off x="7470758" y="2944368"/>
            <a:ext cx="2697259" cy="1636775"/>
          </a:xfrm>
          <a:prstGeom prst="rect">
            <a:avLst/>
          </a:prstGeom>
        </p:spPr>
      </p:pic>
      <p:sp>
        <p:nvSpPr>
          <p:cNvPr id="28" name="TextBox 27"/>
          <p:cNvSpPr txBox="1"/>
          <p:nvPr/>
        </p:nvSpPr>
        <p:spPr>
          <a:xfrm>
            <a:off x="6437376" y="4663440"/>
            <a:ext cx="4764024" cy="164592"/>
          </a:xfrm>
          <a:prstGeom prst="rect">
            <a:avLst/>
          </a:prstGeom>
          <a:noFill/>
        </p:spPr>
        <p:txBody>
          <a:bodyPr wrap="square" lIns="0" tIns="0" rIns="0" bIns="0" anchor="t">
            <a:spAutoFit/>
          </a:bodyPr>
          <a:lstStyle/>
          <a:p>
            <a:pPr algn="ctr">
              <a:lnSpc>
                <a:spcPct val="105000"/>
              </a:lnSpc>
            </a:pPr>
            <a:r>
              <a:rPr sz="840" b="0">
                <a:solidFill>
                  <a:srgbClr val="5B6773"/>
                </a:solidFill>
                <a:latin typeface="微软雅黑 Light"/>
              </a:rPr>
              <a:t>KGAMA：图、序列、指纹、文本四模态对齐</a:t>
            </a:r>
          </a:p>
        </p:txBody>
      </p:sp>
      <p:sp>
        <p:nvSpPr>
          <p:cNvPr id="29" name="TextBox 28"/>
          <p:cNvSpPr txBox="1"/>
          <p:nvPr/>
        </p:nvSpPr>
        <p:spPr>
          <a:xfrm>
            <a:off x="1005840" y="5440680"/>
            <a:ext cx="10058400" cy="310896"/>
          </a:xfrm>
          <a:prstGeom prst="rect">
            <a:avLst/>
          </a:prstGeom>
          <a:noFill/>
        </p:spPr>
        <p:txBody>
          <a:bodyPr wrap="square" lIns="0" tIns="0" rIns="0" bIns="0" anchor="t">
            <a:spAutoFit/>
          </a:bodyPr>
          <a:lstStyle/>
          <a:p>
            <a:pPr algn="ctr">
              <a:lnSpc>
                <a:spcPct val="105000"/>
              </a:lnSpc>
            </a:pPr>
            <a:r>
              <a:rPr sz="1500" b="1">
                <a:solidFill>
                  <a:srgbClr val="004E98"/>
                </a:solidFill>
                <a:latin typeface="微软雅黑 Light"/>
              </a:rPr>
              <a:t>核心思想：不是简单堆叠模态，而是让模态具备知识约束、可靠对齐和任务自适应贡献。</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57884" y="292608"/>
            <a:ext cx="5669280" cy="411480"/>
          </a:xfrm>
          <a:prstGeom prst="rect">
            <a:avLst/>
          </a:prstGeom>
          <a:noFill/>
        </p:spPr>
        <p:txBody>
          <a:bodyPr wrap="square" lIns="0" tIns="0" rIns="0" bIns="0" anchor="t">
            <a:spAutoFit/>
          </a:bodyPr>
          <a:lstStyle/>
          <a:p>
            <a:pPr algn="l">
              <a:lnSpc>
                <a:spcPct val="105000"/>
              </a:lnSpc>
            </a:pPr>
            <a:r>
              <a:rPr sz="2000" b="1" dirty="0" err="1">
                <a:solidFill>
                  <a:srgbClr val="004E98"/>
                </a:solidFill>
                <a:latin typeface="方正正中黑简体"/>
              </a:rPr>
              <a:t>方法一：CoT-CMP</a:t>
            </a:r>
            <a:r>
              <a:rPr sz="2000" b="1" dirty="0">
                <a:solidFill>
                  <a:srgbClr val="004E98"/>
                </a:solidFill>
                <a:latin typeface="方正正中黑简体"/>
              </a:rPr>
              <a:t> </a:t>
            </a:r>
            <a:r>
              <a:rPr sz="2000" b="1" dirty="0" err="1">
                <a:solidFill>
                  <a:srgbClr val="004E98"/>
                </a:solidFill>
                <a:latin typeface="方正正中黑简体"/>
              </a:rPr>
              <a:t>双塔预测框架</a:t>
            </a:r>
            <a:endParaRPr sz="2000" b="1" dirty="0">
              <a:solidFill>
                <a:srgbClr val="004E98"/>
              </a:solidFill>
              <a:latin typeface="方正正中黑简体"/>
            </a:endParaRPr>
          </a:p>
        </p:txBody>
      </p:sp>
      <p:sp>
        <p:nvSpPr>
          <p:cNvPr id="6" name="TextBox 5"/>
          <p:cNvSpPr txBox="1"/>
          <p:nvPr/>
        </p:nvSpPr>
        <p:spPr>
          <a:xfrm>
            <a:off x="7178040" y="338328"/>
            <a:ext cx="2880360" cy="274320"/>
          </a:xfrm>
          <a:prstGeom prst="rect">
            <a:avLst/>
          </a:prstGeom>
          <a:noFill/>
        </p:spPr>
        <p:txBody>
          <a:bodyPr wrap="square" lIns="0" tIns="0" rIns="0" bIns="0" anchor="t">
            <a:spAutoFit/>
          </a:bodyPr>
          <a:lstStyle/>
          <a:p>
            <a:pPr algn="r">
              <a:lnSpc>
                <a:spcPct val="105000"/>
              </a:lnSpc>
            </a:pPr>
            <a:r>
              <a:rPr sz="950" b="0">
                <a:solidFill>
                  <a:srgbClr val="347AA7"/>
                </a:solidFill>
                <a:latin typeface="微软雅黑 Light"/>
              </a:rPr>
              <a:t>第三部分 研究内容</a:t>
            </a:r>
          </a:p>
        </p:txBody>
      </p:sp>
      <p:pic>
        <p:nvPicPr>
          <p:cNvPr id="7" name="Picture 6" descr="logo.png"/>
          <p:cNvPicPr>
            <a:picLocks noChangeAspect="1"/>
          </p:cNvPicPr>
          <p:nvPr/>
        </p:nvPicPr>
        <p:blipFill>
          <a:blip r:embed="rId2"/>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0" name="TextBox 9"/>
          <p:cNvSpPr txBox="1"/>
          <p:nvPr/>
        </p:nvSpPr>
        <p:spPr>
          <a:xfrm>
            <a:off x="11384280" y="6565392"/>
            <a:ext cx="384048" cy="256032"/>
          </a:xfrm>
          <a:prstGeom prst="rect">
            <a:avLst/>
          </a:prstGeom>
          <a:noFill/>
        </p:spPr>
        <p:txBody>
          <a:bodyPr wrap="square" lIns="0" tIns="0" rIns="0" bIns="0" anchor="ctr">
            <a:spAutoFit/>
          </a:bodyPr>
          <a:lstStyle/>
          <a:p>
            <a:pPr algn="r">
              <a:lnSpc>
                <a:spcPct val="105000"/>
              </a:lnSpc>
            </a:pPr>
            <a:r>
              <a:rPr sz="900" b="0">
                <a:solidFill>
                  <a:srgbClr val="FFFFFF"/>
                </a:solidFill>
                <a:latin typeface="微软雅黑 Light"/>
              </a:rPr>
              <a:t>11</a:t>
            </a:r>
          </a:p>
        </p:txBody>
      </p:sp>
      <p:sp>
        <p:nvSpPr>
          <p:cNvPr id="11" name="Rounded Rectangle 10"/>
          <p:cNvSpPr/>
          <p:nvPr/>
        </p:nvSpPr>
        <p:spPr>
          <a:xfrm>
            <a:off x="868680" y="1078992"/>
            <a:ext cx="6720840" cy="283464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图3-1CoTCMP架构图.png"/>
          <p:cNvPicPr>
            <a:picLocks noChangeAspect="1"/>
          </p:cNvPicPr>
          <p:nvPr/>
        </p:nvPicPr>
        <p:blipFill>
          <a:blip r:embed="rId3"/>
          <a:stretch>
            <a:fillRect/>
          </a:stretch>
        </p:blipFill>
        <p:spPr>
          <a:xfrm>
            <a:off x="960119" y="1193981"/>
            <a:ext cx="6537960" cy="2366917"/>
          </a:xfrm>
          <a:prstGeom prst="rect">
            <a:avLst/>
          </a:prstGeom>
        </p:spPr>
      </p:pic>
      <p:sp>
        <p:nvSpPr>
          <p:cNvPr id="13" name="TextBox 12"/>
          <p:cNvSpPr txBox="1"/>
          <p:nvPr/>
        </p:nvSpPr>
        <p:spPr>
          <a:xfrm>
            <a:off x="978407" y="3666744"/>
            <a:ext cx="6501383" cy="164592"/>
          </a:xfrm>
          <a:prstGeom prst="rect">
            <a:avLst/>
          </a:prstGeom>
          <a:noFill/>
        </p:spPr>
        <p:txBody>
          <a:bodyPr wrap="square" lIns="0" tIns="0" rIns="0" bIns="0" anchor="t">
            <a:spAutoFit/>
          </a:bodyPr>
          <a:lstStyle/>
          <a:p>
            <a:pPr algn="ctr">
              <a:lnSpc>
                <a:spcPct val="105000"/>
              </a:lnSpc>
            </a:pPr>
            <a:r>
              <a:rPr sz="840" b="0">
                <a:solidFill>
                  <a:srgbClr val="5B6773"/>
                </a:solidFill>
                <a:latin typeface="微软雅黑 Light"/>
              </a:rPr>
              <a:t>图 3-1 CoT-CMP 架构图</a:t>
            </a:r>
          </a:p>
        </p:txBody>
      </p:sp>
      <p:sp>
        <p:nvSpPr>
          <p:cNvPr id="14" name="Rounded Rectangle 13"/>
          <p:cNvSpPr/>
          <p:nvPr/>
        </p:nvSpPr>
        <p:spPr>
          <a:xfrm>
            <a:off x="7909560" y="1133856"/>
            <a:ext cx="3401568" cy="111556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909560" y="1133856"/>
            <a:ext cx="91440" cy="111556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02168" y="1335024"/>
            <a:ext cx="2871216"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文本编码端</a:t>
            </a:r>
          </a:p>
        </p:txBody>
      </p:sp>
      <p:sp>
        <p:nvSpPr>
          <p:cNvPr id="17" name="TextBox 16"/>
          <p:cNvSpPr txBox="1"/>
          <p:nvPr/>
        </p:nvSpPr>
        <p:spPr>
          <a:xfrm>
            <a:off x="8220456" y="1755648"/>
            <a:ext cx="2852928" cy="402335"/>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LLaMA-3.1-8B + LoRA + CoT 提示，生成结构识别、理化分析、性质推断的显式推理文本。</a:t>
            </a:r>
          </a:p>
        </p:txBody>
      </p:sp>
      <p:sp>
        <p:nvSpPr>
          <p:cNvPr id="18" name="Rounded Rectangle 17"/>
          <p:cNvSpPr/>
          <p:nvPr/>
        </p:nvSpPr>
        <p:spPr>
          <a:xfrm>
            <a:off x="7909560" y="2532888"/>
            <a:ext cx="3401568" cy="111556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909560" y="2532888"/>
            <a:ext cx="91440" cy="1115568"/>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02168" y="2734056"/>
            <a:ext cx="2871216"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图结构编码端</a:t>
            </a:r>
          </a:p>
        </p:txBody>
      </p:sp>
      <p:sp>
        <p:nvSpPr>
          <p:cNvPr id="21" name="TextBox 20"/>
          <p:cNvSpPr txBox="1"/>
          <p:nvPr/>
        </p:nvSpPr>
        <p:spPr>
          <a:xfrm>
            <a:off x="8220456" y="3154680"/>
            <a:ext cx="2852928" cy="402335"/>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采用 CMPNN 建模原子与化学键之间的通信关系，增强局部官能团与长程依赖表征。</a:t>
            </a:r>
          </a:p>
        </p:txBody>
      </p:sp>
      <p:sp>
        <p:nvSpPr>
          <p:cNvPr id="22" name="Rounded Rectangle 21"/>
          <p:cNvSpPr/>
          <p:nvPr/>
        </p:nvSpPr>
        <p:spPr>
          <a:xfrm>
            <a:off x="7909560" y="3931920"/>
            <a:ext cx="3401568"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7909560" y="3931920"/>
            <a:ext cx="91440" cy="960120"/>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02168" y="4133087"/>
            <a:ext cx="2871216"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融合预测端</a:t>
            </a:r>
          </a:p>
        </p:txBody>
      </p:sp>
      <p:sp>
        <p:nvSpPr>
          <p:cNvPr id="25" name="TextBox 24"/>
          <p:cNvSpPr txBox="1"/>
          <p:nvPr/>
        </p:nvSpPr>
        <p:spPr>
          <a:xfrm>
            <a:off x="8220456" y="4553712"/>
            <a:ext cx="2852928" cy="246888"/>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通过交叉注意力实现图特征与文本特征的自适应融合，服务分类与回归任务。</a:t>
            </a:r>
          </a:p>
        </p:txBody>
      </p:sp>
      <p:sp>
        <p:nvSpPr>
          <p:cNvPr id="26" name="Rounded Rectangle 25"/>
          <p:cNvSpPr/>
          <p:nvPr/>
        </p:nvSpPr>
        <p:spPr>
          <a:xfrm>
            <a:off x="868680" y="4224528"/>
            <a:ext cx="3246120" cy="148132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提示词模板.png"/>
          <p:cNvPicPr>
            <a:picLocks noChangeAspect="1"/>
          </p:cNvPicPr>
          <p:nvPr/>
        </p:nvPicPr>
        <p:blipFill>
          <a:blip r:embed="rId4"/>
          <a:stretch>
            <a:fillRect/>
          </a:stretch>
        </p:blipFill>
        <p:spPr>
          <a:xfrm>
            <a:off x="1933085" y="4297680"/>
            <a:ext cx="1117308" cy="1097280"/>
          </a:xfrm>
          <a:prstGeom prst="rect">
            <a:avLst/>
          </a:prstGeom>
        </p:spPr>
      </p:pic>
      <p:sp>
        <p:nvSpPr>
          <p:cNvPr id="28" name="TextBox 27"/>
          <p:cNvSpPr txBox="1"/>
          <p:nvPr/>
        </p:nvSpPr>
        <p:spPr>
          <a:xfrm>
            <a:off x="978407" y="5458968"/>
            <a:ext cx="3026663" cy="164592"/>
          </a:xfrm>
          <a:prstGeom prst="rect">
            <a:avLst/>
          </a:prstGeom>
          <a:noFill/>
        </p:spPr>
        <p:txBody>
          <a:bodyPr wrap="square" lIns="0" tIns="0" rIns="0" bIns="0" anchor="t">
            <a:spAutoFit/>
          </a:bodyPr>
          <a:lstStyle/>
          <a:p>
            <a:pPr algn="ctr">
              <a:lnSpc>
                <a:spcPct val="105000"/>
              </a:lnSpc>
            </a:pPr>
            <a:r>
              <a:rPr sz="840" b="0">
                <a:solidFill>
                  <a:srgbClr val="5B6773"/>
                </a:solidFill>
                <a:latin typeface="微软雅黑 Light"/>
              </a:rPr>
              <a:t>CoT 提示词模板</a:t>
            </a:r>
          </a:p>
        </p:txBody>
      </p:sp>
      <p:sp>
        <p:nvSpPr>
          <p:cNvPr id="29" name="Rounded Rectangle 28"/>
          <p:cNvSpPr/>
          <p:nvPr/>
        </p:nvSpPr>
        <p:spPr>
          <a:xfrm>
            <a:off x="4370832" y="4224528"/>
            <a:ext cx="3218688" cy="148132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图2-6 输入-输出提示与思维链提示对比示意图.png"/>
          <p:cNvPicPr>
            <a:picLocks noChangeAspect="1"/>
          </p:cNvPicPr>
          <p:nvPr/>
        </p:nvPicPr>
        <p:blipFill>
          <a:blip r:embed="rId5"/>
          <a:stretch>
            <a:fillRect/>
          </a:stretch>
        </p:blipFill>
        <p:spPr>
          <a:xfrm>
            <a:off x="5498468" y="4297680"/>
            <a:ext cx="963415" cy="1097280"/>
          </a:xfrm>
          <a:prstGeom prst="rect">
            <a:avLst/>
          </a:prstGeom>
        </p:spPr>
      </p:pic>
      <p:sp>
        <p:nvSpPr>
          <p:cNvPr id="31" name="TextBox 30"/>
          <p:cNvSpPr txBox="1"/>
          <p:nvPr/>
        </p:nvSpPr>
        <p:spPr>
          <a:xfrm>
            <a:off x="4480560" y="5458968"/>
            <a:ext cx="2999232" cy="164592"/>
          </a:xfrm>
          <a:prstGeom prst="rect">
            <a:avLst/>
          </a:prstGeom>
          <a:noFill/>
        </p:spPr>
        <p:txBody>
          <a:bodyPr wrap="square" lIns="0" tIns="0" rIns="0" bIns="0" anchor="t">
            <a:spAutoFit/>
          </a:bodyPr>
          <a:lstStyle/>
          <a:p>
            <a:pPr algn="ctr">
              <a:lnSpc>
                <a:spcPct val="105000"/>
              </a:lnSpc>
            </a:pPr>
            <a:r>
              <a:rPr sz="840" b="0">
                <a:solidFill>
                  <a:srgbClr val="5B6773"/>
                </a:solidFill>
                <a:latin typeface="微软雅黑 Light"/>
              </a:rPr>
              <a:t>思维链提示对比</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99032" y="301752"/>
            <a:ext cx="5669280" cy="411480"/>
          </a:xfrm>
          <a:prstGeom prst="rect">
            <a:avLst/>
          </a:prstGeom>
          <a:noFill/>
        </p:spPr>
        <p:txBody>
          <a:bodyPr wrap="square" lIns="0" tIns="0" rIns="0" bIns="0" anchor="t">
            <a:spAutoFit/>
          </a:bodyPr>
          <a:lstStyle/>
          <a:p>
            <a:pPr algn="l">
              <a:lnSpc>
                <a:spcPct val="105000"/>
              </a:lnSpc>
            </a:pPr>
            <a:r>
              <a:rPr sz="2000" b="1" dirty="0">
                <a:solidFill>
                  <a:srgbClr val="004E98"/>
                </a:solidFill>
                <a:latin typeface="方正正中黑简体"/>
              </a:rPr>
              <a:t>CoT-CMP </a:t>
            </a:r>
            <a:r>
              <a:rPr sz="2000" b="1" dirty="0" err="1">
                <a:solidFill>
                  <a:srgbClr val="004E98"/>
                </a:solidFill>
                <a:latin typeface="方正正中黑简体"/>
              </a:rPr>
              <a:t>实验结果</a:t>
            </a:r>
            <a:endParaRPr sz="2000" b="1" dirty="0">
              <a:solidFill>
                <a:srgbClr val="004E98"/>
              </a:solidFill>
              <a:latin typeface="方正正中黑简体"/>
            </a:endParaRPr>
          </a:p>
        </p:txBody>
      </p:sp>
      <p:sp>
        <p:nvSpPr>
          <p:cNvPr id="6" name="TextBox 5"/>
          <p:cNvSpPr txBox="1"/>
          <p:nvPr/>
        </p:nvSpPr>
        <p:spPr>
          <a:xfrm>
            <a:off x="7178040" y="338328"/>
            <a:ext cx="2880360" cy="274320"/>
          </a:xfrm>
          <a:prstGeom prst="rect">
            <a:avLst/>
          </a:prstGeom>
          <a:noFill/>
        </p:spPr>
        <p:txBody>
          <a:bodyPr wrap="square" lIns="0" tIns="0" rIns="0" bIns="0" anchor="t">
            <a:spAutoFit/>
          </a:bodyPr>
          <a:lstStyle/>
          <a:p>
            <a:pPr algn="r">
              <a:lnSpc>
                <a:spcPct val="105000"/>
              </a:lnSpc>
            </a:pPr>
            <a:r>
              <a:rPr sz="950" b="0">
                <a:solidFill>
                  <a:srgbClr val="347AA7"/>
                </a:solidFill>
                <a:latin typeface="微软雅黑 Light"/>
              </a:rPr>
              <a:t>第三部分 研究内容</a:t>
            </a:r>
          </a:p>
        </p:txBody>
      </p:sp>
      <p:pic>
        <p:nvPicPr>
          <p:cNvPr id="7" name="Picture 6" descr="logo.png"/>
          <p:cNvPicPr>
            <a:picLocks noChangeAspect="1"/>
          </p:cNvPicPr>
          <p:nvPr/>
        </p:nvPicPr>
        <p:blipFill>
          <a:blip r:embed="rId2"/>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0" name="TextBox 9"/>
          <p:cNvSpPr txBox="1"/>
          <p:nvPr/>
        </p:nvSpPr>
        <p:spPr>
          <a:xfrm>
            <a:off x="11384280" y="6565392"/>
            <a:ext cx="384048" cy="256032"/>
          </a:xfrm>
          <a:prstGeom prst="rect">
            <a:avLst/>
          </a:prstGeom>
          <a:noFill/>
        </p:spPr>
        <p:txBody>
          <a:bodyPr wrap="square" lIns="0" tIns="0" rIns="0" bIns="0" anchor="ctr">
            <a:spAutoFit/>
          </a:bodyPr>
          <a:lstStyle/>
          <a:p>
            <a:pPr algn="r">
              <a:lnSpc>
                <a:spcPct val="105000"/>
              </a:lnSpc>
            </a:pPr>
            <a:r>
              <a:rPr sz="900" b="0">
                <a:solidFill>
                  <a:srgbClr val="FFFFFF"/>
                </a:solidFill>
                <a:latin typeface="微软雅黑 Light"/>
              </a:rPr>
              <a:t>12</a:t>
            </a:r>
          </a:p>
        </p:txBody>
      </p:sp>
      <p:sp>
        <p:nvSpPr>
          <p:cNvPr id="11" name="Rounded Rectangle 10"/>
          <p:cNvSpPr/>
          <p:nvPr/>
        </p:nvSpPr>
        <p:spPr>
          <a:xfrm>
            <a:off x="868680" y="1078992"/>
            <a:ext cx="5742432" cy="449884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CoT-CMP在ADMET基准组上的对比实验结果.png"/>
          <p:cNvPicPr>
            <a:picLocks noChangeAspect="1"/>
          </p:cNvPicPr>
          <p:nvPr/>
        </p:nvPicPr>
        <p:blipFill>
          <a:blip r:embed="rId3"/>
          <a:stretch>
            <a:fillRect/>
          </a:stretch>
        </p:blipFill>
        <p:spPr>
          <a:xfrm>
            <a:off x="1687853" y="1152144"/>
            <a:ext cx="4104084" cy="4114800"/>
          </a:xfrm>
          <a:prstGeom prst="rect">
            <a:avLst/>
          </a:prstGeom>
        </p:spPr>
      </p:pic>
      <p:sp>
        <p:nvSpPr>
          <p:cNvPr id="13" name="TextBox 12"/>
          <p:cNvSpPr txBox="1"/>
          <p:nvPr/>
        </p:nvSpPr>
        <p:spPr>
          <a:xfrm>
            <a:off x="978407" y="5330952"/>
            <a:ext cx="5522976" cy="164592"/>
          </a:xfrm>
          <a:prstGeom prst="rect">
            <a:avLst/>
          </a:prstGeom>
          <a:noFill/>
        </p:spPr>
        <p:txBody>
          <a:bodyPr wrap="square" lIns="0" tIns="0" rIns="0" bIns="0" anchor="t">
            <a:spAutoFit/>
          </a:bodyPr>
          <a:lstStyle/>
          <a:p>
            <a:pPr algn="ctr">
              <a:lnSpc>
                <a:spcPct val="105000"/>
              </a:lnSpc>
            </a:pPr>
            <a:r>
              <a:rPr sz="840" b="0">
                <a:solidFill>
                  <a:srgbClr val="5B6773"/>
                </a:solidFill>
                <a:latin typeface="微软雅黑 Light"/>
              </a:rPr>
              <a:t>表 3-3 CoT-CMP 在 ADMET 基准组上的对比实验结果</a:t>
            </a:r>
          </a:p>
        </p:txBody>
      </p:sp>
      <p:sp>
        <p:nvSpPr>
          <p:cNvPr id="14" name="Rounded Rectangle 13"/>
          <p:cNvSpPr/>
          <p:nvPr/>
        </p:nvSpPr>
        <p:spPr>
          <a:xfrm>
            <a:off x="7022592" y="1188720"/>
            <a:ext cx="1600200" cy="804672"/>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068312" y="1280160"/>
            <a:ext cx="1508760" cy="384048"/>
          </a:xfrm>
          <a:prstGeom prst="rect">
            <a:avLst/>
          </a:prstGeom>
          <a:noFill/>
        </p:spPr>
        <p:txBody>
          <a:bodyPr wrap="square" lIns="0" tIns="0" rIns="0" bIns="0" anchor="t">
            <a:spAutoFit/>
          </a:bodyPr>
          <a:lstStyle/>
          <a:p>
            <a:pPr algn="ctr">
              <a:lnSpc>
                <a:spcPct val="105000"/>
              </a:lnSpc>
            </a:pPr>
            <a:r>
              <a:rPr sz="2300" b="1">
                <a:solidFill>
                  <a:srgbClr val="004E98"/>
                </a:solidFill>
                <a:latin typeface="Microsoft YaHei"/>
              </a:rPr>
              <a:t>17/22</a:t>
            </a:r>
          </a:p>
        </p:txBody>
      </p:sp>
      <p:sp>
        <p:nvSpPr>
          <p:cNvPr id="16" name="TextBox 15"/>
          <p:cNvSpPr txBox="1"/>
          <p:nvPr/>
        </p:nvSpPr>
        <p:spPr>
          <a:xfrm>
            <a:off x="7114031" y="1755648"/>
            <a:ext cx="1417320" cy="182879"/>
          </a:xfrm>
          <a:prstGeom prst="rect">
            <a:avLst/>
          </a:prstGeom>
          <a:noFill/>
        </p:spPr>
        <p:txBody>
          <a:bodyPr wrap="square" lIns="0" tIns="0" rIns="0" bIns="0" anchor="t">
            <a:spAutoFit/>
          </a:bodyPr>
          <a:lstStyle/>
          <a:p>
            <a:pPr algn="ctr">
              <a:lnSpc>
                <a:spcPct val="105000"/>
              </a:lnSpc>
            </a:pPr>
            <a:r>
              <a:rPr sz="880" b="0">
                <a:solidFill>
                  <a:srgbClr val="5B6773"/>
                </a:solidFill>
                <a:latin typeface="微软雅黑 Light"/>
              </a:rPr>
              <a:t>ADMET 数据集取得最优</a:t>
            </a:r>
          </a:p>
        </p:txBody>
      </p:sp>
      <p:sp>
        <p:nvSpPr>
          <p:cNvPr id="17" name="Rounded Rectangle 16"/>
          <p:cNvSpPr/>
          <p:nvPr/>
        </p:nvSpPr>
        <p:spPr>
          <a:xfrm>
            <a:off x="8759952" y="1188720"/>
            <a:ext cx="1417320" cy="804672"/>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805672" y="1280160"/>
            <a:ext cx="1325880" cy="384048"/>
          </a:xfrm>
          <a:prstGeom prst="rect">
            <a:avLst/>
          </a:prstGeom>
          <a:noFill/>
        </p:spPr>
        <p:txBody>
          <a:bodyPr wrap="square" lIns="0" tIns="0" rIns="0" bIns="0" anchor="t">
            <a:spAutoFit/>
          </a:bodyPr>
          <a:lstStyle/>
          <a:p>
            <a:pPr algn="ctr">
              <a:lnSpc>
                <a:spcPct val="105000"/>
              </a:lnSpc>
            </a:pPr>
            <a:r>
              <a:rPr sz="2300" b="1">
                <a:solidFill>
                  <a:srgbClr val="347AA7"/>
                </a:solidFill>
                <a:latin typeface="Microsoft YaHei"/>
              </a:rPr>
              <a:t>5/22</a:t>
            </a:r>
          </a:p>
        </p:txBody>
      </p:sp>
      <p:sp>
        <p:nvSpPr>
          <p:cNvPr id="19" name="TextBox 18"/>
          <p:cNvSpPr txBox="1"/>
          <p:nvPr/>
        </p:nvSpPr>
        <p:spPr>
          <a:xfrm>
            <a:off x="8851392" y="1755648"/>
            <a:ext cx="1234440" cy="182879"/>
          </a:xfrm>
          <a:prstGeom prst="rect">
            <a:avLst/>
          </a:prstGeom>
          <a:noFill/>
        </p:spPr>
        <p:txBody>
          <a:bodyPr wrap="square" lIns="0" tIns="0" rIns="0" bIns="0" anchor="t">
            <a:spAutoFit/>
          </a:bodyPr>
          <a:lstStyle/>
          <a:p>
            <a:pPr algn="ctr">
              <a:lnSpc>
                <a:spcPct val="105000"/>
              </a:lnSpc>
            </a:pPr>
            <a:r>
              <a:rPr sz="880" b="0">
                <a:solidFill>
                  <a:srgbClr val="5B6773"/>
                </a:solidFill>
                <a:latin typeface="微软雅黑 Light"/>
              </a:rPr>
              <a:t>取得次优结果</a:t>
            </a:r>
          </a:p>
        </p:txBody>
      </p:sp>
      <p:sp>
        <p:nvSpPr>
          <p:cNvPr id="20" name="Rounded Rectangle 19"/>
          <p:cNvSpPr/>
          <p:nvPr/>
        </p:nvSpPr>
        <p:spPr>
          <a:xfrm>
            <a:off x="10287000" y="1188720"/>
            <a:ext cx="1078992" cy="804672"/>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332720" y="1280160"/>
            <a:ext cx="987551" cy="384048"/>
          </a:xfrm>
          <a:prstGeom prst="rect">
            <a:avLst/>
          </a:prstGeom>
          <a:noFill/>
        </p:spPr>
        <p:txBody>
          <a:bodyPr wrap="square" lIns="0" tIns="0" rIns="0" bIns="0" anchor="t">
            <a:spAutoFit/>
          </a:bodyPr>
          <a:lstStyle/>
          <a:p>
            <a:pPr algn="ctr">
              <a:lnSpc>
                <a:spcPct val="105000"/>
              </a:lnSpc>
            </a:pPr>
            <a:r>
              <a:rPr sz="2300" b="1">
                <a:solidFill>
                  <a:srgbClr val="B83232"/>
                </a:solidFill>
                <a:latin typeface="Microsoft YaHei"/>
              </a:rPr>
              <a:t>4/4</a:t>
            </a:r>
          </a:p>
        </p:txBody>
      </p:sp>
      <p:sp>
        <p:nvSpPr>
          <p:cNvPr id="22" name="TextBox 21"/>
          <p:cNvSpPr txBox="1"/>
          <p:nvPr/>
        </p:nvSpPr>
        <p:spPr>
          <a:xfrm>
            <a:off x="10378440" y="1755648"/>
            <a:ext cx="896112" cy="182879"/>
          </a:xfrm>
          <a:prstGeom prst="rect">
            <a:avLst/>
          </a:prstGeom>
          <a:noFill/>
        </p:spPr>
        <p:txBody>
          <a:bodyPr wrap="square" lIns="0" tIns="0" rIns="0" bIns="0" anchor="t">
            <a:spAutoFit/>
          </a:bodyPr>
          <a:lstStyle/>
          <a:p>
            <a:pPr algn="ctr">
              <a:lnSpc>
                <a:spcPct val="105000"/>
              </a:lnSpc>
            </a:pPr>
            <a:r>
              <a:rPr sz="880" b="0">
                <a:solidFill>
                  <a:srgbClr val="5B6773"/>
                </a:solidFill>
                <a:latin typeface="微软雅黑 Light"/>
              </a:rPr>
              <a:t>毒性任务全面领先</a:t>
            </a:r>
          </a:p>
        </p:txBody>
      </p:sp>
      <p:sp>
        <p:nvSpPr>
          <p:cNvPr id="23" name="Rounded Rectangle 22"/>
          <p:cNvSpPr/>
          <p:nvPr/>
        </p:nvSpPr>
        <p:spPr>
          <a:xfrm>
            <a:off x="7022592" y="2359152"/>
            <a:ext cx="4343400" cy="111556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7022592" y="2359152"/>
            <a:ext cx="91440" cy="111556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0" y="2560320"/>
            <a:ext cx="3813048"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对比实验结论</a:t>
            </a:r>
          </a:p>
        </p:txBody>
      </p:sp>
      <p:sp>
        <p:nvSpPr>
          <p:cNvPr id="26" name="TextBox 25"/>
          <p:cNvSpPr txBox="1"/>
          <p:nvPr/>
        </p:nvSpPr>
        <p:spPr>
          <a:xfrm>
            <a:off x="7333488" y="2980944"/>
            <a:ext cx="3794760" cy="402335"/>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CoT-CMP 在 22 个 ADMET 评测集上获得 17 个最优、5 个次优；在 LD50、hERG、Ames、DILI 四项毒性预测任务上全面领先。</a:t>
            </a:r>
          </a:p>
        </p:txBody>
      </p:sp>
      <p:sp>
        <p:nvSpPr>
          <p:cNvPr id="27" name="Rounded Rectangle 26"/>
          <p:cNvSpPr/>
          <p:nvPr/>
        </p:nvSpPr>
        <p:spPr>
          <a:xfrm>
            <a:off x="7022592" y="3822191"/>
            <a:ext cx="4343400" cy="111556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022592" y="3822191"/>
            <a:ext cx="91440" cy="1115568"/>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315200" y="4023359"/>
            <a:ext cx="3813048"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性能提升原因</a:t>
            </a:r>
          </a:p>
        </p:txBody>
      </p:sp>
      <p:sp>
        <p:nvSpPr>
          <p:cNvPr id="30" name="TextBox 29"/>
          <p:cNvSpPr txBox="1"/>
          <p:nvPr/>
        </p:nvSpPr>
        <p:spPr>
          <a:xfrm>
            <a:off x="7333488" y="4443983"/>
            <a:ext cx="3794760" cy="402335"/>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CoT 增强文本描述与交叉注意力融合能够更有效聚合长程依赖和局部官能团特征，形成更鲁棒的分子表示。</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57884" y="301752"/>
            <a:ext cx="5669280" cy="411480"/>
          </a:xfrm>
          <a:prstGeom prst="rect">
            <a:avLst/>
          </a:prstGeom>
          <a:noFill/>
        </p:spPr>
        <p:txBody>
          <a:bodyPr wrap="square" lIns="0" tIns="0" rIns="0" bIns="0" anchor="t">
            <a:spAutoFit/>
          </a:bodyPr>
          <a:lstStyle/>
          <a:p>
            <a:pPr algn="l">
              <a:lnSpc>
                <a:spcPct val="105000"/>
              </a:lnSpc>
            </a:pPr>
            <a:r>
              <a:rPr sz="2000" b="1" dirty="0">
                <a:solidFill>
                  <a:srgbClr val="004E98"/>
                </a:solidFill>
                <a:latin typeface="方正正中黑简体"/>
              </a:rPr>
              <a:t>CoT-CMP </a:t>
            </a:r>
            <a:r>
              <a:rPr sz="2000" b="1" dirty="0" err="1">
                <a:solidFill>
                  <a:srgbClr val="004E98"/>
                </a:solidFill>
                <a:latin typeface="方正正中黑简体"/>
              </a:rPr>
              <a:t>消融与可解释性分析</a:t>
            </a:r>
            <a:endParaRPr sz="2000" b="1" dirty="0">
              <a:solidFill>
                <a:srgbClr val="004E98"/>
              </a:solidFill>
              <a:latin typeface="方正正中黑简体"/>
            </a:endParaRPr>
          </a:p>
        </p:txBody>
      </p:sp>
      <p:sp>
        <p:nvSpPr>
          <p:cNvPr id="6" name="TextBox 5"/>
          <p:cNvSpPr txBox="1"/>
          <p:nvPr/>
        </p:nvSpPr>
        <p:spPr>
          <a:xfrm>
            <a:off x="7178040" y="338328"/>
            <a:ext cx="2880360" cy="274320"/>
          </a:xfrm>
          <a:prstGeom prst="rect">
            <a:avLst/>
          </a:prstGeom>
          <a:noFill/>
        </p:spPr>
        <p:txBody>
          <a:bodyPr wrap="square" lIns="0" tIns="0" rIns="0" bIns="0" anchor="t">
            <a:spAutoFit/>
          </a:bodyPr>
          <a:lstStyle/>
          <a:p>
            <a:pPr algn="r">
              <a:lnSpc>
                <a:spcPct val="105000"/>
              </a:lnSpc>
            </a:pPr>
            <a:r>
              <a:rPr sz="950" b="0">
                <a:solidFill>
                  <a:srgbClr val="347AA7"/>
                </a:solidFill>
                <a:latin typeface="微软雅黑 Light"/>
              </a:rPr>
              <a:t>第三部分 研究内容</a:t>
            </a:r>
          </a:p>
        </p:txBody>
      </p:sp>
      <p:pic>
        <p:nvPicPr>
          <p:cNvPr id="7" name="Picture 6" descr="logo.png"/>
          <p:cNvPicPr>
            <a:picLocks noChangeAspect="1"/>
          </p:cNvPicPr>
          <p:nvPr/>
        </p:nvPicPr>
        <p:blipFill>
          <a:blip r:embed="rId2"/>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0" name="TextBox 9"/>
          <p:cNvSpPr txBox="1"/>
          <p:nvPr/>
        </p:nvSpPr>
        <p:spPr>
          <a:xfrm>
            <a:off x="11384280" y="6565392"/>
            <a:ext cx="384048" cy="256032"/>
          </a:xfrm>
          <a:prstGeom prst="rect">
            <a:avLst/>
          </a:prstGeom>
          <a:noFill/>
        </p:spPr>
        <p:txBody>
          <a:bodyPr wrap="square" lIns="0" tIns="0" rIns="0" bIns="0" anchor="ctr">
            <a:spAutoFit/>
          </a:bodyPr>
          <a:lstStyle/>
          <a:p>
            <a:pPr algn="r">
              <a:lnSpc>
                <a:spcPct val="105000"/>
              </a:lnSpc>
            </a:pPr>
            <a:r>
              <a:rPr sz="900" b="0">
                <a:solidFill>
                  <a:srgbClr val="FFFFFF"/>
                </a:solidFill>
                <a:latin typeface="微软雅黑 Light"/>
              </a:rPr>
              <a:t>13</a:t>
            </a:r>
          </a:p>
        </p:txBody>
      </p:sp>
      <p:sp>
        <p:nvSpPr>
          <p:cNvPr id="11" name="Rounded Rectangle 10"/>
          <p:cNvSpPr/>
          <p:nvPr/>
        </p:nvSpPr>
        <p:spPr>
          <a:xfrm>
            <a:off x="868680" y="1097280"/>
            <a:ext cx="4956048" cy="1444752"/>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CoT-CMP在ADMET基准组上部分分类任务消融实验结果.png"/>
          <p:cNvPicPr>
            <a:picLocks noChangeAspect="1"/>
          </p:cNvPicPr>
          <p:nvPr/>
        </p:nvPicPr>
        <p:blipFill>
          <a:blip r:embed="rId3"/>
          <a:stretch>
            <a:fillRect/>
          </a:stretch>
        </p:blipFill>
        <p:spPr>
          <a:xfrm>
            <a:off x="1536972" y="1170432"/>
            <a:ext cx="3619463" cy="1060704"/>
          </a:xfrm>
          <a:prstGeom prst="rect">
            <a:avLst/>
          </a:prstGeom>
        </p:spPr>
      </p:pic>
      <p:sp>
        <p:nvSpPr>
          <p:cNvPr id="13" name="TextBox 12"/>
          <p:cNvSpPr txBox="1"/>
          <p:nvPr/>
        </p:nvSpPr>
        <p:spPr>
          <a:xfrm>
            <a:off x="978407" y="2295144"/>
            <a:ext cx="4736592" cy="164592"/>
          </a:xfrm>
          <a:prstGeom prst="rect">
            <a:avLst/>
          </a:prstGeom>
          <a:noFill/>
        </p:spPr>
        <p:txBody>
          <a:bodyPr wrap="square" lIns="0" tIns="0" rIns="0" bIns="0" anchor="t">
            <a:spAutoFit/>
          </a:bodyPr>
          <a:lstStyle/>
          <a:p>
            <a:pPr algn="ctr">
              <a:lnSpc>
                <a:spcPct val="105000"/>
              </a:lnSpc>
            </a:pPr>
            <a:r>
              <a:rPr sz="840" b="0">
                <a:solidFill>
                  <a:srgbClr val="5B6773"/>
                </a:solidFill>
                <a:latin typeface="微软雅黑 Light"/>
              </a:rPr>
              <a:t>分类任务消融结果</a:t>
            </a:r>
          </a:p>
        </p:txBody>
      </p:sp>
      <p:sp>
        <p:nvSpPr>
          <p:cNvPr id="14" name="Rounded Rectangle 13"/>
          <p:cNvSpPr/>
          <p:nvPr/>
        </p:nvSpPr>
        <p:spPr>
          <a:xfrm>
            <a:off x="868680" y="2852928"/>
            <a:ext cx="4956048" cy="267004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氯磺丙脲在DILI任务中的双模态可视化分析结果.png"/>
          <p:cNvPicPr>
            <a:picLocks noChangeAspect="1"/>
          </p:cNvPicPr>
          <p:nvPr/>
        </p:nvPicPr>
        <p:blipFill>
          <a:blip r:embed="rId4"/>
          <a:stretch>
            <a:fillRect/>
          </a:stretch>
        </p:blipFill>
        <p:spPr>
          <a:xfrm>
            <a:off x="1973303" y="2926080"/>
            <a:ext cx="2746800" cy="2286000"/>
          </a:xfrm>
          <a:prstGeom prst="rect">
            <a:avLst/>
          </a:prstGeom>
        </p:spPr>
      </p:pic>
      <p:sp>
        <p:nvSpPr>
          <p:cNvPr id="16" name="TextBox 15"/>
          <p:cNvSpPr txBox="1"/>
          <p:nvPr/>
        </p:nvSpPr>
        <p:spPr>
          <a:xfrm>
            <a:off x="978407" y="5276088"/>
            <a:ext cx="4736592" cy="164592"/>
          </a:xfrm>
          <a:prstGeom prst="rect">
            <a:avLst/>
          </a:prstGeom>
          <a:noFill/>
        </p:spPr>
        <p:txBody>
          <a:bodyPr wrap="square" lIns="0" tIns="0" rIns="0" bIns="0" anchor="t">
            <a:spAutoFit/>
          </a:bodyPr>
          <a:lstStyle/>
          <a:p>
            <a:pPr algn="ctr">
              <a:lnSpc>
                <a:spcPct val="105000"/>
              </a:lnSpc>
            </a:pPr>
            <a:r>
              <a:rPr sz="840" b="0">
                <a:solidFill>
                  <a:srgbClr val="5B6773"/>
                </a:solidFill>
                <a:latin typeface="微软雅黑 Light"/>
              </a:rPr>
              <a:t>DILI 任务中的双模态可视化案例</a:t>
            </a:r>
          </a:p>
        </p:txBody>
      </p:sp>
      <p:sp>
        <p:nvSpPr>
          <p:cNvPr id="17" name="Rounded Rectangle 16"/>
          <p:cNvSpPr/>
          <p:nvPr/>
        </p:nvSpPr>
        <p:spPr>
          <a:xfrm>
            <a:off x="6199632" y="1097280"/>
            <a:ext cx="5074920" cy="2157984"/>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CMPNN模型层数对分类任务性能的影响.png"/>
          <p:cNvPicPr>
            <a:picLocks noChangeAspect="1"/>
          </p:cNvPicPr>
          <p:nvPr/>
        </p:nvPicPr>
        <p:blipFill>
          <a:blip r:embed="rId5"/>
          <a:stretch>
            <a:fillRect/>
          </a:stretch>
        </p:blipFill>
        <p:spPr>
          <a:xfrm>
            <a:off x="7245899" y="1170432"/>
            <a:ext cx="2982385" cy="1773935"/>
          </a:xfrm>
          <a:prstGeom prst="rect">
            <a:avLst/>
          </a:prstGeom>
        </p:spPr>
      </p:pic>
      <p:sp>
        <p:nvSpPr>
          <p:cNvPr id="19" name="TextBox 18"/>
          <p:cNvSpPr txBox="1"/>
          <p:nvPr/>
        </p:nvSpPr>
        <p:spPr>
          <a:xfrm>
            <a:off x="6309360" y="3008375"/>
            <a:ext cx="4855464" cy="164592"/>
          </a:xfrm>
          <a:prstGeom prst="rect">
            <a:avLst/>
          </a:prstGeom>
          <a:noFill/>
        </p:spPr>
        <p:txBody>
          <a:bodyPr wrap="square" lIns="0" tIns="0" rIns="0" bIns="0" anchor="t">
            <a:spAutoFit/>
          </a:bodyPr>
          <a:lstStyle/>
          <a:p>
            <a:pPr algn="ctr">
              <a:lnSpc>
                <a:spcPct val="105000"/>
              </a:lnSpc>
            </a:pPr>
            <a:r>
              <a:rPr sz="840" b="0">
                <a:solidFill>
                  <a:srgbClr val="5B6773"/>
                </a:solidFill>
                <a:latin typeface="微软雅黑 Light"/>
              </a:rPr>
              <a:t>CMPNN 层数敏感性实验</a:t>
            </a:r>
          </a:p>
        </p:txBody>
      </p:sp>
      <p:sp>
        <p:nvSpPr>
          <p:cNvPr id="20" name="Rounded Rectangle 19"/>
          <p:cNvSpPr/>
          <p:nvPr/>
        </p:nvSpPr>
        <p:spPr>
          <a:xfrm>
            <a:off x="6199632" y="3611880"/>
            <a:ext cx="5074920" cy="896112"/>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199632" y="3611880"/>
            <a:ext cx="91440" cy="896112"/>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92240" y="3813048"/>
            <a:ext cx="4544568"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消融结论</a:t>
            </a:r>
          </a:p>
        </p:txBody>
      </p:sp>
      <p:sp>
        <p:nvSpPr>
          <p:cNvPr id="23" name="TextBox 22"/>
          <p:cNvSpPr txBox="1"/>
          <p:nvPr/>
        </p:nvSpPr>
        <p:spPr>
          <a:xfrm>
            <a:off x="6510528" y="4233672"/>
            <a:ext cx="4526280" cy="182879"/>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移除 LLM、CoT、LoRA 或交叉注意力均会造成不同程度下降，说明文本增强、任务适配和融合模块存在协同增益。</a:t>
            </a:r>
          </a:p>
        </p:txBody>
      </p:sp>
      <p:sp>
        <p:nvSpPr>
          <p:cNvPr id="24" name="Rounded Rectangle 23"/>
          <p:cNvSpPr/>
          <p:nvPr/>
        </p:nvSpPr>
        <p:spPr>
          <a:xfrm>
            <a:off x="6199632" y="4736592"/>
            <a:ext cx="5074920" cy="786384"/>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99632" y="4736592"/>
            <a:ext cx="91440" cy="786384"/>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92240" y="4937759"/>
            <a:ext cx="4544568"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解释结论</a:t>
            </a:r>
          </a:p>
        </p:txBody>
      </p:sp>
      <p:sp>
        <p:nvSpPr>
          <p:cNvPr id="27" name="TextBox 26"/>
          <p:cNvSpPr txBox="1"/>
          <p:nvPr/>
        </p:nvSpPr>
        <p:spPr>
          <a:xfrm>
            <a:off x="6510528" y="5358383"/>
            <a:ext cx="4526280" cy="73151"/>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模型关注对氯苯基、磺酰脲主骨架以及 DILI、hepatotoxicity 等关键词，与毒理学判断直觉一致。</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57884" y="269811"/>
            <a:ext cx="5669280" cy="411480"/>
          </a:xfrm>
          <a:prstGeom prst="rect">
            <a:avLst/>
          </a:prstGeom>
          <a:noFill/>
        </p:spPr>
        <p:txBody>
          <a:bodyPr wrap="square" lIns="0" tIns="0" rIns="0" bIns="0" anchor="t">
            <a:spAutoFit/>
          </a:bodyPr>
          <a:lstStyle/>
          <a:p>
            <a:pPr algn="l">
              <a:lnSpc>
                <a:spcPct val="105000"/>
              </a:lnSpc>
            </a:pPr>
            <a:r>
              <a:rPr sz="2000" b="1" dirty="0" err="1">
                <a:solidFill>
                  <a:srgbClr val="004E98"/>
                </a:solidFill>
                <a:latin typeface="方正正中黑简体"/>
              </a:rPr>
              <a:t>方法二：KGAMA</a:t>
            </a:r>
            <a:r>
              <a:rPr sz="2000" b="1" dirty="0">
                <a:solidFill>
                  <a:srgbClr val="004E98"/>
                </a:solidFill>
                <a:latin typeface="方正正中黑简体"/>
              </a:rPr>
              <a:t> </a:t>
            </a:r>
            <a:r>
              <a:rPr sz="2000" b="1" dirty="0" err="1">
                <a:solidFill>
                  <a:srgbClr val="004E98"/>
                </a:solidFill>
                <a:latin typeface="方正正中黑简体"/>
              </a:rPr>
              <a:t>知识增强与图对齐框架</a:t>
            </a:r>
            <a:endParaRPr sz="2000" b="1" dirty="0">
              <a:solidFill>
                <a:srgbClr val="004E98"/>
              </a:solidFill>
              <a:latin typeface="方正正中黑简体"/>
            </a:endParaRPr>
          </a:p>
        </p:txBody>
      </p:sp>
      <p:sp>
        <p:nvSpPr>
          <p:cNvPr id="6" name="TextBox 5"/>
          <p:cNvSpPr txBox="1"/>
          <p:nvPr/>
        </p:nvSpPr>
        <p:spPr>
          <a:xfrm>
            <a:off x="7178040" y="338328"/>
            <a:ext cx="2880360" cy="274320"/>
          </a:xfrm>
          <a:prstGeom prst="rect">
            <a:avLst/>
          </a:prstGeom>
          <a:noFill/>
        </p:spPr>
        <p:txBody>
          <a:bodyPr wrap="square" lIns="0" tIns="0" rIns="0" bIns="0" anchor="t">
            <a:spAutoFit/>
          </a:bodyPr>
          <a:lstStyle/>
          <a:p>
            <a:pPr algn="r">
              <a:lnSpc>
                <a:spcPct val="105000"/>
              </a:lnSpc>
            </a:pPr>
            <a:r>
              <a:rPr sz="950" b="0">
                <a:solidFill>
                  <a:srgbClr val="347AA7"/>
                </a:solidFill>
                <a:latin typeface="微软雅黑 Light"/>
              </a:rPr>
              <a:t>第三部分 研究内容</a:t>
            </a:r>
          </a:p>
        </p:txBody>
      </p:sp>
      <p:pic>
        <p:nvPicPr>
          <p:cNvPr id="7" name="Picture 6" descr="logo.png"/>
          <p:cNvPicPr>
            <a:picLocks noChangeAspect="1"/>
          </p:cNvPicPr>
          <p:nvPr/>
        </p:nvPicPr>
        <p:blipFill>
          <a:blip r:embed="rId2"/>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0" name="TextBox 9"/>
          <p:cNvSpPr txBox="1"/>
          <p:nvPr/>
        </p:nvSpPr>
        <p:spPr>
          <a:xfrm>
            <a:off x="11384280" y="6565392"/>
            <a:ext cx="384048" cy="256032"/>
          </a:xfrm>
          <a:prstGeom prst="rect">
            <a:avLst/>
          </a:prstGeom>
          <a:noFill/>
        </p:spPr>
        <p:txBody>
          <a:bodyPr wrap="square" lIns="0" tIns="0" rIns="0" bIns="0" anchor="ctr">
            <a:spAutoFit/>
          </a:bodyPr>
          <a:lstStyle/>
          <a:p>
            <a:pPr algn="r">
              <a:lnSpc>
                <a:spcPct val="105000"/>
              </a:lnSpc>
            </a:pPr>
            <a:r>
              <a:rPr sz="900" b="0">
                <a:solidFill>
                  <a:srgbClr val="FFFFFF"/>
                </a:solidFill>
                <a:latin typeface="微软雅黑 Light"/>
              </a:rPr>
              <a:t>14</a:t>
            </a:r>
          </a:p>
        </p:txBody>
      </p:sp>
      <p:sp>
        <p:nvSpPr>
          <p:cNvPr id="11" name="Rounded Rectangle 10"/>
          <p:cNvSpPr/>
          <p:nvPr/>
        </p:nvSpPr>
        <p:spPr>
          <a:xfrm>
            <a:off x="868680" y="1051560"/>
            <a:ext cx="6492240" cy="429768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KGAMA模型架构.png"/>
          <p:cNvPicPr>
            <a:picLocks noChangeAspect="1"/>
          </p:cNvPicPr>
          <p:nvPr/>
        </p:nvPicPr>
        <p:blipFill>
          <a:blip r:embed="rId3"/>
          <a:stretch>
            <a:fillRect/>
          </a:stretch>
        </p:blipFill>
        <p:spPr>
          <a:xfrm>
            <a:off x="1060583" y="1280160"/>
            <a:ext cx="6141460" cy="3726817"/>
          </a:xfrm>
          <a:prstGeom prst="rect">
            <a:avLst/>
          </a:prstGeom>
        </p:spPr>
      </p:pic>
      <p:sp>
        <p:nvSpPr>
          <p:cNvPr id="13" name="TextBox 12"/>
          <p:cNvSpPr txBox="1"/>
          <p:nvPr/>
        </p:nvSpPr>
        <p:spPr>
          <a:xfrm>
            <a:off x="978407" y="5102352"/>
            <a:ext cx="6272783" cy="164592"/>
          </a:xfrm>
          <a:prstGeom prst="rect">
            <a:avLst/>
          </a:prstGeom>
          <a:noFill/>
        </p:spPr>
        <p:txBody>
          <a:bodyPr wrap="square" lIns="0" tIns="0" rIns="0" bIns="0" anchor="t">
            <a:spAutoFit/>
          </a:bodyPr>
          <a:lstStyle/>
          <a:p>
            <a:pPr algn="ctr">
              <a:lnSpc>
                <a:spcPct val="105000"/>
              </a:lnSpc>
            </a:pPr>
            <a:r>
              <a:rPr sz="840" b="0">
                <a:solidFill>
                  <a:srgbClr val="5B6773"/>
                </a:solidFill>
                <a:latin typeface="微软雅黑 Light"/>
              </a:rPr>
              <a:t>图 4-1 KGAMA 模型架构</a:t>
            </a:r>
          </a:p>
        </p:txBody>
      </p:sp>
      <p:sp>
        <p:nvSpPr>
          <p:cNvPr id="14" name="Rounded Rectangle 13"/>
          <p:cNvSpPr/>
          <p:nvPr/>
        </p:nvSpPr>
        <p:spPr>
          <a:xfrm>
            <a:off x="7699248" y="1078992"/>
            <a:ext cx="3566160"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699248" y="1078992"/>
            <a:ext cx="91440" cy="960120"/>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991856" y="1280160"/>
            <a:ext cx="3035808"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四模态表征</a:t>
            </a:r>
          </a:p>
        </p:txBody>
      </p:sp>
      <p:sp>
        <p:nvSpPr>
          <p:cNvPr id="17" name="TextBox 16"/>
          <p:cNvSpPr txBox="1"/>
          <p:nvPr/>
        </p:nvSpPr>
        <p:spPr>
          <a:xfrm>
            <a:off x="8010144" y="1700784"/>
            <a:ext cx="3017520" cy="246888"/>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联合分子图、SMILES 序列、分子指纹和自然语言文本，构建更完整的分子表示体系。</a:t>
            </a:r>
          </a:p>
        </p:txBody>
      </p:sp>
      <p:sp>
        <p:nvSpPr>
          <p:cNvPr id="18" name="Rounded Rectangle 17"/>
          <p:cNvSpPr/>
          <p:nvPr/>
        </p:nvSpPr>
        <p:spPr>
          <a:xfrm>
            <a:off x="7699248" y="2322576"/>
            <a:ext cx="3566160"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699248" y="2322576"/>
            <a:ext cx="91440" cy="960120"/>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991856" y="2523744"/>
            <a:ext cx="3035808"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知识重写</a:t>
            </a:r>
          </a:p>
        </p:txBody>
      </p:sp>
      <p:sp>
        <p:nvSpPr>
          <p:cNvPr id="21" name="TextBox 20"/>
          <p:cNvSpPr txBox="1"/>
          <p:nvPr/>
        </p:nvSpPr>
        <p:spPr>
          <a:xfrm>
            <a:off x="8010144" y="2944368"/>
            <a:ext cx="3017520" cy="246888"/>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利用 PubChem 原始文本和 RDKit 计算的 11 项理化指标，经 LLM 去噪重写后输入 SciBERT。</a:t>
            </a:r>
          </a:p>
        </p:txBody>
      </p:sp>
      <p:sp>
        <p:nvSpPr>
          <p:cNvPr id="22" name="Rounded Rectangle 21"/>
          <p:cNvSpPr/>
          <p:nvPr/>
        </p:nvSpPr>
        <p:spPr>
          <a:xfrm>
            <a:off x="7699248" y="3566160"/>
            <a:ext cx="3566160"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7699248" y="3566160"/>
            <a:ext cx="91440" cy="960120"/>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991856" y="3767328"/>
            <a:ext cx="3035808"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图中心对齐</a:t>
            </a:r>
          </a:p>
        </p:txBody>
      </p:sp>
      <p:sp>
        <p:nvSpPr>
          <p:cNvPr id="25" name="TextBox 24"/>
          <p:cNvSpPr txBox="1"/>
          <p:nvPr/>
        </p:nvSpPr>
        <p:spPr>
          <a:xfrm>
            <a:off x="8010144" y="4187952"/>
            <a:ext cx="3017520" cy="246888"/>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以图表征作为稳定语义锚点，并用同方差不确定性权重降低噪声模态干扰。</a:t>
            </a:r>
          </a:p>
        </p:txBody>
      </p:sp>
      <p:sp>
        <p:nvSpPr>
          <p:cNvPr id="26" name="Rounded Rectangle 25"/>
          <p:cNvSpPr/>
          <p:nvPr/>
        </p:nvSpPr>
        <p:spPr>
          <a:xfrm>
            <a:off x="7699248" y="4809744"/>
            <a:ext cx="3566160" cy="713232"/>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7699248" y="4809744"/>
            <a:ext cx="91440" cy="713232"/>
          </a:xfrm>
          <a:prstGeom prst="rect">
            <a:avLst/>
          </a:prstGeom>
          <a:solidFill>
            <a:srgbClr val="163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991856" y="5010912"/>
            <a:ext cx="3035808"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自适应融合</a:t>
            </a:r>
          </a:p>
        </p:txBody>
      </p:sp>
      <p:sp>
        <p:nvSpPr>
          <p:cNvPr id="29" name="TextBox 28"/>
          <p:cNvSpPr txBox="1"/>
          <p:nvPr/>
        </p:nvSpPr>
        <p:spPr>
          <a:xfrm>
            <a:off x="8010144" y="5431536"/>
            <a:ext cx="3017520" cy="0"/>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通过交叉注意力根据具体任务动态调配不同模态贡献，而非静态拼接。</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271015" y="265176"/>
            <a:ext cx="5669280" cy="411480"/>
          </a:xfrm>
          <a:prstGeom prst="rect">
            <a:avLst/>
          </a:prstGeom>
          <a:noFill/>
        </p:spPr>
        <p:txBody>
          <a:bodyPr wrap="square" lIns="0" tIns="0" rIns="0" bIns="0" anchor="t">
            <a:spAutoFit/>
          </a:bodyPr>
          <a:lstStyle/>
          <a:p>
            <a:pPr algn="l">
              <a:lnSpc>
                <a:spcPct val="105000"/>
              </a:lnSpc>
            </a:pPr>
            <a:r>
              <a:rPr sz="2000" b="1" dirty="0">
                <a:solidFill>
                  <a:srgbClr val="004E98"/>
                </a:solidFill>
                <a:latin typeface="方正正中黑简体"/>
              </a:rPr>
              <a:t>KGAMA </a:t>
            </a:r>
            <a:r>
              <a:rPr sz="2000" b="1" dirty="0" err="1">
                <a:solidFill>
                  <a:srgbClr val="004E98"/>
                </a:solidFill>
                <a:latin typeface="方正正中黑简体"/>
              </a:rPr>
              <a:t>知识重写与模态构建</a:t>
            </a:r>
            <a:endParaRPr sz="2000" b="1" dirty="0">
              <a:solidFill>
                <a:srgbClr val="004E98"/>
              </a:solidFill>
              <a:latin typeface="方正正中黑简体"/>
            </a:endParaRPr>
          </a:p>
        </p:txBody>
      </p:sp>
      <p:sp>
        <p:nvSpPr>
          <p:cNvPr id="6" name="TextBox 5"/>
          <p:cNvSpPr txBox="1"/>
          <p:nvPr/>
        </p:nvSpPr>
        <p:spPr>
          <a:xfrm>
            <a:off x="7178040" y="338328"/>
            <a:ext cx="2880360" cy="274320"/>
          </a:xfrm>
          <a:prstGeom prst="rect">
            <a:avLst/>
          </a:prstGeom>
          <a:noFill/>
        </p:spPr>
        <p:txBody>
          <a:bodyPr wrap="square" lIns="0" tIns="0" rIns="0" bIns="0" anchor="t">
            <a:spAutoFit/>
          </a:bodyPr>
          <a:lstStyle/>
          <a:p>
            <a:pPr algn="r">
              <a:lnSpc>
                <a:spcPct val="105000"/>
              </a:lnSpc>
            </a:pPr>
            <a:r>
              <a:rPr sz="950" b="0">
                <a:solidFill>
                  <a:srgbClr val="347AA7"/>
                </a:solidFill>
                <a:latin typeface="微软雅黑 Light"/>
              </a:rPr>
              <a:t>第三部分 研究内容</a:t>
            </a:r>
          </a:p>
        </p:txBody>
      </p:sp>
      <p:pic>
        <p:nvPicPr>
          <p:cNvPr id="7" name="Picture 6" descr="logo.png"/>
          <p:cNvPicPr>
            <a:picLocks noChangeAspect="1"/>
          </p:cNvPicPr>
          <p:nvPr/>
        </p:nvPicPr>
        <p:blipFill>
          <a:blip r:embed="rId2"/>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0" name="TextBox 9"/>
          <p:cNvSpPr txBox="1"/>
          <p:nvPr/>
        </p:nvSpPr>
        <p:spPr>
          <a:xfrm>
            <a:off x="11384280" y="6565392"/>
            <a:ext cx="384048" cy="256032"/>
          </a:xfrm>
          <a:prstGeom prst="rect">
            <a:avLst/>
          </a:prstGeom>
          <a:noFill/>
        </p:spPr>
        <p:txBody>
          <a:bodyPr wrap="square" lIns="0" tIns="0" rIns="0" bIns="0" anchor="ctr">
            <a:spAutoFit/>
          </a:bodyPr>
          <a:lstStyle/>
          <a:p>
            <a:pPr algn="r">
              <a:lnSpc>
                <a:spcPct val="105000"/>
              </a:lnSpc>
            </a:pPr>
            <a:r>
              <a:rPr sz="900" b="0">
                <a:solidFill>
                  <a:srgbClr val="FFFFFF"/>
                </a:solidFill>
                <a:latin typeface="微软雅黑 Light"/>
              </a:rPr>
              <a:t>15</a:t>
            </a:r>
          </a:p>
        </p:txBody>
      </p:sp>
      <p:sp>
        <p:nvSpPr>
          <p:cNvPr id="11" name="Rounded Rectangle 10"/>
          <p:cNvSpPr/>
          <p:nvPr/>
        </p:nvSpPr>
        <p:spPr>
          <a:xfrm>
            <a:off x="868680" y="1115568"/>
            <a:ext cx="1282446" cy="1115568"/>
          </a:xfrm>
          <a:prstGeom prst="round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7" y="1225295"/>
            <a:ext cx="292608" cy="182880"/>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1</a:t>
            </a:r>
          </a:p>
        </p:txBody>
      </p:sp>
      <p:sp>
        <p:nvSpPr>
          <p:cNvPr id="13" name="TextBox 12"/>
          <p:cNvSpPr txBox="1"/>
          <p:nvPr/>
        </p:nvSpPr>
        <p:spPr>
          <a:xfrm>
            <a:off x="1033271" y="1554480"/>
            <a:ext cx="953262" cy="274320"/>
          </a:xfrm>
          <a:prstGeom prst="rect">
            <a:avLst/>
          </a:prstGeom>
          <a:noFill/>
        </p:spPr>
        <p:txBody>
          <a:bodyPr wrap="square" lIns="0" tIns="0" rIns="0" bIns="0" anchor="t">
            <a:spAutoFit/>
          </a:bodyPr>
          <a:lstStyle/>
          <a:p>
            <a:pPr algn="ctr">
              <a:lnSpc>
                <a:spcPct val="105000"/>
              </a:lnSpc>
            </a:pPr>
            <a:r>
              <a:rPr sz="1220" b="1">
                <a:solidFill>
                  <a:srgbClr val="FFFFFF"/>
                </a:solidFill>
                <a:latin typeface="微软雅黑 Light"/>
              </a:rPr>
              <a:t>PubChem</a:t>
            </a:r>
          </a:p>
        </p:txBody>
      </p:sp>
      <p:sp>
        <p:nvSpPr>
          <p:cNvPr id="14" name="TextBox 13"/>
          <p:cNvSpPr txBox="1"/>
          <p:nvPr/>
        </p:nvSpPr>
        <p:spPr>
          <a:xfrm>
            <a:off x="1033271" y="1901952"/>
            <a:ext cx="953262" cy="256032"/>
          </a:xfrm>
          <a:prstGeom prst="rect">
            <a:avLst/>
          </a:prstGeom>
          <a:noFill/>
        </p:spPr>
        <p:txBody>
          <a:bodyPr wrap="square" lIns="0" tIns="0" rIns="0" bIns="0" anchor="t">
            <a:spAutoFit/>
          </a:bodyPr>
          <a:lstStyle/>
          <a:p>
            <a:pPr algn="ctr">
              <a:lnSpc>
                <a:spcPct val="105000"/>
              </a:lnSpc>
            </a:pPr>
            <a:r>
              <a:rPr sz="880" b="0">
                <a:solidFill>
                  <a:srgbClr val="EAF3FA"/>
                </a:solidFill>
                <a:latin typeface="微软雅黑 Light"/>
              </a:rPr>
              <a:t>原始分子描述</a:t>
            </a:r>
          </a:p>
        </p:txBody>
      </p:sp>
      <p:sp>
        <p:nvSpPr>
          <p:cNvPr id="15" name="Rounded Rectangle 14"/>
          <p:cNvSpPr/>
          <p:nvPr/>
        </p:nvSpPr>
        <p:spPr>
          <a:xfrm>
            <a:off x="2315718" y="1115568"/>
            <a:ext cx="1282446" cy="1115568"/>
          </a:xfrm>
          <a:prstGeom prst="round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425446" y="1225295"/>
            <a:ext cx="292608" cy="182880"/>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2</a:t>
            </a:r>
          </a:p>
        </p:txBody>
      </p:sp>
      <p:sp>
        <p:nvSpPr>
          <p:cNvPr id="17" name="TextBox 16"/>
          <p:cNvSpPr txBox="1"/>
          <p:nvPr/>
        </p:nvSpPr>
        <p:spPr>
          <a:xfrm>
            <a:off x="2480310" y="1554480"/>
            <a:ext cx="953262" cy="274320"/>
          </a:xfrm>
          <a:prstGeom prst="rect">
            <a:avLst/>
          </a:prstGeom>
          <a:noFill/>
        </p:spPr>
        <p:txBody>
          <a:bodyPr wrap="square" lIns="0" tIns="0" rIns="0" bIns="0" anchor="t">
            <a:spAutoFit/>
          </a:bodyPr>
          <a:lstStyle/>
          <a:p>
            <a:pPr algn="ctr">
              <a:lnSpc>
                <a:spcPct val="105000"/>
              </a:lnSpc>
            </a:pPr>
            <a:r>
              <a:rPr sz="1220" b="1">
                <a:solidFill>
                  <a:srgbClr val="FFFFFF"/>
                </a:solidFill>
                <a:latin typeface="微软雅黑 Light"/>
              </a:rPr>
              <a:t>RDKit</a:t>
            </a:r>
          </a:p>
        </p:txBody>
      </p:sp>
      <p:sp>
        <p:nvSpPr>
          <p:cNvPr id="18" name="TextBox 17"/>
          <p:cNvSpPr txBox="1"/>
          <p:nvPr/>
        </p:nvSpPr>
        <p:spPr>
          <a:xfrm>
            <a:off x="2480310" y="1901952"/>
            <a:ext cx="953262" cy="256032"/>
          </a:xfrm>
          <a:prstGeom prst="rect">
            <a:avLst/>
          </a:prstGeom>
          <a:noFill/>
        </p:spPr>
        <p:txBody>
          <a:bodyPr wrap="square" lIns="0" tIns="0" rIns="0" bIns="0" anchor="t">
            <a:spAutoFit/>
          </a:bodyPr>
          <a:lstStyle/>
          <a:p>
            <a:pPr algn="ctr">
              <a:lnSpc>
                <a:spcPct val="105000"/>
              </a:lnSpc>
            </a:pPr>
            <a:r>
              <a:rPr sz="880" b="0">
                <a:solidFill>
                  <a:srgbClr val="EAF3FA"/>
                </a:solidFill>
                <a:latin typeface="微软雅黑 Light"/>
              </a:rPr>
              <a:t>理化指标注入</a:t>
            </a:r>
          </a:p>
        </p:txBody>
      </p:sp>
      <p:sp>
        <p:nvSpPr>
          <p:cNvPr id="19" name="Rounded Rectangle 18"/>
          <p:cNvSpPr/>
          <p:nvPr/>
        </p:nvSpPr>
        <p:spPr>
          <a:xfrm>
            <a:off x="3762756" y="1115568"/>
            <a:ext cx="1282446" cy="1115568"/>
          </a:xfrm>
          <a:prstGeom prst="round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872484" y="1225295"/>
            <a:ext cx="292608" cy="182880"/>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3</a:t>
            </a:r>
          </a:p>
        </p:txBody>
      </p:sp>
      <p:sp>
        <p:nvSpPr>
          <p:cNvPr id="21" name="TextBox 20"/>
          <p:cNvSpPr txBox="1"/>
          <p:nvPr/>
        </p:nvSpPr>
        <p:spPr>
          <a:xfrm>
            <a:off x="3927348" y="1554480"/>
            <a:ext cx="953262" cy="274320"/>
          </a:xfrm>
          <a:prstGeom prst="rect">
            <a:avLst/>
          </a:prstGeom>
          <a:noFill/>
        </p:spPr>
        <p:txBody>
          <a:bodyPr wrap="square" lIns="0" tIns="0" rIns="0" bIns="0" anchor="t">
            <a:spAutoFit/>
          </a:bodyPr>
          <a:lstStyle/>
          <a:p>
            <a:pPr algn="ctr">
              <a:lnSpc>
                <a:spcPct val="105000"/>
              </a:lnSpc>
            </a:pPr>
            <a:r>
              <a:rPr sz="1220" b="1">
                <a:solidFill>
                  <a:srgbClr val="FFFFFF"/>
                </a:solidFill>
                <a:latin typeface="微软雅黑 Light"/>
              </a:rPr>
              <a:t>LLM 重写</a:t>
            </a:r>
          </a:p>
        </p:txBody>
      </p:sp>
      <p:sp>
        <p:nvSpPr>
          <p:cNvPr id="22" name="TextBox 21"/>
          <p:cNvSpPr txBox="1"/>
          <p:nvPr/>
        </p:nvSpPr>
        <p:spPr>
          <a:xfrm>
            <a:off x="3927348" y="1901952"/>
            <a:ext cx="953262" cy="256032"/>
          </a:xfrm>
          <a:prstGeom prst="rect">
            <a:avLst/>
          </a:prstGeom>
          <a:noFill/>
        </p:spPr>
        <p:txBody>
          <a:bodyPr wrap="square" lIns="0" tIns="0" rIns="0" bIns="0" anchor="t">
            <a:spAutoFit/>
          </a:bodyPr>
          <a:lstStyle/>
          <a:p>
            <a:pPr algn="ctr">
              <a:lnSpc>
                <a:spcPct val="105000"/>
              </a:lnSpc>
            </a:pPr>
            <a:r>
              <a:rPr sz="880" b="0">
                <a:solidFill>
                  <a:srgbClr val="EAF3FA"/>
                </a:solidFill>
                <a:latin typeface="微软雅黑 Light"/>
              </a:rPr>
              <a:t>去噪与知识融合</a:t>
            </a:r>
          </a:p>
        </p:txBody>
      </p:sp>
      <p:sp>
        <p:nvSpPr>
          <p:cNvPr id="23" name="Rounded Rectangle 22"/>
          <p:cNvSpPr/>
          <p:nvPr/>
        </p:nvSpPr>
        <p:spPr>
          <a:xfrm>
            <a:off x="5209794" y="1115568"/>
            <a:ext cx="1282446" cy="1115568"/>
          </a:xfrm>
          <a:prstGeom prst="roundRect">
            <a:avLst/>
          </a:prstGeom>
          <a:solidFill>
            <a:srgbClr val="163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319522" y="1225295"/>
            <a:ext cx="292608" cy="182880"/>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4</a:t>
            </a:r>
          </a:p>
        </p:txBody>
      </p:sp>
      <p:sp>
        <p:nvSpPr>
          <p:cNvPr id="25" name="TextBox 24"/>
          <p:cNvSpPr txBox="1"/>
          <p:nvPr/>
        </p:nvSpPr>
        <p:spPr>
          <a:xfrm>
            <a:off x="5374386" y="1554480"/>
            <a:ext cx="953262" cy="274320"/>
          </a:xfrm>
          <a:prstGeom prst="rect">
            <a:avLst/>
          </a:prstGeom>
          <a:noFill/>
        </p:spPr>
        <p:txBody>
          <a:bodyPr wrap="square" lIns="0" tIns="0" rIns="0" bIns="0" anchor="t">
            <a:spAutoFit/>
          </a:bodyPr>
          <a:lstStyle/>
          <a:p>
            <a:pPr algn="ctr">
              <a:lnSpc>
                <a:spcPct val="105000"/>
              </a:lnSpc>
            </a:pPr>
            <a:r>
              <a:rPr sz="1220" b="1">
                <a:solidFill>
                  <a:srgbClr val="FFFFFF"/>
                </a:solidFill>
                <a:latin typeface="微软雅黑 Light"/>
              </a:rPr>
              <a:t>SciBERT</a:t>
            </a:r>
          </a:p>
        </p:txBody>
      </p:sp>
      <p:sp>
        <p:nvSpPr>
          <p:cNvPr id="26" name="TextBox 25"/>
          <p:cNvSpPr txBox="1"/>
          <p:nvPr/>
        </p:nvSpPr>
        <p:spPr>
          <a:xfrm>
            <a:off x="5374386" y="1901952"/>
            <a:ext cx="953262" cy="256032"/>
          </a:xfrm>
          <a:prstGeom prst="rect">
            <a:avLst/>
          </a:prstGeom>
          <a:noFill/>
        </p:spPr>
        <p:txBody>
          <a:bodyPr wrap="square" lIns="0" tIns="0" rIns="0" bIns="0" anchor="t">
            <a:spAutoFit/>
          </a:bodyPr>
          <a:lstStyle/>
          <a:p>
            <a:pPr algn="ctr">
              <a:lnSpc>
                <a:spcPct val="105000"/>
              </a:lnSpc>
            </a:pPr>
            <a:r>
              <a:rPr sz="880" b="0">
                <a:solidFill>
                  <a:srgbClr val="EAF3FA"/>
                </a:solidFill>
                <a:latin typeface="微软雅黑 Light"/>
              </a:rPr>
              <a:t>高密度语义编码</a:t>
            </a:r>
          </a:p>
        </p:txBody>
      </p:sp>
      <p:sp>
        <p:nvSpPr>
          <p:cNvPr id="27" name="Rounded Rectangle 26"/>
          <p:cNvSpPr/>
          <p:nvPr/>
        </p:nvSpPr>
        <p:spPr>
          <a:xfrm>
            <a:off x="6903720" y="987552"/>
            <a:ext cx="4343400" cy="475488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8" name="Picture 27" descr="药物分子原始检索文本与重写文本的对比示例.png"/>
          <p:cNvPicPr>
            <a:picLocks noChangeAspect="1"/>
          </p:cNvPicPr>
          <p:nvPr/>
        </p:nvPicPr>
        <p:blipFill>
          <a:blip r:embed="rId3"/>
          <a:stretch>
            <a:fillRect/>
          </a:stretch>
        </p:blipFill>
        <p:spPr>
          <a:xfrm>
            <a:off x="7231063" y="1060704"/>
            <a:ext cx="3688712" cy="4370832"/>
          </a:xfrm>
          <a:prstGeom prst="rect">
            <a:avLst/>
          </a:prstGeom>
        </p:spPr>
      </p:pic>
      <p:sp>
        <p:nvSpPr>
          <p:cNvPr id="29" name="TextBox 28"/>
          <p:cNvSpPr txBox="1"/>
          <p:nvPr/>
        </p:nvSpPr>
        <p:spPr>
          <a:xfrm>
            <a:off x="7013448" y="5495544"/>
            <a:ext cx="4123944" cy="164592"/>
          </a:xfrm>
          <a:prstGeom prst="rect">
            <a:avLst/>
          </a:prstGeom>
          <a:noFill/>
        </p:spPr>
        <p:txBody>
          <a:bodyPr wrap="square" lIns="0" tIns="0" rIns="0" bIns="0" anchor="t">
            <a:spAutoFit/>
          </a:bodyPr>
          <a:lstStyle/>
          <a:p>
            <a:pPr algn="ctr">
              <a:lnSpc>
                <a:spcPct val="105000"/>
              </a:lnSpc>
            </a:pPr>
            <a:r>
              <a:rPr sz="840" b="0">
                <a:solidFill>
                  <a:srgbClr val="5B6773"/>
                </a:solidFill>
                <a:latin typeface="微软雅黑 Light"/>
              </a:rPr>
              <a:t>药物分子原始检索文本与重写文本对比示例</a:t>
            </a:r>
          </a:p>
        </p:txBody>
      </p:sp>
      <p:sp>
        <p:nvSpPr>
          <p:cNvPr id="30" name="Rounded Rectangle 29"/>
          <p:cNvSpPr/>
          <p:nvPr/>
        </p:nvSpPr>
        <p:spPr>
          <a:xfrm>
            <a:off x="868680" y="2779776"/>
            <a:ext cx="2651760" cy="105156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三种典型分子指纹特征的比较分析.png"/>
          <p:cNvPicPr>
            <a:picLocks noChangeAspect="1"/>
          </p:cNvPicPr>
          <p:nvPr/>
        </p:nvPicPr>
        <p:blipFill>
          <a:blip r:embed="rId4"/>
          <a:stretch>
            <a:fillRect/>
          </a:stretch>
        </p:blipFill>
        <p:spPr>
          <a:xfrm>
            <a:off x="923544" y="2950102"/>
            <a:ext cx="2542032" cy="473163"/>
          </a:xfrm>
          <a:prstGeom prst="rect">
            <a:avLst/>
          </a:prstGeom>
        </p:spPr>
      </p:pic>
      <p:sp>
        <p:nvSpPr>
          <p:cNvPr id="32" name="TextBox 31"/>
          <p:cNvSpPr txBox="1"/>
          <p:nvPr/>
        </p:nvSpPr>
        <p:spPr>
          <a:xfrm>
            <a:off x="978407" y="3584447"/>
            <a:ext cx="2432304" cy="164592"/>
          </a:xfrm>
          <a:prstGeom prst="rect">
            <a:avLst/>
          </a:prstGeom>
          <a:noFill/>
        </p:spPr>
        <p:txBody>
          <a:bodyPr wrap="square" lIns="0" tIns="0" rIns="0" bIns="0" anchor="t">
            <a:spAutoFit/>
          </a:bodyPr>
          <a:lstStyle/>
          <a:p>
            <a:pPr algn="ctr">
              <a:lnSpc>
                <a:spcPct val="105000"/>
              </a:lnSpc>
            </a:pPr>
            <a:r>
              <a:rPr sz="840" b="0">
                <a:solidFill>
                  <a:srgbClr val="5B6773"/>
                </a:solidFill>
                <a:latin typeface="微软雅黑 Light"/>
              </a:rPr>
              <a:t>三类分子指纹特征</a:t>
            </a:r>
          </a:p>
        </p:txBody>
      </p:sp>
      <p:sp>
        <p:nvSpPr>
          <p:cNvPr id="33" name="Rounded Rectangle 32"/>
          <p:cNvSpPr/>
          <p:nvPr/>
        </p:nvSpPr>
        <p:spPr>
          <a:xfrm>
            <a:off x="3822191" y="2779776"/>
            <a:ext cx="2670048" cy="105156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Picture 33" descr="分子理化性质指标及其含义.png"/>
          <p:cNvPicPr>
            <a:picLocks noChangeAspect="1"/>
          </p:cNvPicPr>
          <p:nvPr/>
        </p:nvPicPr>
        <p:blipFill>
          <a:blip r:embed="rId5"/>
          <a:stretch>
            <a:fillRect/>
          </a:stretch>
        </p:blipFill>
        <p:spPr>
          <a:xfrm>
            <a:off x="4477466" y="2834640"/>
            <a:ext cx="1359498" cy="704087"/>
          </a:xfrm>
          <a:prstGeom prst="rect">
            <a:avLst/>
          </a:prstGeom>
        </p:spPr>
      </p:pic>
      <p:sp>
        <p:nvSpPr>
          <p:cNvPr id="35" name="TextBox 34"/>
          <p:cNvSpPr txBox="1"/>
          <p:nvPr/>
        </p:nvSpPr>
        <p:spPr>
          <a:xfrm>
            <a:off x="3931920" y="3584447"/>
            <a:ext cx="2450591" cy="164592"/>
          </a:xfrm>
          <a:prstGeom prst="rect">
            <a:avLst/>
          </a:prstGeom>
          <a:noFill/>
        </p:spPr>
        <p:txBody>
          <a:bodyPr wrap="square" lIns="0" tIns="0" rIns="0" bIns="0" anchor="t">
            <a:spAutoFit/>
          </a:bodyPr>
          <a:lstStyle/>
          <a:p>
            <a:pPr algn="ctr">
              <a:lnSpc>
                <a:spcPct val="105000"/>
              </a:lnSpc>
            </a:pPr>
            <a:r>
              <a:rPr sz="840" b="0">
                <a:solidFill>
                  <a:srgbClr val="5B6773"/>
                </a:solidFill>
                <a:latin typeface="微软雅黑 Light"/>
              </a:rPr>
              <a:t>理化性质指标</a:t>
            </a:r>
          </a:p>
        </p:txBody>
      </p:sp>
      <p:sp>
        <p:nvSpPr>
          <p:cNvPr id="36" name="Rounded Rectangle 35"/>
          <p:cNvSpPr/>
          <p:nvPr/>
        </p:nvSpPr>
        <p:spPr>
          <a:xfrm>
            <a:off x="868680" y="4224528"/>
            <a:ext cx="2651760" cy="105156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868680" y="4224528"/>
            <a:ext cx="91440" cy="1051560"/>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161288" y="4425696"/>
            <a:ext cx="2121408"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知识增强价值</a:t>
            </a:r>
          </a:p>
        </p:txBody>
      </p:sp>
      <p:sp>
        <p:nvSpPr>
          <p:cNvPr id="39" name="TextBox 38"/>
          <p:cNvSpPr txBox="1"/>
          <p:nvPr/>
        </p:nvSpPr>
        <p:spPr>
          <a:xfrm>
            <a:off x="1179576" y="4846320"/>
            <a:ext cx="2103120" cy="338327"/>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将冗余公共医学文本转换为结构化、化学约束更强的专家语义，提升文本模态可用性。</a:t>
            </a:r>
          </a:p>
        </p:txBody>
      </p:sp>
      <p:sp>
        <p:nvSpPr>
          <p:cNvPr id="40" name="Rounded Rectangle 39"/>
          <p:cNvSpPr/>
          <p:nvPr/>
        </p:nvSpPr>
        <p:spPr>
          <a:xfrm>
            <a:off x="3822191" y="4224528"/>
            <a:ext cx="2670048" cy="105156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3822191" y="4224528"/>
            <a:ext cx="91440" cy="1051560"/>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114800" y="4425696"/>
            <a:ext cx="2139696"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指纹补充价值</a:t>
            </a:r>
          </a:p>
        </p:txBody>
      </p:sp>
      <p:sp>
        <p:nvSpPr>
          <p:cNvPr id="43" name="TextBox 42"/>
          <p:cNvSpPr txBox="1"/>
          <p:nvPr/>
        </p:nvSpPr>
        <p:spPr>
          <a:xfrm>
            <a:off x="4133087" y="4846320"/>
            <a:ext cx="2121408" cy="338327"/>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AtomPairs、MACCS、Morgan 从不同角度捕获子结构统计信息，弥补图编码器可能遗漏的全局模式。</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25880" y="284607"/>
            <a:ext cx="5669280" cy="411480"/>
          </a:xfrm>
          <a:prstGeom prst="rect">
            <a:avLst/>
          </a:prstGeom>
          <a:noFill/>
        </p:spPr>
        <p:txBody>
          <a:bodyPr wrap="square" lIns="0" tIns="0" rIns="0" bIns="0" anchor="t">
            <a:spAutoFit/>
          </a:bodyPr>
          <a:lstStyle/>
          <a:p>
            <a:pPr algn="l">
              <a:lnSpc>
                <a:spcPct val="105000"/>
              </a:lnSpc>
            </a:pPr>
            <a:r>
              <a:rPr sz="2000" b="1" dirty="0">
                <a:solidFill>
                  <a:srgbClr val="004E98"/>
                </a:solidFill>
                <a:latin typeface="方正正中黑简体"/>
              </a:rPr>
              <a:t>KGAMA </a:t>
            </a:r>
            <a:r>
              <a:rPr sz="2000" b="1" dirty="0" err="1">
                <a:solidFill>
                  <a:srgbClr val="004E98"/>
                </a:solidFill>
                <a:latin typeface="方正正中黑简体"/>
              </a:rPr>
              <a:t>实验结果与可解释性</a:t>
            </a:r>
            <a:endParaRPr sz="2000" b="1" dirty="0">
              <a:solidFill>
                <a:srgbClr val="004E98"/>
              </a:solidFill>
              <a:latin typeface="方正正中黑简体"/>
            </a:endParaRPr>
          </a:p>
        </p:txBody>
      </p:sp>
      <p:sp>
        <p:nvSpPr>
          <p:cNvPr id="6" name="TextBox 5"/>
          <p:cNvSpPr txBox="1"/>
          <p:nvPr/>
        </p:nvSpPr>
        <p:spPr>
          <a:xfrm>
            <a:off x="7178040" y="338328"/>
            <a:ext cx="2880360" cy="274320"/>
          </a:xfrm>
          <a:prstGeom prst="rect">
            <a:avLst/>
          </a:prstGeom>
          <a:noFill/>
        </p:spPr>
        <p:txBody>
          <a:bodyPr wrap="square" lIns="0" tIns="0" rIns="0" bIns="0" anchor="t">
            <a:spAutoFit/>
          </a:bodyPr>
          <a:lstStyle/>
          <a:p>
            <a:pPr algn="r">
              <a:lnSpc>
                <a:spcPct val="105000"/>
              </a:lnSpc>
            </a:pPr>
            <a:r>
              <a:rPr sz="950" b="0">
                <a:solidFill>
                  <a:srgbClr val="347AA7"/>
                </a:solidFill>
                <a:latin typeface="微软雅黑 Light"/>
              </a:rPr>
              <a:t>第三部分 研究内容</a:t>
            </a:r>
          </a:p>
        </p:txBody>
      </p:sp>
      <p:pic>
        <p:nvPicPr>
          <p:cNvPr id="7" name="Picture 6" descr="logo.png"/>
          <p:cNvPicPr>
            <a:picLocks noChangeAspect="1"/>
          </p:cNvPicPr>
          <p:nvPr/>
        </p:nvPicPr>
        <p:blipFill>
          <a:blip r:embed="rId2"/>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0" name="TextBox 9"/>
          <p:cNvSpPr txBox="1"/>
          <p:nvPr/>
        </p:nvSpPr>
        <p:spPr>
          <a:xfrm>
            <a:off x="11384280" y="6565392"/>
            <a:ext cx="384048" cy="256032"/>
          </a:xfrm>
          <a:prstGeom prst="rect">
            <a:avLst/>
          </a:prstGeom>
          <a:noFill/>
        </p:spPr>
        <p:txBody>
          <a:bodyPr wrap="square" lIns="0" tIns="0" rIns="0" bIns="0" anchor="ctr">
            <a:spAutoFit/>
          </a:bodyPr>
          <a:lstStyle/>
          <a:p>
            <a:pPr algn="r">
              <a:lnSpc>
                <a:spcPct val="105000"/>
              </a:lnSpc>
            </a:pPr>
            <a:r>
              <a:rPr sz="900" b="0">
                <a:solidFill>
                  <a:srgbClr val="FFFFFF"/>
                </a:solidFill>
                <a:latin typeface="微软雅黑 Light"/>
              </a:rPr>
              <a:t>16</a:t>
            </a:r>
          </a:p>
        </p:txBody>
      </p:sp>
      <p:sp>
        <p:nvSpPr>
          <p:cNvPr id="11" name="Rounded Rectangle 10"/>
          <p:cNvSpPr/>
          <p:nvPr/>
        </p:nvSpPr>
        <p:spPr>
          <a:xfrm>
            <a:off x="868680" y="1024128"/>
            <a:ext cx="5074920" cy="283464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KGAMA在MoleculeNet分类任务上对比实验结果.png"/>
          <p:cNvPicPr>
            <a:picLocks noChangeAspect="1"/>
          </p:cNvPicPr>
          <p:nvPr/>
        </p:nvPicPr>
        <p:blipFill>
          <a:blip r:embed="rId3"/>
          <a:stretch>
            <a:fillRect/>
          </a:stretch>
        </p:blipFill>
        <p:spPr>
          <a:xfrm>
            <a:off x="1894384" y="1097280"/>
            <a:ext cx="3023511" cy="2450591"/>
          </a:xfrm>
          <a:prstGeom prst="rect">
            <a:avLst/>
          </a:prstGeom>
        </p:spPr>
      </p:pic>
      <p:sp>
        <p:nvSpPr>
          <p:cNvPr id="13" name="TextBox 12"/>
          <p:cNvSpPr txBox="1"/>
          <p:nvPr/>
        </p:nvSpPr>
        <p:spPr>
          <a:xfrm>
            <a:off x="978407" y="3611880"/>
            <a:ext cx="4855464" cy="164592"/>
          </a:xfrm>
          <a:prstGeom prst="rect">
            <a:avLst/>
          </a:prstGeom>
          <a:noFill/>
        </p:spPr>
        <p:txBody>
          <a:bodyPr wrap="square" lIns="0" tIns="0" rIns="0" bIns="0" anchor="t">
            <a:spAutoFit/>
          </a:bodyPr>
          <a:lstStyle/>
          <a:p>
            <a:pPr algn="ctr">
              <a:lnSpc>
                <a:spcPct val="105000"/>
              </a:lnSpc>
            </a:pPr>
            <a:r>
              <a:rPr sz="840" b="0">
                <a:solidFill>
                  <a:srgbClr val="5B6773"/>
                </a:solidFill>
                <a:latin typeface="微软雅黑 Light"/>
              </a:rPr>
              <a:t>KGAMA 在 MoleculeNet 分类任务上的对比实验结果</a:t>
            </a:r>
          </a:p>
        </p:txBody>
      </p:sp>
      <p:sp>
        <p:nvSpPr>
          <p:cNvPr id="14" name="Rounded Rectangle 13"/>
          <p:cNvSpPr/>
          <p:nvPr/>
        </p:nvSpPr>
        <p:spPr>
          <a:xfrm>
            <a:off x="6309360" y="1024128"/>
            <a:ext cx="4956048" cy="283464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不同分子模态在各下游任务中的注意力权重分布.png"/>
          <p:cNvPicPr>
            <a:picLocks noChangeAspect="1"/>
          </p:cNvPicPr>
          <p:nvPr/>
        </p:nvPicPr>
        <p:blipFill>
          <a:blip r:embed="rId4"/>
          <a:stretch>
            <a:fillRect/>
          </a:stretch>
        </p:blipFill>
        <p:spPr>
          <a:xfrm>
            <a:off x="6382512" y="1243047"/>
            <a:ext cx="4809744" cy="2159056"/>
          </a:xfrm>
          <a:prstGeom prst="rect">
            <a:avLst/>
          </a:prstGeom>
        </p:spPr>
      </p:pic>
      <p:sp>
        <p:nvSpPr>
          <p:cNvPr id="16" name="TextBox 15"/>
          <p:cNvSpPr txBox="1"/>
          <p:nvPr/>
        </p:nvSpPr>
        <p:spPr>
          <a:xfrm>
            <a:off x="6419088" y="3611880"/>
            <a:ext cx="4736592" cy="164592"/>
          </a:xfrm>
          <a:prstGeom prst="rect">
            <a:avLst/>
          </a:prstGeom>
          <a:noFill/>
        </p:spPr>
        <p:txBody>
          <a:bodyPr wrap="square" lIns="0" tIns="0" rIns="0" bIns="0" anchor="t">
            <a:spAutoFit/>
          </a:bodyPr>
          <a:lstStyle/>
          <a:p>
            <a:pPr algn="ctr">
              <a:lnSpc>
                <a:spcPct val="105000"/>
              </a:lnSpc>
            </a:pPr>
            <a:r>
              <a:rPr sz="840" b="0">
                <a:solidFill>
                  <a:srgbClr val="5B6773"/>
                </a:solidFill>
                <a:latin typeface="微软雅黑 Light"/>
              </a:rPr>
              <a:t>不同分子模态在各下游任务中的注意力权重分布</a:t>
            </a:r>
          </a:p>
        </p:txBody>
      </p:sp>
      <p:sp>
        <p:nvSpPr>
          <p:cNvPr id="17" name="Rounded Rectangle 16"/>
          <p:cNvSpPr/>
          <p:nvPr/>
        </p:nvSpPr>
        <p:spPr>
          <a:xfrm>
            <a:off x="868680" y="4206240"/>
            <a:ext cx="1417320" cy="694944"/>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4400" y="4297679"/>
            <a:ext cx="1325880" cy="384048"/>
          </a:xfrm>
          <a:prstGeom prst="rect">
            <a:avLst/>
          </a:prstGeom>
          <a:noFill/>
        </p:spPr>
        <p:txBody>
          <a:bodyPr wrap="square" lIns="0" tIns="0" rIns="0" bIns="0" anchor="t">
            <a:spAutoFit/>
          </a:bodyPr>
          <a:lstStyle/>
          <a:p>
            <a:pPr algn="ctr">
              <a:lnSpc>
                <a:spcPct val="105000"/>
              </a:lnSpc>
            </a:pPr>
            <a:r>
              <a:rPr sz="2300" b="1">
                <a:solidFill>
                  <a:srgbClr val="B83232"/>
                </a:solidFill>
                <a:latin typeface="Microsoft YaHei"/>
              </a:rPr>
              <a:t>0.939</a:t>
            </a:r>
          </a:p>
        </p:txBody>
      </p:sp>
      <p:sp>
        <p:nvSpPr>
          <p:cNvPr id="19" name="TextBox 18"/>
          <p:cNvSpPr txBox="1"/>
          <p:nvPr/>
        </p:nvSpPr>
        <p:spPr>
          <a:xfrm>
            <a:off x="960120" y="4773168"/>
            <a:ext cx="1234440" cy="73151"/>
          </a:xfrm>
          <a:prstGeom prst="rect">
            <a:avLst/>
          </a:prstGeom>
          <a:noFill/>
        </p:spPr>
        <p:txBody>
          <a:bodyPr wrap="square" lIns="0" tIns="0" rIns="0" bIns="0" anchor="t">
            <a:spAutoFit/>
          </a:bodyPr>
          <a:lstStyle/>
          <a:p>
            <a:pPr algn="ctr">
              <a:lnSpc>
                <a:spcPct val="105000"/>
              </a:lnSpc>
            </a:pPr>
            <a:r>
              <a:rPr sz="880" b="0">
                <a:solidFill>
                  <a:srgbClr val="5B6773"/>
                </a:solidFill>
                <a:latin typeface="微软雅黑 Light"/>
              </a:rPr>
              <a:t>ClinTox AUROC</a:t>
            </a:r>
          </a:p>
        </p:txBody>
      </p:sp>
      <p:sp>
        <p:nvSpPr>
          <p:cNvPr id="20" name="Rounded Rectangle 19"/>
          <p:cNvSpPr/>
          <p:nvPr/>
        </p:nvSpPr>
        <p:spPr>
          <a:xfrm>
            <a:off x="2487168" y="4206240"/>
            <a:ext cx="1417320" cy="694944"/>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532888" y="4297679"/>
            <a:ext cx="1325880" cy="384048"/>
          </a:xfrm>
          <a:prstGeom prst="rect">
            <a:avLst/>
          </a:prstGeom>
          <a:noFill/>
        </p:spPr>
        <p:txBody>
          <a:bodyPr wrap="square" lIns="0" tIns="0" rIns="0" bIns="0" anchor="t">
            <a:spAutoFit/>
          </a:bodyPr>
          <a:lstStyle/>
          <a:p>
            <a:pPr algn="ctr">
              <a:lnSpc>
                <a:spcPct val="105000"/>
              </a:lnSpc>
            </a:pPr>
            <a:r>
              <a:rPr sz="2300" b="1">
                <a:solidFill>
                  <a:srgbClr val="004E98"/>
                </a:solidFill>
                <a:latin typeface="Microsoft YaHei"/>
              </a:rPr>
              <a:t>0.930</a:t>
            </a:r>
          </a:p>
        </p:txBody>
      </p:sp>
      <p:sp>
        <p:nvSpPr>
          <p:cNvPr id="22" name="TextBox 21"/>
          <p:cNvSpPr txBox="1"/>
          <p:nvPr/>
        </p:nvSpPr>
        <p:spPr>
          <a:xfrm>
            <a:off x="2578608" y="4773168"/>
            <a:ext cx="1234440" cy="73151"/>
          </a:xfrm>
          <a:prstGeom prst="rect">
            <a:avLst/>
          </a:prstGeom>
          <a:noFill/>
        </p:spPr>
        <p:txBody>
          <a:bodyPr wrap="square" lIns="0" tIns="0" rIns="0" bIns="0" anchor="t">
            <a:spAutoFit/>
          </a:bodyPr>
          <a:lstStyle/>
          <a:p>
            <a:pPr algn="ctr">
              <a:lnSpc>
                <a:spcPct val="105000"/>
              </a:lnSpc>
            </a:pPr>
            <a:r>
              <a:rPr sz="880" b="0">
                <a:solidFill>
                  <a:srgbClr val="5B6773"/>
                </a:solidFill>
                <a:latin typeface="微软雅黑 Light"/>
              </a:rPr>
              <a:t>BBBP AUROC</a:t>
            </a:r>
          </a:p>
        </p:txBody>
      </p:sp>
      <p:sp>
        <p:nvSpPr>
          <p:cNvPr id="23" name="Rounded Rectangle 22"/>
          <p:cNvSpPr/>
          <p:nvPr/>
        </p:nvSpPr>
        <p:spPr>
          <a:xfrm>
            <a:off x="4114800" y="4206240"/>
            <a:ext cx="1417320" cy="694944"/>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160520" y="4297679"/>
            <a:ext cx="1325880" cy="384048"/>
          </a:xfrm>
          <a:prstGeom prst="rect">
            <a:avLst/>
          </a:prstGeom>
          <a:noFill/>
        </p:spPr>
        <p:txBody>
          <a:bodyPr wrap="square" lIns="0" tIns="0" rIns="0" bIns="0" anchor="t">
            <a:spAutoFit/>
          </a:bodyPr>
          <a:lstStyle/>
          <a:p>
            <a:pPr algn="ctr">
              <a:lnSpc>
                <a:spcPct val="105000"/>
              </a:lnSpc>
            </a:pPr>
            <a:r>
              <a:rPr sz="2300" b="1">
                <a:solidFill>
                  <a:srgbClr val="347AA7"/>
                </a:solidFill>
                <a:latin typeface="Microsoft YaHei"/>
              </a:rPr>
              <a:t>0.831</a:t>
            </a:r>
          </a:p>
        </p:txBody>
      </p:sp>
      <p:sp>
        <p:nvSpPr>
          <p:cNvPr id="25" name="TextBox 24"/>
          <p:cNvSpPr txBox="1"/>
          <p:nvPr/>
        </p:nvSpPr>
        <p:spPr>
          <a:xfrm>
            <a:off x="4206240" y="4773168"/>
            <a:ext cx="1234440" cy="73151"/>
          </a:xfrm>
          <a:prstGeom prst="rect">
            <a:avLst/>
          </a:prstGeom>
          <a:noFill/>
        </p:spPr>
        <p:txBody>
          <a:bodyPr wrap="square" lIns="0" tIns="0" rIns="0" bIns="0" anchor="t">
            <a:spAutoFit/>
          </a:bodyPr>
          <a:lstStyle/>
          <a:p>
            <a:pPr algn="ctr">
              <a:lnSpc>
                <a:spcPct val="105000"/>
              </a:lnSpc>
            </a:pPr>
            <a:r>
              <a:rPr sz="880" b="0">
                <a:solidFill>
                  <a:srgbClr val="5B6773"/>
                </a:solidFill>
                <a:latin typeface="微软雅黑 Light"/>
              </a:rPr>
              <a:t>ESOL RMSE</a:t>
            </a:r>
          </a:p>
        </p:txBody>
      </p:sp>
      <p:sp>
        <p:nvSpPr>
          <p:cNvPr id="26" name="Rounded Rectangle 25"/>
          <p:cNvSpPr/>
          <p:nvPr/>
        </p:nvSpPr>
        <p:spPr>
          <a:xfrm>
            <a:off x="6309360" y="4114800"/>
            <a:ext cx="4956048" cy="74980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309360" y="4114800"/>
            <a:ext cx="91440" cy="7498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601968" y="4315968"/>
            <a:ext cx="4425696"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实验结论</a:t>
            </a:r>
          </a:p>
        </p:txBody>
      </p:sp>
      <p:sp>
        <p:nvSpPr>
          <p:cNvPr id="29" name="TextBox 28"/>
          <p:cNvSpPr txBox="1"/>
          <p:nvPr/>
        </p:nvSpPr>
        <p:spPr>
          <a:xfrm>
            <a:off x="6620256" y="4736592"/>
            <a:ext cx="4407408" cy="36575"/>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KGAMA 在 MoleculeNet 分类与回归任务上均取得较好综合表现，验证知识增强和图中心对齐策略有效。</a:t>
            </a:r>
          </a:p>
        </p:txBody>
      </p:sp>
      <p:sp>
        <p:nvSpPr>
          <p:cNvPr id="30" name="Rounded Rectangle 29"/>
          <p:cNvSpPr/>
          <p:nvPr/>
        </p:nvSpPr>
        <p:spPr>
          <a:xfrm>
            <a:off x="6309360" y="5074920"/>
            <a:ext cx="4956048" cy="64008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309360" y="5074920"/>
            <a:ext cx="91440" cy="640080"/>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601968" y="5276088"/>
            <a:ext cx="4425696"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注意力解释</a:t>
            </a:r>
          </a:p>
        </p:txBody>
      </p:sp>
      <p:sp>
        <p:nvSpPr>
          <p:cNvPr id="33" name="TextBox 32"/>
          <p:cNvSpPr txBox="1"/>
          <p:nvPr/>
        </p:nvSpPr>
        <p:spPr>
          <a:xfrm>
            <a:off x="6620256" y="5696712"/>
            <a:ext cx="4407408" cy="0"/>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物理性质任务更依赖 Graph / Fingerprint；毒性与副作用任务中文本模态权重显著提升。</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48740" y="283464"/>
            <a:ext cx="5669280" cy="411480"/>
          </a:xfrm>
          <a:prstGeom prst="rect">
            <a:avLst/>
          </a:prstGeom>
          <a:noFill/>
        </p:spPr>
        <p:txBody>
          <a:bodyPr wrap="square" lIns="0" tIns="0" rIns="0" bIns="0" anchor="t">
            <a:spAutoFit/>
          </a:bodyPr>
          <a:lstStyle/>
          <a:p>
            <a:pPr algn="l">
              <a:lnSpc>
                <a:spcPct val="105000"/>
              </a:lnSpc>
            </a:pPr>
            <a:r>
              <a:rPr sz="2000" b="1" dirty="0" err="1">
                <a:solidFill>
                  <a:srgbClr val="004E98"/>
                </a:solidFill>
                <a:latin typeface="方正正中黑简体"/>
              </a:rPr>
              <a:t>结论与展望</a:t>
            </a:r>
            <a:endParaRPr sz="2000" b="1" dirty="0">
              <a:solidFill>
                <a:srgbClr val="004E98"/>
              </a:solidFill>
              <a:latin typeface="方正正中黑简体"/>
            </a:endParaRPr>
          </a:p>
        </p:txBody>
      </p:sp>
      <p:sp>
        <p:nvSpPr>
          <p:cNvPr id="6" name="TextBox 5"/>
          <p:cNvSpPr txBox="1"/>
          <p:nvPr/>
        </p:nvSpPr>
        <p:spPr>
          <a:xfrm>
            <a:off x="7178040" y="338328"/>
            <a:ext cx="2880360" cy="274320"/>
          </a:xfrm>
          <a:prstGeom prst="rect">
            <a:avLst/>
          </a:prstGeom>
          <a:noFill/>
        </p:spPr>
        <p:txBody>
          <a:bodyPr wrap="square" lIns="0" tIns="0" rIns="0" bIns="0" anchor="t">
            <a:spAutoFit/>
          </a:bodyPr>
          <a:lstStyle/>
          <a:p>
            <a:pPr algn="r">
              <a:lnSpc>
                <a:spcPct val="105000"/>
              </a:lnSpc>
            </a:pPr>
            <a:r>
              <a:rPr sz="950" b="0">
                <a:solidFill>
                  <a:srgbClr val="347AA7"/>
                </a:solidFill>
                <a:latin typeface="微软雅黑 Light"/>
              </a:rPr>
              <a:t>第四部分 结论与展望</a:t>
            </a:r>
          </a:p>
        </p:txBody>
      </p:sp>
      <p:pic>
        <p:nvPicPr>
          <p:cNvPr id="7" name="Picture 6" descr="logo.png"/>
          <p:cNvPicPr>
            <a:picLocks noChangeAspect="1"/>
          </p:cNvPicPr>
          <p:nvPr/>
        </p:nvPicPr>
        <p:blipFill>
          <a:blip r:embed="rId2"/>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0" name="TextBox 9"/>
          <p:cNvSpPr txBox="1"/>
          <p:nvPr/>
        </p:nvSpPr>
        <p:spPr>
          <a:xfrm>
            <a:off x="11384280" y="6565392"/>
            <a:ext cx="384048" cy="256032"/>
          </a:xfrm>
          <a:prstGeom prst="rect">
            <a:avLst/>
          </a:prstGeom>
          <a:noFill/>
        </p:spPr>
        <p:txBody>
          <a:bodyPr wrap="square" lIns="0" tIns="0" rIns="0" bIns="0" anchor="ctr">
            <a:spAutoFit/>
          </a:bodyPr>
          <a:lstStyle/>
          <a:p>
            <a:pPr algn="r">
              <a:lnSpc>
                <a:spcPct val="105000"/>
              </a:lnSpc>
            </a:pPr>
            <a:r>
              <a:rPr sz="900" b="0">
                <a:solidFill>
                  <a:srgbClr val="FFFFFF"/>
                </a:solidFill>
                <a:latin typeface="微软雅黑 Light"/>
              </a:rPr>
              <a:t>18</a:t>
            </a:r>
          </a:p>
        </p:txBody>
      </p:sp>
      <p:sp>
        <p:nvSpPr>
          <p:cNvPr id="11" name="Rounded Rectangle 10"/>
          <p:cNvSpPr/>
          <p:nvPr/>
        </p:nvSpPr>
        <p:spPr>
          <a:xfrm>
            <a:off x="868680" y="1143000"/>
            <a:ext cx="4983480" cy="1243584"/>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868680" y="1143000"/>
            <a:ext cx="91440" cy="124358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069848" y="1344168"/>
            <a:ext cx="420624" cy="420624"/>
          </a:xfrm>
          <a:prstGeom prst="ellipse">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69848" y="1417320"/>
            <a:ext cx="420624" cy="164592"/>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01</a:t>
            </a:r>
          </a:p>
        </p:txBody>
      </p:sp>
      <p:sp>
        <p:nvSpPr>
          <p:cNvPr id="15" name="TextBox 14"/>
          <p:cNvSpPr txBox="1"/>
          <p:nvPr/>
        </p:nvSpPr>
        <p:spPr>
          <a:xfrm>
            <a:off x="1636776" y="1344168"/>
            <a:ext cx="3977639"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结论一：CoT-CMP</a:t>
            </a:r>
          </a:p>
        </p:txBody>
      </p:sp>
      <p:sp>
        <p:nvSpPr>
          <p:cNvPr id="16" name="TextBox 15"/>
          <p:cNvSpPr txBox="1"/>
          <p:nvPr/>
        </p:nvSpPr>
        <p:spPr>
          <a:xfrm>
            <a:off x="1179576" y="1764792"/>
            <a:ext cx="4434840" cy="530352"/>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提出思维链增强与通信式图交互的图文双塔框架，在 ADMET 基准组上取得较优预测结果，并提供可解释线索。</a:t>
            </a:r>
          </a:p>
        </p:txBody>
      </p:sp>
      <p:sp>
        <p:nvSpPr>
          <p:cNvPr id="17" name="Rounded Rectangle 16"/>
          <p:cNvSpPr/>
          <p:nvPr/>
        </p:nvSpPr>
        <p:spPr>
          <a:xfrm>
            <a:off x="6327648" y="1143000"/>
            <a:ext cx="4983480" cy="1243584"/>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327648" y="1143000"/>
            <a:ext cx="91440" cy="1243584"/>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6528816" y="1344168"/>
            <a:ext cx="420624" cy="420624"/>
          </a:xfrm>
          <a:prstGeom prst="ellipse">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28816" y="1417320"/>
            <a:ext cx="420624" cy="164592"/>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02</a:t>
            </a:r>
          </a:p>
        </p:txBody>
      </p:sp>
      <p:sp>
        <p:nvSpPr>
          <p:cNvPr id="21" name="TextBox 20"/>
          <p:cNvSpPr txBox="1"/>
          <p:nvPr/>
        </p:nvSpPr>
        <p:spPr>
          <a:xfrm>
            <a:off x="7095744" y="1344168"/>
            <a:ext cx="3977639"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结论二：KGAMA</a:t>
            </a:r>
          </a:p>
        </p:txBody>
      </p:sp>
      <p:sp>
        <p:nvSpPr>
          <p:cNvPr id="22" name="TextBox 21"/>
          <p:cNvSpPr txBox="1"/>
          <p:nvPr/>
        </p:nvSpPr>
        <p:spPr>
          <a:xfrm>
            <a:off x="6638544" y="1764792"/>
            <a:ext cx="4434840" cy="530352"/>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提出知识增强与图中心对齐的四模态框架，在 MoleculeNet 基准组上验证了知识重写和自适应融合的有效性。</a:t>
            </a:r>
          </a:p>
        </p:txBody>
      </p:sp>
      <p:sp>
        <p:nvSpPr>
          <p:cNvPr id="23" name="Rounded Rectangle 22"/>
          <p:cNvSpPr/>
          <p:nvPr/>
        </p:nvSpPr>
        <p:spPr>
          <a:xfrm>
            <a:off x="868680" y="2907792"/>
            <a:ext cx="3200400" cy="111556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868680" y="2907792"/>
            <a:ext cx="91440" cy="111556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161288" y="3108960"/>
            <a:ext cx="2670048"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展望一：引入三维几何构象</a:t>
            </a:r>
          </a:p>
        </p:txBody>
      </p:sp>
      <p:sp>
        <p:nvSpPr>
          <p:cNvPr id="26" name="TextBox 25"/>
          <p:cNvSpPr txBox="1"/>
          <p:nvPr/>
        </p:nvSpPr>
        <p:spPr>
          <a:xfrm>
            <a:off x="1179576" y="3529584"/>
            <a:ext cx="2651760" cy="402335"/>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进一步融合原子坐标、键角、二面角及 SE(3) 等变模型，提升空间结构建模能力。</a:t>
            </a:r>
          </a:p>
        </p:txBody>
      </p:sp>
      <p:sp>
        <p:nvSpPr>
          <p:cNvPr id="27" name="Rounded Rectangle 26"/>
          <p:cNvSpPr/>
          <p:nvPr/>
        </p:nvSpPr>
        <p:spPr>
          <a:xfrm>
            <a:off x="4498848" y="2907792"/>
            <a:ext cx="3200400" cy="111556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498848" y="2907792"/>
            <a:ext cx="91440" cy="1115568"/>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791456" y="3108960"/>
            <a:ext cx="2670048"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展望二：扩展预训练数据规模</a:t>
            </a:r>
          </a:p>
        </p:txBody>
      </p:sp>
      <p:sp>
        <p:nvSpPr>
          <p:cNvPr id="30" name="TextBox 29"/>
          <p:cNvSpPr txBox="1"/>
          <p:nvPr/>
        </p:nvSpPr>
        <p:spPr>
          <a:xfrm>
            <a:off x="4809744" y="3529584"/>
            <a:ext cx="2651760" cy="402335"/>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构建更大规模、高质量的图、序列、文本配对数据，增强泛化能力。</a:t>
            </a:r>
          </a:p>
        </p:txBody>
      </p:sp>
      <p:sp>
        <p:nvSpPr>
          <p:cNvPr id="31" name="Rounded Rectangle 30"/>
          <p:cNvSpPr/>
          <p:nvPr/>
        </p:nvSpPr>
        <p:spPr>
          <a:xfrm>
            <a:off x="8119872" y="2907792"/>
            <a:ext cx="3200400" cy="111556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8119872" y="2907792"/>
            <a:ext cx="91440" cy="1115568"/>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412480" y="3108960"/>
            <a:ext cx="2670048"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展望三：干湿实验闭环验证</a:t>
            </a:r>
          </a:p>
        </p:txBody>
      </p:sp>
      <p:sp>
        <p:nvSpPr>
          <p:cNvPr id="34" name="TextBox 33"/>
          <p:cNvSpPr txBox="1"/>
          <p:nvPr/>
        </p:nvSpPr>
        <p:spPr>
          <a:xfrm>
            <a:off x="8430768" y="3529584"/>
            <a:ext cx="2651760" cy="402335"/>
          </a:xfrm>
          <a:prstGeom prst="rect">
            <a:avLst/>
          </a:prstGeom>
          <a:noFill/>
        </p:spPr>
        <p:txBody>
          <a:bodyPr wrap="square" lIns="0" tIns="0" rIns="0" bIns="0" anchor="t">
            <a:spAutoFit/>
          </a:bodyPr>
          <a:lstStyle/>
          <a:p>
            <a:pPr algn="l">
              <a:lnSpc>
                <a:spcPct val="108000"/>
              </a:lnSpc>
            </a:pPr>
            <a:r>
              <a:rPr sz="1050" b="0">
                <a:solidFill>
                  <a:srgbClr val="5B6773"/>
                </a:solidFill>
                <a:latin typeface="微软雅黑 Light"/>
              </a:rPr>
              <a:t>将模型预测与真实实验反馈联动，服务候选分子的持续优化。</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p:cNvPicPr>
            <a:picLocks noChangeAspect="1"/>
          </p:cNvPicPr>
          <p:nvPr/>
        </p:nvPicPr>
        <p:blipFill>
          <a:blip r:embed="rId3" cstate="screen"/>
          <a:stretch>
            <a:fillRect/>
          </a:stretch>
        </p:blipFill>
        <p:spPr>
          <a:xfrm>
            <a:off x="0" y="10121"/>
            <a:ext cx="12192000" cy="6847879"/>
          </a:xfrm>
          <a:prstGeom prst="rect">
            <a:avLst/>
          </a:prstGeom>
        </p:spPr>
      </p:pic>
      <p:sp>
        <p:nvSpPr>
          <p:cNvPr id="4" name="文本框 3"/>
          <p:cNvSpPr txBox="1"/>
          <p:nvPr/>
        </p:nvSpPr>
        <p:spPr>
          <a:xfrm>
            <a:off x="1469844" y="2377447"/>
            <a:ext cx="9785711" cy="1436355"/>
          </a:xfrm>
          <a:prstGeom prst="rect">
            <a:avLst/>
          </a:prstGeom>
          <a:noFill/>
        </p:spPr>
        <p:txBody>
          <a:bodyPr wrap="square" rtlCol="0">
            <a:spAutoFit/>
          </a:bodyPr>
          <a:lstStyle/>
          <a:p>
            <a:pPr algn="ctr">
              <a:lnSpc>
                <a:spcPct val="150000"/>
              </a:lnSpc>
            </a:pPr>
            <a:r>
              <a:rPr kumimoji="1" lang="zh-CN" altLang="en-US" sz="6600" b="1" dirty="0">
                <a:solidFill>
                  <a:schemeClr val="bg1"/>
                </a:solidFill>
                <a:latin typeface="FZZhengHeiS-DB-GB" panose="02000000000000000000" pitchFamily="2" charset="-122"/>
                <a:ea typeface="FZZhengHeiS-DB-GB" panose="02000000000000000000" pitchFamily="2" charset="-122"/>
              </a:rPr>
              <a:t>敬请各位老师批评指正！</a:t>
            </a:r>
          </a:p>
        </p:txBody>
      </p:sp>
    </p:spTree>
  </p:cSld>
  <p:clrMapOvr>
    <a:masterClrMapping/>
  </p:clrMapOvr>
  <mc:AlternateContent xmlns:mc="http://schemas.openxmlformats.org/markup-compatibility/2006" xmlns:p14="http://schemas.microsoft.com/office/powerpoint/2010/main">
    <mc:Choice Requires="p14">
      <p:transition spd="slow" p14:dur="2000" advTm="4025"/>
    </mc:Choice>
    <mc:Fallback xmlns="">
      <p:transition spd="slow" advTm="4025"/>
    </mc:Fallback>
  </mc:AlternateContent>
</p:sld>
</file>

<file path=ppt/theme/theme1.xml><?xml version="1.0" encoding="utf-8"?>
<a:theme xmlns:a="http://schemas.openxmlformats.org/drawingml/2006/main" name="Office 主题​​">
  <a:themeElements>
    <a:clrScheme name="Office 主题​​">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主题​​">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3570</TotalTime>
  <Words>612</Words>
  <Application>Microsoft Office PowerPoint</Application>
  <PresentationFormat>宽屏</PresentationFormat>
  <Paragraphs>213</Paragraphs>
  <Slides>15</Slides>
  <Notes>1</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15</vt:i4>
      </vt:variant>
    </vt:vector>
  </HeadingPairs>
  <TitlesOfParts>
    <vt:vector size="25" baseType="lpstr">
      <vt:lpstr>FZZhengHeiS-DB-GB</vt:lpstr>
      <vt:lpstr>等线</vt:lpstr>
      <vt:lpstr>方正正中黑简体</vt:lpstr>
      <vt:lpstr>微软雅黑</vt:lpstr>
      <vt:lpstr>微软雅黑 Light</vt:lpstr>
      <vt:lpstr>Aptos</vt:lpstr>
      <vt:lpstr>Arial</vt:lpstr>
      <vt:lpstr>Calibri</vt:lpstr>
      <vt:lpstr>Calibri Light</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隋明哲</dc:creator>
  <cp:lastModifiedBy>帅尧 范</cp:lastModifiedBy>
  <cp:revision>119</cp:revision>
  <dcterms:created xsi:type="dcterms:W3CDTF">2020-09-14T02:46:55Z</dcterms:created>
  <dcterms:modified xsi:type="dcterms:W3CDTF">2026-05-15T07:45:52Z</dcterms:modified>
</cp:coreProperties>
</file>