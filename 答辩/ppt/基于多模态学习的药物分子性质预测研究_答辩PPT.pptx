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2"/>
  </p:notesMasterIdLst>
  <p:sldIdLst>
    <p:sldId id="256" r:id="rId2"/>
    <p:sldId id="257" r:id="rId3"/>
    <p:sldId id="259" r:id="rId4"/>
    <p:sldId id="260" r:id="rId5"/>
    <p:sldId id="262" r:id="rId6"/>
    <p:sldId id="968" r:id="rId7"/>
    <p:sldId id="263" r:id="rId8"/>
    <p:sldId id="969" r:id="rId9"/>
    <p:sldId id="265" r:id="rId10"/>
    <p:sldId id="266" r:id="rId11"/>
    <p:sldId id="970" r:id="rId12"/>
    <p:sldId id="267" r:id="rId13"/>
    <p:sldId id="268" r:id="rId14"/>
    <p:sldId id="971" r:id="rId15"/>
    <p:sldId id="967" r:id="rId16"/>
    <p:sldId id="269" r:id="rId17"/>
    <p:sldId id="270" r:id="rId18"/>
    <p:sldId id="271" r:id="rId19"/>
    <p:sldId id="273" r:id="rId20"/>
    <p:sldId id="96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E98"/>
    <a:srgbClr val="7CA3C4"/>
    <a:srgbClr val="347AA7"/>
    <a:srgbClr val="2E75B5"/>
    <a:srgbClr val="1F4E78"/>
    <a:srgbClr val="16324F"/>
    <a:srgbClr val="D0CECF"/>
    <a:srgbClr val="9DC3E7"/>
    <a:srgbClr val="FFFFFF"/>
    <a:srgbClr val="BDD7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356" autoAdjust="0"/>
  </p:normalViewPr>
  <p:slideViewPr>
    <p:cSldViewPr snapToGrid="0" snapToObjects="1">
      <p:cViewPr>
        <p:scale>
          <a:sx n="100" d="100"/>
          <a:sy n="100" d="100"/>
        </p:scale>
        <p:origin x="246" y="60"/>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A7B6F0-605A-3A4D-97E8-EAE158ECB537}" type="datetimeFigureOut">
              <a:rPr kumimoji="1" lang="zh-CN" altLang="en-US" smtClean="0"/>
              <a:t>2026/5/15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07EA9F-BAA9-954B-A225-7CFCF4778F98}" type="slidenum">
              <a:rPr kumimoji="1" lang="zh-CN" altLang="en-US" smtClean="0"/>
              <a:t>‹#›</a:t>
            </a:fld>
            <a:endParaRPr kumimoji="1" lang="zh-CN" altLang="en-US"/>
          </a:p>
        </p:txBody>
      </p:sp>
    </p:spTree>
    <p:extLst>
      <p:ext uri="{BB962C8B-B14F-4D97-AF65-F5344CB8AC3E}">
        <p14:creationId xmlns:p14="http://schemas.microsoft.com/office/powerpoint/2010/main" val="3681837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代创新药物研发通常包括药物发现与开发、临床前研究、临床研究、监管审批和上市后监测等多个阶段，整个流程周期长、成本高、失败风险大。本文关注的是药物发现早期的候选分子筛选问题。在这一阶段，研究人员需要从大量化合物中筛选出具有成药潜力的分子。如果完全依赖湿实验，不仅成本较高，而且难以覆盖庞大的化学空间。因此，在实验验证之前，利用计算模型对候选分子的 </a:t>
            </a:r>
            <a:r>
              <a:rPr lang="en-US" altLang="zh-CN" dirty="0"/>
              <a:t>ADMET</a:t>
            </a:r>
            <a:r>
              <a:rPr lang="zh-CN" altLang="en-US" dirty="0"/>
              <a:t>、毒性和理化性质进行快速预测，可以帮助降低研发成本和后期失败风险。</a:t>
            </a:r>
          </a:p>
        </p:txBody>
      </p:sp>
      <p:sp>
        <p:nvSpPr>
          <p:cNvPr id="4" name="灯片编号占位符 3"/>
          <p:cNvSpPr>
            <a:spLocks noGrp="1"/>
          </p:cNvSpPr>
          <p:nvPr>
            <p:ph type="sldNum" sz="quarter" idx="5"/>
          </p:nvPr>
        </p:nvSpPr>
        <p:spPr/>
        <p:txBody>
          <a:bodyPr/>
          <a:lstStyle/>
          <a:p>
            <a:fld id="{3407EA9F-BAA9-954B-A225-7CFCF4778F98}" type="slidenum">
              <a:rPr kumimoji="1" lang="zh-CN" altLang="en-US" smtClean="0"/>
              <a:t>3</a:t>
            </a:fld>
            <a:endParaRPr kumimoji="1" lang="zh-CN" altLang="en-US"/>
          </a:p>
        </p:txBody>
      </p:sp>
    </p:spTree>
    <p:extLst>
      <p:ext uri="{BB962C8B-B14F-4D97-AF65-F5344CB8AC3E}">
        <p14:creationId xmlns:p14="http://schemas.microsoft.com/office/powerpoint/2010/main" val="1653000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明确药物早期筛选需求之后，进一步说明本文研究的核心任务，也就是分子性质预测。分子性质预测的输入是候选药物分子，可以通过结构、序列、指纹或文本等形式进行表示。模型需要学习分子表示与目标性质之间的映射关系，并输出预测结果。根据输出形式不同，分子性质预测可以分为分类任务和回归任务，前者例如判断分子是否具有毒性或是否能穿过血脑屏障，后者例如预测溶解度、亲脂性或 </a:t>
            </a:r>
            <a:r>
              <a:rPr lang="en-US" altLang="zh-CN" dirty="0"/>
              <a:t>LD50 </a:t>
            </a:r>
            <a:r>
              <a:rPr lang="zh-CN" altLang="en-US" dirty="0"/>
              <a:t>等连续数值。最终，这些预测结果可以在实验验证前辅助候选分子的风险筛除和优先级排序。</a:t>
            </a:r>
          </a:p>
        </p:txBody>
      </p:sp>
      <p:sp>
        <p:nvSpPr>
          <p:cNvPr id="4" name="灯片编号占位符 3"/>
          <p:cNvSpPr>
            <a:spLocks noGrp="1"/>
          </p:cNvSpPr>
          <p:nvPr>
            <p:ph type="sldNum" sz="quarter" idx="5"/>
          </p:nvPr>
        </p:nvSpPr>
        <p:spPr/>
        <p:txBody>
          <a:bodyPr/>
          <a:lstStyle/>
          <a:p>
            <a:fld id="{3407EA9F-BAA9-954B-A225-7CFCF4778F98}" type="slidenum">
              <a:rPr kumimoji="1" lang="zh-CN" altLang="en-US" smtClean="0"/>
              <a:t>4</a:t>
            </a:fld>
            <a:endParaRPr kumimoji="1" lang="zh-CN" altLang="en-US"/>
          </a:p>
        </p:txBody>
      </p:sp>
    </p:spTree>
    <p:extLst>
      <p:ext uri="{BB962C8B-B14F-4D97-AF65-F5344CB8AC3E}">
        <p14:creationId xmlns:p14="http://schemas.microsoft.com/office/powerpoint/2010/main" val="3570510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分子性质预测的关键在于分子表征，同一个分子可以从多个角度进行刻画。首先，图结构把原子看作节点、化学键看作边，能够描述分子的拓扑连接关系；其次，</a:t>
            </a:r>
            <a:r>
              <a:rPr lang="en-US" altLang="zh-CN" dirty="0"/>
              <a:t>SMILES </a:t>
            </a:r>
            <a:r>
              <a:rPr lang="zh-CN" altLang="en-US" dirty="0"/>
              <a:t>序列将分子结构编码为一维字符串，适合序列模型进行建模；第三，分子指纹可以将子结构、官能团或拓扑路径编码为固定长度向量，具有较高的计算效率；最后，文本语义能够补充理化性质、药理作用和毒性机制等高层信息。不同模态提供的信息并不完全相同，因此多模态学习可以从结构、序列、统计特征和语义知识等角度构建更加全面和鲁棒的分子表示。</a:t>
            </a:r>
          </a:p>
        </p:txBody>
      </p:sp>
      <p:sp>
        <p:nvSpPr>
          <p:cNvPr id="4" name="灯片编号占位符 3"/>
          <p:cNvSpPr>
            <a:spLocks noGrp="1"/>
          </p:cNvSpPr>
          <p:nvPr>
            <p:ph type="sldNum" sz="quarter" idx="5"/>
          </p:nvPr>
        </p:nvSpPr>
        <p:spPr/>
        <p:txBody>
          <a:bodyPr/>
          <a:lstStyle/>
          <a:p>
            <a:fld id="{3407EA9F-BAA9-954B-A225-7CFCF4778F98}" type="slidenum">
              <a:rPr kumimoji="1" lang="zh-CN" altLang="en-US" smtClean="0"/>
              <a:t>5</a:t>
            </a:fld>
            <a:endParaRPr kumimoji="1" lang="zh-CN" altLang="en-US"/>
          </a:p>
        </p:txBody>
      </p:sp>
    </p:spTree>
    <p:extLst>
      <p:ext uri="{BB962C8B-B14F-4D97-AF65-F5344CB8AC3E}">
        <p14:creationId xmlns:p14="http://schemas.microsoft.com/office/powerpoint/2010/main" val="57291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针对前面提到的两个问题，也就是传统图神经网络中原子与化学键交互建模不足，以及大语言模型直接预测分子性质时缺少显式药理推理过程，本文提出了第一个模型 </a:t>
            </a:r>
            <a:r>
              <a:rPr lang="en-US" altLang="zh-CN" dirty="0"/>
              <a:t>CoT-CMP</a:t>
            </a:r>
            <a:r>
              <a:rPr lang="zh-CN" altLang="en-US" dirty="0"/>
              <a:t>。整体上，</a:t>
            </a:r>
            <a:r>
              <a:rPr lang="en-US" altLang="zh-CN" dirty="0"/>
              <a:t>CoT-CMP </a:t>
            </a:r>
            <a:r>
              <a:rPr lang="zh-CN" altLang="en-US" dirty="0"/>
              <a:t>是一个图文双塔预测框架。上方是文本编码端，输入分子的 </a:t>
            </a:r>
            <a:r>
              <a:rPr lang="en-US" altLang="zh-CN" dirty="0"/>
              <a:t>SMILES </a:t>
            </a:r>
            <a:r>
              <a:rPr lang="zh-CN" altLang="en-US" dirty="0"/>
              <a:t>和理化性质信息，通过 </a:t>
            </a:r>
            <a:r>
              <a:rPr lang="en-US" altLang="zh-CN" dirty="0"/>
              <a:t>LLaMA-3.1-8B</a:t>
            </a:r>
            <a:r>
              <a:rPr lang="zh-CN" altLang="en-US" dirty="0"/>
              <a:t>、</a:t>
            </a:r>
            <a:r>
              <a:rPr lang="en-US" altLang="zh-CN" dirty="0"/>
              <a:t>LoRA </a:t>
            </a:r>
            <a:r>
              <a:rPr lang="zh-CN" altLang="en-US" dirty="0"/>
              <a:t>微调和 </a:t>
            </a:r>
            <a:r>
              <a:rPr lang="en-US" altLang="zh-CN" dirty="0"/>
              <a:t>CoT </a:t>
            </a:r>
            <a:r>
              <a:rPr lang="zh-CN" altLang="en-US" dirty="0"/>
              <a:t>提示，引导模型生成包含结构识别、理化性质分析和目标性质推断的显式推理文本。下方是图结构编码端，使用 </a:t>
            </a:r>
            <a:r>
              <a:rPr lang="en-US" altLang="zh-CN" dirty="0"/>
              <a:t>CMPNN </a:t>
            </a:r>
            <a:r>
              <a:rPr lang="zh-CN" altLang="en-US" dirty="0"/>
              <a:t>对分子图进行编码，强化原子特征与化学键信息之间的通信式消息传递。最后，在融合预测端，通过交叉注意力机制自适应融合图结构特征和文本推理特征，并输出分类或回归预测结果。该模型的核心思想是将文本端的药理推理语义与图端的微观拓扑结构进行融合，从而提升复杂 </a:t>
            </a:r>
            <a:r>
              <a:rPr lang="en-US" altLang="zh-CN" dirty="0"/>
              <a:t>ADMET </a:t>
            </a:r>
            <a:r>
              <a:rPr lang="zh-CN" altLang="en-US" dirty="0"/>
              <a:t>性质预测的准确性和可解释性</a:t>
            </a:r>
          </a:p>
        </p:txBody>
      </p:sp>
      <p:sp>
        <p:nvSpPr>
          <p:cNvPr id="4" name="灯片编号占位符 3"/>
          <p:cNvSpPr>
            <a:spLocks noGrp="1"/>
          </p:cNvSpPr>
          <p:nvPr>
            <p:ph type="sldNum" sz="quarter" idx="5"/>
          </p:nvPr>
        </p:nvSpPr>
        <p:spPr/>
        <p:txBody>
          <a:bodyPr/>
          <a:lstStyle/>
          <a:p>
            <a:fld id="{3407EA9F-BAA9-954B-A225-7CFCF4778F98}" type="slidenum">
              <a:rPr kumimoji="1" lang="zh-CN" altLang="en-US" smtClean="0"/>
              <a:t>9</a:t>
            </a:fld>
            <a:endParaRPr kumimoji="1" lang="zh-CN" altLang="en-US"/>
          </a:p>
        </p:txBody>
      </p:sp>
    </p:spTree>
    <p:extLst>
      <p:ext uri="{BB962C8B-B14F-4D97-AF65-F5344CB8AC3E}">
        <p14:creationId xmlns:p14="http://schemas.microsoft.com/office/powerpoint/2010/main" val="590973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这一页主要介绍 </a:t>
            </a:r>
            <a:r>
              <a:rPr lang="en-US" altLang="zh-CN" dirty="0"/>
              <a:t>CoT-CMP </a:t>
            </a:r>
            <a:r>
              <a:rPr lang="zh-CN" altLang="en-US" dirty="0"/>
              <a:t>中的思维链增强文本编码模块。传统的直接提示通常是从输入分子信息直接得到一个结论，这种方式缺少中间药理逻辑，预测依据不够清晰。本文没有让大语言模型直接输出最终性质标签，而是通过 </a:t>
            </a:r>
            <a:r>
              <a:rPr lang="en-US" altLang="zh-CN" dirty="0"/>
              <a:t>CoT </a:t>
            </a:r>
            <a:r>
              <a:rPr lang="zh-CN" altLang="en-US" dirty="0"/>
              <a:t>提示引导模型生成分步推理文本。具体来说，</a:t>
            </a:r>
            <a:r>
              <a:rPr lang="en-US" altLang="zh-CN" dirty="0"/>
              <a:t>Prompt </a:t>
            </a:r>
            <a:r>
              <a:rPr lang="zh-CN" altLang="en-US" dirty="0"/>
              <a:t>中首先设定模型为药物化学与毒理学专家，然后输入分子的 </a:t>
            </a:r>
            <a:r>
              <a:rPr lang="en-US" altLang="zh-CN" dirty="0"/>
              <a:t>SMILES </a:t>
            </a:r>
            <a:r>
              <a:rPr lang="zh-CN" altLang="en-US" dirty="0"/>
              <a:t>和理化性质信息，接着要求模型按照三个阶段进行推理：第一步识别关键子结构，例如官能团、环结构和核心骨架；第二步结合理化性质和毒理学知识分析这些结构可能如何影响目标性质；第三步给出目标性质的推断性总结。最终生成的不是最终预测标签，而是结构化推理文本，该文本会被编码为语义向量，并在后续模块中与分子图特征进行交叉注意力融合。这样做的目的是把文本模态从普通描述转化为具有药理逻辑的显式推理表示。</a:t>
            </a:r>
          </a:p>
        </p:txBody>
      </p:sp>
      <p:sp>
        <p:nvSpPr>
          <p:cNvPr id="4" name="灯片编号占位符 3"/>
          <p:cNvSpPr>
            <a:spLocks noGrp="1"/>
          </p:cNvSpPr>
          <p:nvPr>
            <p:ph type="sldNum" sz="quarter" idx="5"/>
          </p:nvPr>
        </p:nvSpPr>
        <p:spPr/>
        <p:txBody>
          <a:bodyPr/>
          <a:lstStyle/>
          <a:p>
            <a:fld id="{3407EA9F-BAA9-954B-A225-7CFCF4778F98}" type="slidenum">
              <a:rPr kumimoji="1" lang="zh-CN" altLang="en-US" smtClean="0"/>
              <a:t>10</a:t>
            </a:fld>
            <a:endParaRPr kumimoji="1" lang="zh-CN" altLang="en-US"/>
          </a:p>
        </p:txBody>
      </p:sp>
    </p:spTree>
    <p:extLst>
      <p:ext uri="{BB962C8B-B14F-4D97-AF65-F5344CB8AC3E}">
        <p14:creationId xmlns:p14="http://schemas.microsoft.com/office/powerpoint/2010/main" val="974728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547E1-6290-62B4-2775-B74544FF61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30AFDF-93C4-0438-B66C-3414477DA0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000F6C-F72D-1831-CCA3-306BBAF109B1}"/>
              </a:ext>
            </a:extLst>
          </p:cNvPr>
          <p:cNvSpPr>
            <a:spLocks noGrp="1"/>
          </p:cNvSpPr>
          <p:nvPr>
            <p:ph type="body" idx="1"/>
          </p:nvPr>
        </p:nvSpPr>
        <p:spPr/>
        <p:txBody>
          <a:bodyPr/>
          <a:lstStyle/>
          <a:p>
            <a:r>
              <a:rPr lang="zh-CN" altLang="en-US" dirty="0"/>
              <a:t>为了验证 </a:t>
            </a:r>
            <a:r>
              <a:rPr lang="en-US" altLang="zh-CN" dirty="0"/>
              <a:t>CoT-CMP </a:t>
            </a:r>
            <a:r>
              <a:rPr lang="zh-CN" altLang="en-US" dirty="0"/>
              <a:t>在复杂药物分子性质预测中的有效性，本文采用 </a:t>
            </a:r>
            <a:r>
              <a:rPr lang="en-US" altLang="zh-CN" dirty="0"/>
              <a:t>TDC </a:t>
            </a:r>
            <a:r>
              <a:rPr lang="zh-CN" altLang="en-US" dirty="0"/>
              <a:t>平台的 </a:t>
            </a:r>
            <a:r>
              <a:rPr lang="en-US" altLang="zh-CN" dirty="0"/>
              <a:t>ADMET Benchmark Group </a:t>
            </a:r>
            <a:r>
              <a:rPr lang="zh-CN" altLang="en-US" dirty="0"/>
              <a:t>进行系统评估。该基准包含 </a:t>
            </a:r>
            <a:r>
              <a:rPr lang="en-US" altLang="zh-CN" dirty="0"/>
              <a:t>22 </a:t>
            </a:r>
            <a:r>
              <a:rPr lang="zh-CN" altLang="en-US" dirty="0"/>
              <a:t>个任务，覆盖吸收、分布、代谢、排泄和毒性五类关键 </a:t>
            </a:r>
            <a:r>
              <a:rPr lang="en-US" altLang="zh-CN" dirty="0"/>
              <a:t>ADMET </a:t>
            </a:r>
            <a:r>
              <a:rPr lang="zh-CN" altLang="en-US" dirty="0"/>
              <a:t>性质，其中包括 </a:t>
            </a:r>
            <a:r>
              <a:rPr lang="en-US" altLang="zh-CN" dirty="0"/>
              <a:t>13 </a:t>
            </a:r>
            <a:r>
              <a:rPr lang="zh-CN" altLang="en-US" dirty="0"/>
              <a:t>个分类任务和 </a:t>
            </a:r>
            <a:r>
              <a:rPr lang="en-US" altLang="zh-CN" dirty="0"/>
              <a:t>9 </a:t>
            </a:r>
            <a:r>
              <a:rPr lang="zh-CN" altLang="en-US" dirty="0"/>
              <a:t>个回归任务。实验中采用 </a:t>
            </a:r>
            <a:r>
              <a:rPr lang="en-US" altLang="zh-CN" dirty="0"/>
              <a:t>Scaffold Split</a:t>
            </a:r>
            <a:r>
              <a:rPr lang="zh-CN" altLang="en-US" dirty="0"/>
              <a:t>，也就是按照分子骨架划分训练集和测试集，相比随机划分更能评估模型在未知化学空间中的泛化能力。对比模型选择了 </a:t>
            </a:r>
            <a:r>
              <a:rPr lang="en-US" altLang="zh-CN" dirty="0"/>
              <a:t>GCN</a:t>
            </a:r>
            <a:r>
              <a:rPr lang="zh-CN" altLang="en-US" dirty="0"/>
              <a:t>、</a:t>
            </a:r>
            <a:r>
              <a:rPr lang="en-US" altLang="zh-CN" dirty="0"/>
              <a:t>AttentiveFP</a:t>
            </a:r>
            <a:r>
              <a:rPr lang="zh-CN" altLang="en-US" dirty="0"/>
              <a:t>、</a:t>
            </a:r>
            <a:r>
              <a:rPr lang="en-US" altLang="zh-CN" dirty="0"/>
              <a:t>NeuralFP </a:t>
            </a:r>
            <a:r>
              <a:rPr lang="zh-CN" altLang="en-US" dirty="0"/>
              <a:t>和 </a:t>
            </a:r>
            <a:r>
              <a:rPr lang="en-US" altLang="zh-CN" dirty="0"/>
              <a:t>CNN</a:t>
            </a:r>
            <a:r>
              <a:rPr lang="zh-CN" altLang="en-US" dirty="0"/>
              <a:t>，分别覆盖图结构、注意力图模型、指纹特征和序列建模等代表性方法。评价指标方面，分类任务使用 </a:t>
            </a:r>
            <a:r>
              <a:rPr lang="en-US" altLang="zh-CN" dirty="0"/>
              <a:t>AUROC </a:t>
            </a:r>
            <a:r>
              <a:rPr lang="zh-CN" altLang="en-US" dirty="0"/>
              <a:t>和 </a:t>
            </a:r>
            <a:r>
              <a:rPr lang="en-US" altLang="zh-CN" dirty="0"/>
              <a:t>AUPRC</a:t>
            </a:r>
            <a:r>
              <a:rPr lang="zh-CN" altLang="en-US" dirty="0"/>
              <a:t>，回归任务使用 </a:t>
            </a:r>
            <a:r>
              <a:rPr lang="en-US" altLang="zh-CN" dirty="0"/>
              <a:t>MAE </a:t>
            </a:r>
            <a:r>
              <a:rPr lang="zh-CN" altLang="en-US" dirty="0"/>
              <a:t>和 </a:t>
            </a:r>
            <a:r>
              <a:rPr lang="en-US" altLang="zh-CN" dirty="0"/>
              <a:t>Spearman</a:t>
            </a:r>
            <a:r>
              <a:rPr lang="zh-CN" altLang="en-US" dirty="0"/>
              <a:t>，其中 </a:t>
            </a:r>
            <a:r>
              <a:rPr lang="en-US" altLang="zh-CN" dirty="0"/>
              <a:t>AUROC</a:t>
            </a:r>
            <a:r>
              <a:rPr lang="zh-CN" altLang="en-US" dirty="0"/>
              <a:t>、</a:t>
            </a:r>
            <a:r>
              <a:rPr lang="en-US" altLang="zh-CN" dirty="0"/>
              <a:t>AUPRC</a:t>
            </a:r>
            <a:r>
              <a:rPr lang="zh-CN" altLang="en-US" dirty="0"/>
              <a:t>、</a:t>
            </a:r>
            <a:r>
              <a:rPr lang="en-US" altLang="zh-CN" dirty="0"/>
              <a:t>Spearman </a:t>
            </a:r>
            <a:r>
              <a:rPr lang="zh-CN" altLang="en-US" dirty="0"/>
              <a:t>越高越好，</a:t>
            </a:r>
            <a:r>
              <a:rPr lang="en-US" altLang="zh-CN" dirty="0"/>
              <a:t>MAE </a:t>
            </a:r>
            <a:r>
              <a:rPr lang="zh-CN" altLang="en-US" dirty="0"/>
              <a:t>越低越好。后续结果重点关注模型在 </a:t>
            </a:r>
            <a:r>
              <a:rPr lang="en-US" altLang="zh-CN" dirty="0"/>
              <a:t>22 </a:t>
            </a:r>
            <a:r>
              <a:rPr lang="zh-CN" altLang="en-US" dirty="0"/>
              <a:t>个任务上的整体表现，尤其是 </a:t>
            </a:r>
            <a:r>
              <a:rPr lang="en-US" altLang="zh-CN" dirty="0"/>
              <a:t>LD50</a:t>
            </a:r>
            <a:r>
              <a:rPr lang="zh-CN" altLang="en-US" dirty="0"/>
              <a:t>、</a:t>
            </a:r>
            <a:r>
              <a:rPr lang="en-US" altLang="zh-CN" dirty="0"/>
              <a:t>hERG</a:t>
            </a:r>
            <a:r>
              <a:rPr lang="zh-CN" altLang="en-US" dirty="0"/>
              <a:t>、</a:t>
            </a:r>
            <a:r>
              <a:rPr lang="en-US" altLang="zh-CN" dirty="0"/>
              <a:t>Ames </a:t>
            </a:r>
            <a:r>
              <a:rPr lang="zh-CN" altLang="en-US" dirty="0"/>
              <a:t>和 </a:t>
            </a:r>
            <a:r>
              <a:rPr lang="en-US" altLang="zh-CN" dirty="0"/>
              <a:t>DILI </a:t>
            </a:r>
            <a:r>
              <a:rPr lang="zh-CN" altLang="en-US" dirty="0"/>
              <a:t>等毒性安全性预测任务。</a:t>
            </a:r>
          </a:p>
        </p:txBody>
      </p:sp>
      <p:sp>
        <p:nvSpPr>
          <p:cNvPr id="4" name="灯片编号占位符 3">
            <a:extLst>
              <a:ext uri="{FF2B5EF4-FFF2-40B4-BE49-F238E27FC236}">
                <a16:creationId xmlns:a16="http://schemas.microsoft.com/office/drawing/2014/main" id="{1EF166F7-86F9-D378-22F6-A6F6A21E1AF4}"/>
              </a:ext>
            </a:extLst>
          </p:cNvPr>
          <p:cNvSpPr>
            <a:spLocks noGrp="1"/>
          </p:cNvSpPr>
          <p:nvPr>
            <p:ph type="sldNum" sz="quarter" idx="5"/>
          </p:nvPr>
        </p:nvSpPr>
        <p:spPr/>
        <p:txBody>
          <a:bodyPr/>
          <a:lstStyle/>
          <a:p>
            <a:fld id="{3407EA9F-BAA9-954B-A225-7CFCF4778F98}" type="slidenum">
              <a:rPr kumimoji="1" lang="zh-CN" altLang="en-US" smtClean="0"/>
              <a:t>11</a:t>
            </a:fld>
            <a:endParaRPr kumimoji="1" lang="zh-CN" altLang="en-US"/>
          </a:p>
        </p:txBody>
      </p:sp>
    </p:spTree>
    <p:extLst>
      <p:ext uri="{BB962C8B-B14F-4D97-AF65-F5344CB8AC3E}">
        <p14:creationId xmlns:p14="http://schemas.microsoft.com/office/powerpoint/2010/main" val="441286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 </a:t>
            </a:r>
            <a:r>
              <a:rPr lang="en-US" altLang="zh-CN" dirty="0"/>
              <a:t>CoT-CMP </a:t>
            </a:r>
            <a:r>
              <a:rPr lang="zh-CN" altLang="en-US" dirty="0"/>
              <a:t>在 </a:t>
            </a:r>
            <a:r>
              <a:rPr lang="en-US" altLang="zh-CN" dirty="0"/>
              <a:t>TDC ADMET 22 </a:t>
            </a:r>
            <a:r>
              <a:rPr lang="zh-CN" altLang="en-US" dirty="0"/>
              <a:t>个基准任务上的对比实验结果。表中加粗表示最优，下划线表示次优。总体来看，</a:t>
            </a:r>
            <a:r>
              <a:rPr lang="en-US" altLang="zh-CN" dirty="0"/>
              <a:t>CoT-CMP </a:t>
            </a:r>
            <a:r>
              <a:rPr lang="zh-CN" altLang="en-US" dirty="0"/>
              <a:t>在 </a:t>
            </a:r>
            <a:r>
              <a:rPr lang="en-US" altLang="zh-CN" dirty="0"/>
              <a:t>22 </a:t>
            </a:r>
            <a:r>
              <a:rPr lang="zh-CN" altLang="en-US" dirty="0"/>
              <a:t>个任务中取得了 </a:t>
            </a:r>
            <a:r>
              <a:rPr lang="en-US" altLang="zh-CN" dirty="0"/>
              <a:t>17 </a:t>
            </a:r>
            <a:r>
              <a:rPr lang="zh-CN" altLang="en-US" dirty="0"/>
              <a:t>个最优结果，其余 </a:t>
            </a:r>
            <a:r>
              <a:rPr lang="en-US" altLang="zh-CN" dirty="0"/>
              <a:t>5 </a:t>
            </a:r>
            <a:r>
              <a:rPr lang="zh-CN" altLang="en-US" dirty="0"/>
              <a:t>个任务也取得了次优结果，说明模型在不同 </a:t>
            </a:r>
            <a:r>
              <a:rPr lang="en-US" altLang="zh-CN" dirty="0"/>
              <a:t>ADMET </a:t>
            </a:r>
            <a:r>
              <a:rPr lang="zh-CN" altLang="en-US" dirty="0"/>
              <a:t>性质预测任务上具有较好的综合稳定性。尤其在药物安全性相关的四个毒性任务上，也就是 </a:t>
            </a:r>
            <a:r>
              <a:rPr lang="en-US" altLang="zh-CN" dirty="0"/>
              <a:t>LD50</a:t>
            </a:r>
            <a:r>
              <a:rPr lang="zh-CN" altLang="en-US" dirty="0"/>
              <a:t>、</a:t>
            </a:r>
            <a:r>
              <a:rPr lang="en-US" altLang="zh-CN" dirty="0"/>
              <a:t>hERG</a:t>
            </a:r>
            <a:r>
              <a:rPr lang="zh-CN" altLang="en-US" dirty="0"/>
              <a:t>、</a:t>
            </a:r>
            <a:r>
              <a:rPr lang="en-US" altLang="zh-CN" dirty="0"/>
              <a:t>Ames </a:t>
            </a:r>
            <a:r>
              <a:rPr lang="zh-CN" altLang="en-US" dirty="0"/>
              <a:t>和 </a:t>
            </a:r>
            <a:r>
              <a:rPr lang="en-US" altLang="zh-CN" dirty="0"/>
              <a:t>DILI</a:t>
            </a:r>
            <a:r>
              <a:rPr lang="zh-CN" altLang="en-US" dirty="0"/>
              <a:t>，</a:t>
            </a:r>
            <a:r>
              <a:rPr lang="en-US" altLang="zh-CN" dirty="0"/>
              <a:t>CoT-CMP </a:t>
            </a:r>
            <a:r>
              <a:rPr lang="zh-CN" altLang="en-US" dirty="0"/>
              <a:t>均取得最优表现。其中 </a:t>
            </a:r>
            <a:r>
              <a:rPr lang="en-US" altLang="zh-CN" dirty="0"/>
              <a:t>hERG</a:t>
            </a:r>
            <a:r>
              <a:rPr lang="zh-CN" altLang="en-US" dirty="0"/>
              <a:t>、</a:t>
            </a:r>
            <a:r>
              <a:rPr lang="en-US" altLang="zh-CN" dirty="0"/>
              <a:t>Ames </a:t>
            </a:r>
            <a:r>
              <a:rPr lang="zh-CN" altLang="en-US" dirty="0"/>
              <a:t>和 </a:t>
            </a:r>
            <a:r>
              <a:rPr lang="en-US" altLang="zh-CN" dirty="0"/>
              <a:t>DILI </a:t>
            </a:r>
            <a:r>
              <a:rPr lang="zh-CN" altLang="en-US" dirty="0"/>
              <a:t>分别达到 </a:t>
            </a:r>
            <a:r>
              <a:rPr lang="en-US" altLang="zh-CN" dirty="0"/>
              <a:t>0.855</a:t>
            </a:r>
            <a:r>
              <a:rPr lang="zh-CN" altLang="en-US" dirty="0"/>
              <a:t>、</a:t>
            </a:r>
            <a:r>
              <a:rPr lang="en-US" altLang="zh-CN" dirty="0"/>
              <a:t>0.838 </a:t>
            </a:r>
            <a:r>
              <a:rPr lang="zh-CN" altLang="en-US" dirty="0"/>
              <a:t>和 </a:t>
            </a:r>
            <a:r>
              <a:rPr lang="en-US" altLang="zh-CN" dirty="0"/>
              <a:t>0.891</a:t>
            </a:r>
            <a:r>
              <a:rPr lang="zh-CN" altLang="en-US" dirty="0"/>
              <a:t>，</a:t>
            </a:r>
            <a:r>
              <a:rPr lang="en-US" altLang="zh-CN" dirty="0"/>
              <a:t>LD50 </a:t>
            </a:r>
            <a:r>
              <a:rPr lang="zh-CN" altLang="en-US" dirty="0"/>
              <a:t>的 </a:t>
            </a:r>
            <a:r>
              <a:rPr lang="en-US" altLang="zh-CN" dirty="0"/>
              <a:t>MAE </a:t>
            </a:r>
            <a:r>
              <a:rPr lang="zh-CN" altLang="en-US" dirty="0"/>
              <a:t>降低到 </a:t>
            </a:r>
            <a:r>
              <a:rPr lang="en-US" altLang="zh-CN" dirty="0"/>
              <a:t>0.601</a:t>
            </a:r>
            <a:r>
              <a:rPr lang="zh-CN" altLang="en-US" dirty="0"/>
              <a:t>。性能提升主要来自三个方面：</a:t>
            </a:r>
            <a:r>
              <a:rPr lang="en-US" altLang="zh-CN" dirty="0"/>
              <a:t>CoT </a:t>
            </a:r>
            <a:r>
              <a:rPr lang="zh-CN" altLang="en-US" dirty="0"/>
              <a:t>推理文本补充了任务相关的药理语义，</a:t>
            </a:r>
            <a:r>
              <a:rPr lang="en-US" altLang="zh-CN" dirty="0"/>
              <a:t>CMPNN </a:t>
            </a:r>
            <a:r>
              <a:rPr lang="zh-CN" altLang="en-US" dirty="0"/>
              <a:t>强化了原子与化学键之间的交互建模，交叉注意力进一步实现了图结构特征和文本语义特征的自适应融合</a:t>
            </a:r>
          </a:p>
        </p:txBody>
      </p:sp>
      <p:sp>
        <p:nvSpPr>
          <p:cNvPr id="4" name="灯片编号占位符 3"/>
          <p:cNvSpPr>
            <a:spLocks noGrp="1"/>
          </p:cNvSpPr>
          <p:nvPr>
            <p:ph type="sldNum" sz="quarter" idx="5"/>
          </p:nvPr>
        </p:nvSpPr>
        <p:spPr/>
        <p:txBody>
          <a:bodyPr/>
          <a:lstStyle/>
          <a:p>
            <a:fld id="{3407EA9F-BAA9-954B-A225-7CFCF4778F98}" type="slidenum">
              <a:rPr kumimoji="1" lang="zh-CN" altLang="en-US" smtClean="0"/>
              <a:t>12</a:t>
            </a:fld>
            <a:endParaRPr kumimoji="1" lang="zh-CN" altLang="en-US"/>
          </a:p>
        </p:txBody>
      </p:sp>
    </p:spTree>
    <p:extLst>
      <p:ext uri="{BB962C8B-B14F-4D97-AF65-F5344CB8AC3E}">
        <p14:creationId xmlns:p14="http://schemas.microsoft.com/office/powerpoint/2010/main" val="4201054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为进一步验证 </a:t>
            </a:r>
            <a:r>
              <a:rPr lang="en-US" altLang="zh-CN" dirty="0"/>
              <a:t>CoT-CMP </a:t>
            </a:r>
            <a:r>
              <a:rPr lang="zh-CN" altLang="en-US" dirty="0"/>
              <a:t>中各模块的有效性，本文进行了消融实验。左侧表格展示了在 </a:t>
            </a:r>
            <a:r>
              <a:rPr lang="en-US" altLang="zh-CN" dirty="0"/>
              <a:t>Pgp</a:t>
            </a:r>
            <a:r>
              <a:rPr lang="zh-CN" altLang="en-US" dirty="0"/>
              <a:t>、</a:t>
            </a:r>
            <a:r>
              <a:rPr lang="en-US" altLang="zh-CN" dirty="0"/>
              <a:t>BBB</a:t>
            </a:r>
            <a:r>
              <a:rPr lang="zh-CN" altLang="en-US" dirty="0"/>
              <a:t>、</a:t>
            </a:r>
            <a:r>
              <a:rPr lang="en-US" altLang="zh-CN" dirty="0"/>
              <a:t>CYP2D6 Inhibition </a:t>
            </a:r>
            <a:r>
              <a:rPr lang="zh-CN" altLang="en-US" dirty="0"/>
              <a:t>和 </a:t>
            </a:r>
            <a:r>
              <a:rPr lang="en-US" altLang="zh-CN" dirty="0"/>
              <a:t>Ames </a:t>
            </a:r>
            <a:r>
              <a:rPr lang="zh-CN" altLang="en-US" dirty="0"/>
              <a:t>四个分类任务上的结果。可以看到，完整 </a:t>
            </a:r>
            <a:r>
              <a:rPr lang="en-US" altLang="zh-CN" dirty="0"/>
              <a:t>CoT-CMP </a:t>
            </a:r>
            <a:r>
              <a:rPr lang="zh-CN" altLang="en-US" dirty="0"/>
              <a:t>在四个任务上均取得最优表现。当移除 </a:t>
            </a:r>
            <a:r>
              <a:rPr lang="en-US" altLang="zh-CN" dirty="0"/>
              <a:t>LLM</a:t>
            </a:r>
            <a:r>
              <a:rPr lang="zh-CN" altLang="en-US" dirty="0"/>
              <a:t>、</a:t>
            </a:r>
            <a:r>
              <a:rPr lang="en-US" altLang="zh-CN" dirty="0"/>
              <a:t>CoT</a:t>
            </a:r>
            <a:r>
              <a:rPr lang="zh-CN" altLang="en-US" dirty="0"/>
              <a:t>、</a:t>
            </a:r>
            <a:r>
              <a:rPr lang="en-US" altLang="zh-CN" dirty="0"/>
              <a:t>LoRA </a:t>
            </a:r>
            <a:r>
              <a:rPr lang="zh-CN" altLang="en-US" dirty="0"/>
              <a:t>或交叉注意力模块后，模型性能均出现下降。其中，去掉 </a:t>
            </a:r>
            <a:r>
              <a:rPr lang="en-US" altLang="zh-CN" dirty="0"/>
              <a:t>LoRA </a:t>
            </a:r>
            <a:r>
              <a:rPr lang="zh-CN" altLang="en-US" dirty="0"/>
              <a:t>后下降较明显，说明大语言模型需要进行任务适配；去掉 </a:t>
            </a:r>
            <a:r>
              <a:rPr lang="en-US" altLang="zh-CN" dirty="0"/>
              <a:t>CoT </a:t>
            </a:r>
            <a:r>
              <a:rPr lang="zh-CN" altLang="en-US" dirty="0"/>
              <a:t>后性能下降，说明显式推理文本能够提供有效语义补充；去掉交叉注意力后也会下降，说明图文自适应融合是必要的。右侧是 </a:t>
            </a:r>
            <a:r>
              <a:rPr lang="en-US" altLang="zh-CN" dirty="0"/>
              <a:t>CMPNN </a:t>
            </a:r>
            <a:r>
              <a:rPr lang="zh-CN" altLang="en-US" dirty="0"/>
              <a:t>层数敏感性实验，整体来看，当层数为 </a:t>
            </a:r>
            <a:r>
              <a:rPr lang="en-US" altLang="zh-CN" dirty="0"/>
              <a:t>3 </a:t>
            </a:r>
            <a:r>
              <a:rPr lang="zh-CN" altLang="en-US" dirty="0"/>
              <a:t>时模型表现最好。层数过浅会导致结构邻域信息提取不足，而层数过深可能带来冗余传播或过平滑问题，因此本文最终选择 </a:t>
            </a:r>
            <a:r>
              <a:rPr lang="en-US" altLang="zh-CN" dirty="0"/>
              <a:t>3 </a:t>
            </a:r>
            <a:r>
              <a:rPr lang="zh-CN" altLang="en-US" dirty="0"/>
              <a:t>层 </a:t>
            </a:r>
            <a:r>
              <a:rPr lang="en-US" altLang="zh-CN" dirty="0"/>
              <a:t>CMPNN </a:t>
            </a:r>
            <a:r>
              <a:rPr lang="zh-CN" altLang="en-US" dirty="0"/>
              <a:t>作为图结构编码器设置</a:t>
            </a:r>
          </a:p>
        </p:txBody>
      </p:sp>
      <p:sp>
        <p:nvSpPr>
          <p:cNvPr id="4" name="灯片编号占位符 3"/>
          <p:cNvSpPr>
            <a:spLocks noGrp="1"/>
          </p:cNvSpPr>
          <p:nvPr>
            <p:ph type="sldNum" sz="quarter" idx="5"/>
          </p:nvPr>
        </p:nvSpPr>
        <p:spPr/>
        <p:txBody>
          <a:bodyPr/>
          <a:lstStyle/>
          <a:p>
            <a:fld id="{3407EA9F-BAA9-954B-A225-7CFCF4778F98}" type="slidenum">
              <a:rPr kumimoji="1" lang="zh-CN" altLang="en-US" smtClean="0"/>
              <a:t>14</a:t>
            </a:fld>
            <a:endParaRPr kumimoji="1" lang="zh-CN" altLang="en-US"/>
          </a:p>
        </p:txBody>
      </p:sp>
    </p:spTree>
    <p:extLst>
      <p:ext uri="{BB962C8B-B14F-4D97-AF65-F5344CB8AC3E}">
        <p14:creationId xmlns:p14="http://schemas.microsoft.com/office/powerpoint/2010/main" val="3601285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8FA8CD-EFF7-4F1D-B386-5D89A2803BE5}" type="slidenum">
              <a:rPr lang="zh-CN" altLang="en-US" smtClean="0"/>
              <a:t>20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0ACF372-61BF-A04E-928B-F1816CD04942}" type="datetimeFigureOut">
              <a:rPr kumimoji="1" lang="zh-CN" altLang="en-US" smtClean="0"/>
              <a:t>2026/5/15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1591143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0ACF372-61BF-A04E-928B-F1816CD04942}" type="datetimeFigureOut">
              <a:rPr kumimoji="1" lang="zh-CN" altLang="en-US" smtClean="0"/>
              <a:t>2026/5/15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2575033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0ACF372-61BF-A04E-928B-F1816CD04942}" type="datetimeFigureOut">
              <a:rPr kumimoji="1" lang="zh-CN" altLang="en-US" smtClean="0"/>
              <a:t>2026/5/15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2612790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60ACF372-61BF-A04E-928B-F1816CD04942}" type="datetimeFigureOut">
              <a:rPr kumimoji="1" lang="zh-CN" altLang="en-US" smtClean="0"/>
              <a:t>2026/5/15</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3192103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0ACF372-61BF-A04E-928B-F1816CD04942}" type="datetimeFigureOut">
              <a:rPr kumimoji="1" lang="zh-CN" altLang="en-US" smtClean="0"/>
              <a:t>2026/5/15</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30030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0ACF372-61BF-A04E-928B-F1816CD04942}" type="datetimeFigureOut">
              <a:rPr kumimoji="1" lang="zh-CN" altLang="en-US" smtClean="0"/>
              <a:t>2026/5/15</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3551370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ACF372-61BF-A04E-928B-F1816CD04942}" type="datetimeFigureOut">
              <a:rPr kumimoji="1" lang="zh-CN" altLang="en-US" smtClean="0"/>
              <a:t>2026/5/15</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906768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0ACF372-61BF-A04E-928B-F1816CD04942}" type="datetimeFigureOut">
              <a:rPr kumimoji="1" lang="zh-CN" altLang="en-US" smtClean="0"/>
              <a:t>2026/5/15</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2563425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0ACF372-61BF-A04E-928B-F1816CD04942}" type="datetimeFigureOut">
              <a:rPr kumimoji="1" lang="zh-CN" altLang="en-US" smtClean="0"/>
              <a:t>2026/5/15</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476140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0ACF372-61BF-A04E-928B-F1816CD04942}" type="datetimeFigureOut">
              <a:rPr kumimoji="1" lang="zh-CN" altLang="en-US" smtClean="0"/>
              <a:t>2026/5/15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2586573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0ACF372-61BF-A04E-928B-F1816CD04942}" type="datetimeFigureOut">
              <a:rPr kumimoji="1" lang="zh-CN" altLang="en-US" smtClean="0"/>
              <a:t>2026/5/15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956570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ACF372-61BF-A04E-928B-F1816CD04942}" type="datetimeFigureOut">
              <a:rPr kumimoji="1" lang="zh-CN" altLang="en-US" smtClean="0"/>
              <a:t>2026/5/15</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B75604-4A4B-DE45-A4E1-C932D7BC442B}" type="slidenum">
              <a:rPr kumimoji="1" lang="zh-CN" altLang="en-US" smtClean="0"/>
              <a:t>‹#›</a:t>
            </a:fld>
            <a:endParaRPr kumimoji="1" lang="zh-CN" altLang="en-US"/>
          </a:p>
        </p:txBody>
      </p:sp>
    </p:spTree>
    <p:extLst>
      <p:ext uri="{BB962C8B-B14F-4D97-AF65-F5344CB8AC3E}">
        <p14:creationId xmlns:p14="http://schemas.microsoft.com/office/powerpoint/2010/main" val="28208440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ver_bg.jpg"/>
          <p:cNvPicPr>
            <a:picLocks noChangeAspect="1"/>
          </p:cNvPicPr>
          <p:nvPr/>
        </p:nvPicPr>
        <p:blipFill>
          <a:blip r:embed="rId2"/>
          <a:stretch>
            <a:fillRect/>
          </a:stretch>
        </p:blipFill>
        <p:spPr>
          <a:xfrm>
            <a:off x="-4749" y="0"/>
            <a:ext cx="12201499" cy="6858000"/>
          </a:xfrm>
          <a:prstGeom prst="rect">
            <a:avLst/>
          </a:prstGeom>
        </p:spPr>
      </p:pic>
      <p:sp>
        <p:nvSpPr>
          <p:cNvPr id="3" name="TextBox 2"/>
          <p:cNvSpPr txBox="1"/>
          <p:nvPr/>
        </p:nvSpPr>
        <p:spPr>
          <a:xfrm>
            <a:off x="182880" y="2432304"/>
            <a:ext cx="11795760" cy="728213"/>
          </a:xfrm>
          <a:prstGeom prst="rect">
            <a:avLst/>
          </a:prstGeom>
          <a:noFill/>
        </p:spPr>
        <p:txBody>
          <a:bodyPr wrap="square" lIns="0" tIns="0" rIns="0" bIns="0" anchor="t">
            <a:spAutoFit/>
          </a:bodyPr>
          <a:lstStyle/>
          <a:p>
            <a:pPr algn="ctr">
              <a:lnSpc>
                <a:spcPct val="105000"/>
              </a:lnSpc>
            </a:pPr>
            <a:r>
              <a:rPr sz="4800" b="1" dirty="0" err="1">
                <a:solidFill>
                  <a:srgbClr val="FFFFFF"/>
                </a:solidFill>
                <a:latin typeface="方正正中黑简体"/>
              </a:rPr>
              <a:t>基于多模态学习的药物分子性质预测研究</a:t>
            </a:r>
            <a:endParaRPr sz="4800" b="1" dirty="0">
              <a:solidFill>
                <a:srgbClr val="FFFFFF"/>
              </a:solidFill>
              <a:latin typeface="方正正中黑简体"/>
            </a:endParaRPr>
          </a:p>
        </p:txBody>
      </p:sp>
      <p:sp>
        <p:nvSpPr>
          <p:cNvPr id="4" name="TextBox 3"/>
          <p:cNvSpPr txBox="1"/>
          <p:nvPr/>
        </p:nvSpPr>
        <p:spPr>
          <a:xfrm>
            <a:off x="6103905" y="3884644"/>
            <a:ext cx="3840480" cy="896112"/>
          </a:xfrm>
          <a:prstGeom prst="rect">
            <a:avLst/>
          </a:prstGeom>
          <a:noFill/>
        </p:spPr>
        <p:txBody>
          <a:bodyPr wrap="square" lIns="0" tIns="0" rIns="0" bIns="0" anchor="t">
            <a:spAutoFit/>
          </a:bodyPr>
          <a:lstStyle/>
          <a:p>
            <a:pPr algn="l">
              <a:lnSpc>
                <a:spcPct val="118000"/>
              </a:lnSpc>
            </a:pPr>
            <a:r>
              <a:rPr sz="1400" b="0" dirty="0">
                <a:solidFill>
                  <a:srgbClr val="FFFFFF"/>
                </a:solidFill>
                <a:latin typeface="微软雅黑 Light"/>
              </a:rPr>
              <a:t>姓   名</a:t>
            </a:r>
            <a:r>
              <a:rPr lang="zh-CN" altLang="en-US" sz="1400" b="0" dirty="0">
                <a:solidFill>
                  <a:srgbClr val="FFFFFF"/>
                </a:solidFill>
                <a:latin typeface="微软雅黑 Light"/>
              </a:rPr>
              <a:t>：</a:t>
            </a:r>
            <a:r>
              <a:rPr sz="1400" b="0" dirty="0" err="1">
                <a:solidFill>
                  <a:srgbClr val="FFFFFF"/>
                </a:solidFill>
                <a:latin typeface="微软雅黑 Light"/>
              </a:rPr>
              <a:t>范帅尧</a:t>
            </a:r>
            <a:endParaRPr sz="1400" b="0" dirty="0">
              <a:solidFill>
                <a:srgbClr val="FFFFFF"/>
              </a:solidFill>
              <a:latin typeface="微软雅黑 Light"/>
            </a:endParaRPr>
          </a:p>
          <a:p>
            <a:pPr algn="l">
              <a:lnSpc>
                <a:spcPct val="118000"/>
              </a:lnSpc>
            </a:pPr>
            <a:r>
              <a:rPr sz="1400" b="0" dirty="0">
                <a:solidFill>
                  <a:srgbClr val="FFFFFF"/>
                </a:solidFill>
                <a:latin typeface="微软雅黑 Light"/>
              </a:rPr>
              <a:t>导   </a:t>
            </a:r>
            <a:r>
              <a:rPr sz="1400" b="0" dirty="0" err="1">
                <a:solidFill>
                  <a:srgbClr val="FFFFFF"/>
                </a:solidFill>
                <a:latin typeface="微软雅黑 Light"/>
              </a:rPr>
              <a:t>师：牛云云教授</a:t>
            </a:r>
            <a:endParaRPr sz="1400" b="0" dirty="0">
              <a:solidFill>
                <a:srgbClr val="FFFFFF"/>
              </a:solidFill>
              <a:latin typeface="微软雅黑 Light"/>
            </a:endParaRPr>
          </a:p>
          <a:p>
            <a:pPr algn="l">
              <a:lnSpc>
                <a:spcPct val="118000"/>
              </a:lnSpc>
            </a:pPr>
            <a:r>
              <a:rPr sz="1400" b="0" dirty="0">
                <a:solidFill>
                  <a:srgbClr val="FFFFFF"/>
                </a:solidFill>
                <a:latin typeface="微软雅黑 Light"/>
              </a:rPr>
              <a:t>时   间：2026.05.13</a:t>
            </a:r>
          </a:p>
        </p:txBody>
      </p:sp>
      <p:pic>
        <p:nvPicPr>
          <p:cNvPr id="5" name="Picture 4" descr="logo.png"/>
          <p:cNvPicPr>
            <a:picLocks noChangeAspect="1"/>
          </p:cNvPicPr>
          <p:nvPr/>
        </p:nvPicPr>
        <p:blipFill>
          <a:blip r:embed="rId3"/>
          <a:stretch>
            <a:fillRect/>
          </a:stretch>
        </p:blipFill>
        <p:spPr>
          <a:xfrm>
            <a:off x="11301984" y="310896"/>
            <a:ext cx="402336" cy="457200"/>
          </a:xfrm>
          <a:prstGeom prst="rect">
            <a:avLst/>
          </a:prstGeom>
        </p:spPr>
      </p:pic>
      <p:sp>
        <p:nvSpPr>
          <p:cNvPr id="6" name="矩形 5">
            <a:extLst>
              <a:ext uri="{FF2B5EF4-FFF2-40B4-BE49-F238E27FC236}">
                <a16:creationId xmlns:a16="http://schemas.microsoft.com/office/drawing/2014/main" id="{C951202C-A03F-BAA3-2452-59A10A12153D}"/>
              </a:ext>
            </a:extLst>
          </p:cNvPr>
          <p:cNvSpPr/>
          <p:nvPr/>
        </p:nvSpPr>
        <p:spPr>
          <a:xfrm>
            <a:off x="4162166" y="689022"/>
            <a:ext cx="3861979" cy="1012810"/>
          </a:xfrm>
          <a:prstGeom prst="rect">
            <a:avLst/>
          </a:prstGeom>
          <a:blipFill>
            <a:blip r:embed="rId4"/>
            <a:stretch>
              <a:fillRect/>
            </a:stretch>
          </a:blipFill>
          <a:ln>
            <a:no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8288" y="0"/>
            <a:ext cx="3383280" cy="6858000"/>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a:off x="2560320" y="0"/>
            <a:ext cx="1325880" cy="6858000"/>
          </a:xfrm>
          <a:prstGeom prst="rtTriangle">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005840"/>
            <a:ext cx="822960" cy="822960"/>
          </a:xfrm>
          <a:prstGeom prst="rect">
            <a:avLst/>
          </a:prstGeom>
          <a:noFill/>
        </p:spPr>
        <p:txBody>
          <a:bodyPr wrap="square" lIns="0" tIns="0" rIns="0" bIns="0" anchor="t">
            <a:spAutoFit/>
          </a:bodyPr>
          <a:lstStyle/>
          <a:p>
            <a:pPr algn="ctr">
              <a:lnSpc>
                <a:spcPct val="105000"/>
              </a:lnSpc>
            </a:pPr>
            <a:r>
              <a:rPr sz="4200" b="1">
                <a:solidFill>
                  <a:srgbClr val="FFFFFF"/>
                </a:solidFill>
                <a:latin typeface="方正正中黑简体"/>
              </a:rPr>
              <a:t>目</a:t>
            </a:r>
          </a:p>
        </p:txBody>
      </p:sp>
      <p:sp>
        <p:nvSpPr>
          <p:cNvPr id="5" name="TextBox 4"/>
          <p:cNvSpPr txBox="1"/>
          <p:nvPr/>
        </p:nvSpPr>
        <p:spPr>
          <a:xfrm>
            <a:off x="1243584" y="1810512"/>
            <a:ext cx="822960" cy="822960"/>
          </a:xfrm>
          <a:prstGeom prst="rect">
            <a:avLst/>
          </a:prstGeom>
          <a:noFill/>
        </p:spPr>
        <p:txBody>
          <a:bodyPr wrap="square" lIns="0" tIns="0" rIns="0" bIns="0" anchor="t">
            <a:spAutoFit/>
          </a:bodyPr>
          <a:lstStyle/>
          <a:p>
            <a:pPr algn="ctr">
              <a:lnSpc>
                <a:spcPct val="105000"/>
              </a:lnSpc>
            </a:pPr>
            <a:r>
              <a:rPr sz="4200" b="1">
                <a:solidFill>
                  <a:srgbClr val="FFFFFF"/>
                </a:solidFill>
                <a:latin typeface="方正正中黑简体"/>
              </a:rPr>
              <a:t>录</a:t>
            </a:r>
          </a:p>
        </p:txBody>
      </p:sp>
      <p:sp>
        <p:nvSpPr>
          <p:cNvPr id="6" name="TextBox 5"/>
          <p:cNvSpPr txBox="1"/>
          <p:nvPr/>
        </p:nvSpPr>
        <p:spPr>
          <a:xfrm>
            <a:off x="365760" y="3246120"/>
            <a:ext cx="2148840" cy="310896"/>
          </a:xfrm>
          <a:prstGeom prst="rect">
            <a:avLst/>
          </a:prstGeom>
          <a:noFill/>
        </p:spPr>
        <p:txBody>
          <a:bodyPr wrap="square" lIns="0" tIns="0" rIns="0" bIns="0" anchor="t">
            <a:spAutoFit/>
          </a:bodyPr>
          <a:lstStyle/>
          <a:p>
            <a:pPr algn="l">
              <a:lnSpc>
                <a:spcPct val="105000"/>
              </a:lnSpc>
            </a:pPr>
            <a:r>
              <a:rPr sz="1700" b="0">
                <a:solidFill>
                  <a:srgbClr val="D9EAF7"/>
                </a:solidFill>
                <a:latin typeface="Aptos"/>
              </a:rPr>
              <a:t>CONTENTS</a:t>
            </a:r>
          </a:p>
        </p:txBody>
      </p:sp>
      <p:pic>
        <p:nvPicPr>
          <p:cNvPr id="7" name="Picture 6" descr="logo.png"/>
          <p:cNvPicPr>
            <a:picLocks noChangeAspect="1"/>
          </p:cNvPicPr>
          <p:nvPr/>
        </p:nvPicPr>
        <p:blipFill>
          <a:blip r:embed="rId2"/>
          <a:stretch>
            <a:fillRect/>
          </a:stretch>
        </p:blipFill>
        <p:spPr>
          <a:xfrm>
            <a:off x="11301984" y="310896"/>
            <a:ext cx="402336" cy="457200"/>
          </a:xfrm>
          <a:prstGeom prst="rect">
            <a:avLst/>
          </a:prstGeom>
        </p:spPr>
      </p:pic>
      <p:sp>
        <p:nvSpPr>
          <p:cNvPr id="8" name="TextBox 7"/>
          <p:cNvSpPr txBox="1"/>
          <p:nvPr/>
        </p:nvSpPr>
        <p:spPr>
          <a:xfrm>
            <a:off x="4617720" y="1078992"/>
            <a:ext cx="713232" cy="424796"/>
          </a:xfrm>
          <a:prstGeom prst="rect">
            <a:avLst/>
          </a:prstGeom>
          <a:noFill/>
        </p:spPr>
        <p:txBody>
          <a:bodyPr wrap="square" lIns="0" tIns="0" rIns="0" bIns="0" anchor="t">
            <a:spAutoFit/>
          </a:bodyPr>
          <a:lstStyle/>
          <a:p>
            <a:pPr algn="l">
              <a:lnSpc>
                <a:spcPct val="105000"/>
              </a:lnSpc>
            </a:pPr>
            <a:r>
              <a:rPr sz="2800" b="1" dirty="0">
                <a:solidFill>
                  <a:srgbClr val="004E98"/>
                </a:solidFill>
                <a:latin typeface="Microsoft YaHei"/>
              </a:rPr>
              <a:t>01 /</a:t>
            </a:r>
          </a:p>
        </p:txBody>
      </p:sp>
      <p:sp>
        <p:nvSpPr>
          <p:cNvPr id="9" name="TextBox 8"/>
          <p:cNvSpPr txBox="1"/>
          <p:nvPr/>
        </p:nvSpPr>
        <p:spPr>
          <a:xfrm>
            <a:off x="5376672" y="1060704"/>
            <a:ext cx="2560320" cy="424796"/>
          </a:xfrm>
          <a:prstGeom prst="rect">
            <a:avLst/>
          </a:prstGeom>
          <a:noFill/>
        </p:spPr>
        <p:txBody>
          <a:bodyPr wrap="square" lIns="0" tIns="0" rIns="0" bIns="0" anchor="t">
            <a:spAutoFit/>
          </a:bodyPr>
          <a:lstStyle/>
          <a:p>
            <a:pPr algn="l">
              <a:lnSpc>
                <a:spcPct val="105000"/>
              </a:lnSpc>
            </a:pPr>
            <a:r>
              <a:rPr sz="2800" b="1" dirty="0" err="1">
                <a:solidFill>
                  <a:srgbClr val="004E98"/>
                </a:solidFill>
                <a:latin typeface="Microsoft YaHei"/>
              </a:rPr>
              <a:t>研究背景与意义</a:t>
            </a:r>
            <a:endParaRPr sz="2800" b="1" dirty="0">
              <a:solidFill>
                <a:srgbClr val="004E98"/>
              </a:solidFill>
              <a:latin typeface="Microsoft YaHei"/>
            </a:endParaRPr>
          </a:p>
        </p:txBody>
      </p:sp>
      <p:sp>
        <p:nvSpPr>
          <p:cNvPr id="10" name="TextBox 9"/>
          <p:cNvSpPr txBox="1"/>
          <p:nvPr/>
        </p:nvSpPr>
        <p:spPr>
          <a:xfrm>
            <a:off x="5376672" y="1586103"/>
            <a:ext cx="4297680" cy="219456"/>
          </a:xfrm>
          <a:prstGeom prst="rect">
            <a:avLst/>
          </a:prstGeom>
          <a:noFill/>
        </p:spPr>
        <p:txBody>
          <a:bodyPr wrap="square" lIns="0" tIns="0" rIns="0" bIns="0" anchor="t">
            <a:spAutoFit/>
          </a:bodyPr>
          <a:lstStyle/>
          <a:p>
            <a:pPr algn="l">
              <a:lnSpc>
                <a:spcPct val="105000"/>
              </a:lnSpc>
            </a:pPr>
            <a:r>
              <a:rPr sz="1040" b="0" dirty="0" err="1">
                <a:solidFill>
                  <a:srgbClr val="5B6773"/>
                </a:solidFill>
                <a:latin typeface="微软雅黑 Light"/>
              </a:rPr>
              <a:t>药物发现早筛需求与多模态分子性质预测价值</a:t>
            </a:r>
            <a:endParaRPr sz="1040" b="0" dirty="0">
              <a:solidFill>
                <a:srgbClr val="5B6773"/>
              </a:solidFill>
              <a:latin typeface="微软雅黑 Light"/>
            </a:endParaRPr>
          </a:p>
        </p:txBody>
      </p:sp>
      <p:sp>
        <p:nvSpPr>
          <p:cNvPr id="11" name="Rectangle 10"/>
          <p:cNvSpPr/>
          <p:nvPr/>
        </p:nvSpPr>
        <p:spPr>
          <a:xfrm>
            <a:off x="5376672" y="1494663"/>
            <a:ext cx="4160520" cy="10972"/>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2249424"/>
            <a:ext cx="713232" cy="424796"/>
          </a:xfrm>
          <a:prstGeom prst="rect">
            <a:avLst/>
          </a:prstGeom>
          <a:noFill/>
        </p:spPr>
        <p:txBody>
          <a:bodyPr wrap="square" lIns="0" tIns="0" rIns="0" bIns="0" anchor="t">
            <a:spAutoFit/>
          </a:bodyPr>
          <a:lstStyle/>
          <a:p>
            <a:pPr algn="l">
              <a:lnSpc>
                <a:spcPct val="105000"/>
              </a:lnSpc>
            </a:pPr>
            <a:r>
              <a:rPr sz="2800" b="1">
                <a:solidFill>
                  <a:srgbClr val="004E98"/>
                </a:solidFill>
                <a:latin typeface="Microsoft YaHei"/>
              </a:rPr>
              <a:t>02 /</a:t>
            </a:r>
          </a:p>
        </p:txBody>
      </p:sp>
      <p:sp>
        <p:nvSpPr>
          <p:cNvPr id="13" name="TextBox 12"/>
          <p:cNvSpPr txBox="1"/>
          <p:nvPr/>
        </p:nvSpPr>
        <p:spPr>
          <a:xfrm>
            <a:off x="5376672" y="2231136"/>
            <a:ext cx="2560320" cy="424796"/>
          </a:xfrm>
          <a:prstGeom prst="rect">
            <a:avLst/>
          </a:prstGeom>
          <a:noFill/>
        </p:spPr>
        <p:txBody>
          <a:bodyPr wrap="square" lIns="0" tIns="0" rIns="0" bIns="0" anchor="t">
            <a:spAutoFit/>
          </a:bodyPr>
          <a:lstStyle/>
          <a:p>
            <a:pPr algn="l">
              <a:lnSpc>
                <a:spcPct val="105000"/>
              </a:lnSpc>
            </a:pPr>
            <a:r>
              <a:rPr sz="2800" b="1">
                <a:solidFill>
                  <a:srgbClr val="16324F"/>
                </a:solidFill>
                <a:latin typeface="Microsoft YaHei"/>
              </a:rPr>
              <a:t>研究现状</a:t>
            </a:r>
          </a:p>
        </p:txBody>
      </p:sp>
      <p:sp>
        <p:nvSpPr>
          <p:cNvPr id="14" name="TextBox 13"/>
          <p:cNvSpPr txBox="1"/>
          <p:nvPr/>
        </p:nvSpPr>
        <p:spPr>
          <a:xfrm>
            <a:off x="5376672" y="2756535"/>
            <a:ext cx="4297680" cy="219456"/>
          </a:xfrm>
          <a:prstGeom prst="rect">
            <a:avLst/>
          </a:prstGeom>
          <a:noFill/>
        </p:spPr>
        <p:txBody>
          <a:bodyPr wrap="square" lIns="0" tIns="0" rIns="0" bIns="0" anchor="t">
            <a:spAutoFit/>
          </a:bodyPr>
          <a:lstStyle/>
          <a:p>
            <a:pPr algn="l">
              <a:lnSpc>
                <a:spcPct val="105000"/>
              </a:lnSpc>
            </a:pPr>
            <a:r>
              <a:rPr sz="1040" b="0">
                <a:solidFill>
                  <a:srgbClr val="5B6773"/>
                </a:solidFill>
                <a:latin typeface="微软雅黑 Light"/>
              </a:rPr>
              <a:t>单模态、多模态方法进展及其主要不足</a:t>
            </a:r>
          </a:p>
        </p:txBody>
      </p:sp>
      <p:sp>
        <p:nvSpPr>
          <p:cNvPr id="15" name="Rectangle 14"/>
          <p:cNvSpPr/>
          <p:nvPr/>
        </p:nvSpPr>
        <p:spPr>
          <a:xfrm>
            <a:off x="5376672" y="2665095"/>
            <a:ext cx="4160520" cy="10972"/>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17720" y="3419856"/>
            <a:ext cx="713232" cy="424796"/>
          </a:xfrm>
          <a:prstGeom prst="rect">
            <a:avLst/>
          </a:prstGeom>
          <a:noFill/>
        </p:spPr>
        <p:txBody>
          <a:bodyPr wrap="square" lIns="0" tIns="0" rIns="0" bIns="0" anchor="t">
            <a:spAutoFit/>
          </a:bodyPr>
          <a:lstStyle/>
          <a:p>
            <a:pPr algn="l">
              <a:lnSpc>
                <a:spcPct val="105000"/>
              </a:lnSpc>
            </a:pPr>
            <a:r>
              <a:rPr sz="2800" b="1">
                <a:solidFill>
                  <a:srgbClr val="004E98"/>
                </a:solidFill>
                <a:latin typeface="Microsoft YaHei"/>
              </a:rPr>
              <a:t>03 /</a:t>
            </a:r>
          </a:p>
        </p:txBody>
      </p:sp>
      <p:sp>
        <p:nvSpPr>
          <p:cNvPr id="17" name="TextBox 16"/>
          <p:cNvSpPr txBox="1"/>
          <p:nvPr/>
        </p:nvSpPr>
        <p:spPr>
          <a:xfrm>
            <a:off x="5376672" y="3401568"/>
            <a:ext cx="2560320" cy="424796"/>
          </a:xfrm>
          <a:prstGeom prst="rect">
            <a:avLst/>
          </a:prstGeom>
          <a:noFill/>
        </p:spPr>
        <p:txBody>
          <a:bodyPr wrap="square" lIns="0" tIns="0" rIns="0" bIns="0" anchor="t">
            <a:spAutoFit/>
          </a:bodyPr>
          <a:lstStyle/>
          <a:p>
            <a:pPr algn="l">
              <a:lnSpc>
                <a:spcPct val="105000"/>
              </a:lnSpc>
            </a:pPr>
            <a:r>
              <a:rPr sz="2800" b="1">
                <a:solidFill>
                  <a:srgbClr val="16324F"/>
                </a:solidFill>
                <a:latin typeface="Microsoft YaHei"/>
              </a:rPr>
              <a:t>研究内容</a:t>
            </a:r>
          </a:p>
        </p:txBody>
      </p:sp>
      <p:sp>
        <p:nvSpPr>
          <p:cNvPr id="18" name="TextBox 17"/>
          <p:cNvSpPr txBox="1"/>
          <p:nvPr/>
        </p:nvSpPr>
        <p:spPr>
          <a:xfrm>
            <a:off x="5376672" y="3907917"/>
            <a:ext cx="4297680" cy="219456"/>
          </a:xfrm>
          <a:prstGeom prst="rect">
            <a:avLst/>
          </a:prstGeom>
          <a:noFill/>
        </p:spPr>
        <p:txBody>
          <a:bodyPr wrap="square" lIns="0" tIns="0" rIns="0" bIns="0" anchor="t">
            <a:spAutoFit/>
          </a:bodyPr>
          <a:lstStyle/>
          <a:p>
            <a:pPr algn="l">
              <a:lnSpc>
                <a:spcPct val="105000"/>
              </a:lnSpc>
            </a:pPr>
            <a:r>
              <a:rPr sz="1040" b="0">
                <a:solidFill>
                  <a:srgbClr val="5B6773"/>
                </a:solidFill>
                <a:latin typeface="微软雅黑 Light"/>
              </a:rPr>
              <a:t>CoT-CMP 与 KGAMA 两项核心方法及实验验证</a:t>
            </a:r>
          </a:p>
        </p:txBody>
      </p:sp>
      <p:sp>
        <p:nvSpPr>
          <p:cNvPr id="19" name="Rectangle 18"/>
          <p:cNvSpPr/>
          <p:nvPr/>
        </p:nvSpPr>
        <p:spPr>
          <a:xfrm>
            <a:off x="5376672" y="3816477"/>
            <a:ext cx="4160520" cy="10972"/>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17720" y="4590288"/>
            <a:ext cx="713232" cy="424796"/>
          </a:xfrm>
          <a:prstGeom prst="rect">
            <a:avLst/>
          </a:prstGeom>
          <a:noFill/>
        </p:spPr>
        <p:txBody>
          <a:bodyPr wrap="square" lIns="0" tIns="0" rIns="0" bIns="0" anchor="t">
            <a:spAutoFit/>
          </a:bodyPr>
          <a:lstStyle/>
          <a:p>
            <a:pPr algn="l">
              <a:lnSpc>
                <a:spcPct val="105000"/>
              </a:lnSpc>
            </a:pPr>
            <a:r>
              <a:rPr sz="2800" b="1">
                <a:solidFill>
                  <a:srgbClr val="004E98"/>
                </a:solidFill>
                <a:latin typeface="Microsoft YaHei"/>
              </a:rPr>
              <a:t>04 /</a:t>
            </a:r>
          </a:p>
        </p:txBody>
      </p:sp>
      <p:sp>
        <p:nvSpPr>
          <p:cNvPr id="21" name="TextBox 20"/>
          <p:cNvSpPr txBox="1"/>
          <p:nvPr/>
        </p:nvSpPr>
        <p:spPr>
          <a:xfrm>
            <a:off x="5376672" y="4572000"/>
            <a:ext cx="2560320" cy="424796"/>
          </a:xfrm>
          <a:prstGeom prst="rect">
            <a:avLst/>
          </a:prstGeom>
          <a:noFill/>
        </p:spPr>
        <p:txBody>
          <a:bodyPr wrap="square" lIns="0" tIns="0" rIns="0" bIns="0" anchor="t">
            <a:spAutoFit/>
          </a:bodyPr>
          <a:lstStyle/>
          <a:p>
            <a:pPr algn="l">
              <a:lnSpc>
                <a:spcPct val="105000"/>
              </a:lnSpc>
            </a:pPr>
            <a:r>
              <a:rPr sz="2800" b="1">
                <a:solidFill>
                  <a:srgbClr val="16324F"/>
                </a:solidFill>
                <a:latin typeface="Microsoft YaHei"/>
              </a:rPr>
              <a:t>结论与展望</a:t>
            </a:r>
          </a:p>
        </p:txBody>
      </p:sp>
      <p:sp>
        <p:nvSpPr>
          <p:cNvPr id="22" name="TextBox 21"/>
          <p:cNvSpPr txBox="1"/>
          <p:nvPr/>
        </p:nvSpPr>
        <p:spPr>
          <a:xfrm>
            <a:off x="5376672" y="5087874"/>
            <a:ext cx="4297680" cy="219456"/>
          </a:xfrm>
          <a:prstGeom prst="rect">
            <a:avLst/>
          </a:prstGeom>
          <a:noFill/>
        </p:spPr>
        <p:txBody>
          <a:bodyPr wrap="square" lIns="0" tIns="0" rIns="0" bIns="0" anchor="t">
            <a:spAutoFit/>
          </a:bodyPr>
          <a:lstStyle/>
          <a:p>
            <a:pPr algn="l">
              <a:lnSpc>
                <a:spcPct val="105000"/>
              </a:lnSpc>
            </a:pPr>
            <a:r>
              <a:rPr sz="1040" b="0">
                <a:solidFill>
                  <a:srgbClr val="5B6773"/>
                </a:solidFill>
                <a:latin typeface="微软雅黑 Light"/>
              </a:rPr>
              <a:t>研究贡献、局限性与未来工作方向</a:t>
            </a:r>
          </a:p>
        </p:txBody>
      </p:sp>
      <p:sp>
        <p:nvSpPr>
          <p:cNvPr id="23" name="Rectangle 22"/>
          <p:cNvSpPr/>
          <p:nvPr/>
        </p:nvSpPr>
        <p:spPr>
          <a:xfrm>
            <a:off x="5376672" y="4996433"/>
            <a:ext cx="4160520" cy="10972"/>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09645" y="369702"/>
            <a:ext cx="5669280" cy="309315"/>
          </a:xfrm>
          <a:prstGeom prst="rect">
            <a:avLst/>
          </a:prstGeom>
          <a:noFill/>
        </p:spPr>
        <p:txBody>
          <a:bodyPr wrap="square" lIns="0" tIns="0" rIns="0" bIns="0" anchor="t">
            <a:spAutoFit/>
          </a:bodyPr>
          <a:lstStyle/>
          <a:p>
            <a:pPr>
              <a:lnSpc>
                <a:spcPct val="105000"/>
              </a:lnSpc>
            </a:pPr>
            <a:r>
              <a:rPr sz="2000" b="1" dirty="0" err="1">
                <a:solidFill>
                  <a:srgbClr val="004E98"/>
                </a:solidFill>
                <a:latin typeface="方正正中黑简体"/>
              </a:rPr>
              <a:t>研究背景：药物</a:t>
            </a:r>
            <a:r>
              <a:rPr lang="zh-CN" altLang="en-US" sz="2000" b="1" dirty="0">
                <a:solidFill>
                  <a:srgbClr val="004E98"/>
                </a:solidFill>
                <a:latin typeface="微软雅黑" panose="020B0503020204020204" pitchFamily="34" charset="-122"/>
                <a:ea typeface="微软雅黑" panose="020B0503020204020204" pitchFamily="34" charset="-122"/>
              </a:rPr>
              <a:t>早期筛选</a:t>
            </a:r>
            <a:r>
              <a:rPr sz="2000" b="1" dirty="0" err="1">
                <a:solidFill>
                  <a:srgbClr val="004E98"/>
                </a:solidFill>
                <a:latin typeface="方正正中黑简体"/>
              </a:rPr>
              <a:t>对性质预测提出高要求</a:t>
            </a:r>
            <a:endParaRPr sz="2000" b="1" dirty="0">
              <a:solidFill>
                <a:srgbClr val="004E98"/>
              </a:solidFill>
              <a:latin typeface="方正正中黑简体"/>
            </a:endParaRPr>
          </a:p>
        </p:txBody>
      </p:sp>
      <p:pic>
        <p:nvPicPr>
          <p:cNvPr id="7" name="Picture 6" descr="logo.png"/>
          <p:cNvPicPr>
            <a:picLocks noChangeAspect="1"/>
          </p:cNvPicPr>
          <p:nvPr/>
        </p:nvPicPr>
        <p:blipFill>
          <a:blip r:embed="rId3"/>
          <a:stretch>
            <a:fillRect/>
          </a:stretch>
        </p:blipFill>
        <p:spPr>
          <a:xfrm>
            <a:off x="11301984" y="310896"/>
            <a:ext cx="402336" cy="457200"/>
          </a:xfrm>
          <a:prstGeom prst="rect">
            <a:avLst/>
          </a:prstGeom>
        </p:spPr>
      </p:pic>
      <p:sp>
        <p:nvSpPr>
          <p:cNvPr id="8" name="Rectangle 7"/>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sp>
        <p:nvSpPr>
          <p:cNvPr id="11" name="TextBox 10"/>
          <p:cNvSpPr txBox="1"/>
          <p:nvPr/>
        </p:nvSpPr>
        <p:spPr>
          <a:xfrm>
            <a:off x="1104204" y="1130406"/>
            <a:ext cx="10012680" cy="278346"/>
          </a:xfrm>
          <a:prstGeom prst="rect">
            <a:avLst/>
          </a:prstGeom>
          <a:noFill/>
        </p:spPr>
        <p:txBody>
          <a:bodyPr wrap="square" lIns="0" tIns="0" rIns="0" bIns="0" anchor="t">
            <a:spAutoFit/>
          </a:bodyPr>
          <a:lstStyle/>
          <a:p>
            <a:pPr>
              <a:lnSpc>
                <a:spcPct val="105000"/>
              </a:lnSpc>
            </a:pPr>
            <a:r>
              <a:rPr lang="zh-CN" altLang="en-US" b="1" dirty="0">
                <a:latin typeface="微软雅黑" panose="020B0503020204020204" pitchFamily="34" charset="-122"/>
                <a:ea typeface="微软雅黑" panose="020B0503020204020204" pitchFamily="34" charset="-122"/>
              </a:rPr>
              <a:t>现代创新药物研发流程复杂、周期长、成本高，早期筛选结果会直接影响后续研发效率。</a:t>
            </a:r>
            <a:endParaRPr sz="1600" b="1" dirty="0">
              <a:solidFill>
                <a:srgbClr val="16324F"/>
              </a:solidFill>
              <a:latin typeface="微软雅黑" panose="020B0503020204020204" pitchFamily="34" charset="-122"/>
              <a:ea typeface="微软雅黑" panose="020B0503020204020204" pitchFamily="34" charset="-122"/>
            </a:endParaRPr>
          </a:p>
        </p:txBody>
      </p:sp>
      <p:sp>
        <p:nvSpPr>
          <p:cNvPr id="12" name="Rounded Rectangle 11"/>
          <p:cNvSpPr/>
          <p:nvPr/>
        </p:nvSpPr>
        <p:spPr>
          <a:xfrm>
            <a:off x="1051205" y="4171948"/>
            <a:ext cx="2925318" cy="1379967"/>
          </a:xfrm>
          <a:prstGeom prst="roundRect">
            <a:avLst>
              <a:gd name="adj" fmla="val 11145"/>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46333" y="4174622"/>
            <a:ext cx="115743" cy="1396941"/>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246923" y="4642893"/>
            <a:ext cx="420624" cy="420624"/>
          </a:xfrm>
          <a:prstGeom prst="ellipse">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1</a:t>
            </a:r>
            <a:endParaRPr dirty="0"/>
          </a:p>
        </p:txBody>
      </p:sp>
      <p:sp>
        <p:nvSpPr>
          <p:cNvPr id="16" name="TextBox 15"/>
          <p:cNvSpPr txBox="1"/>
          <p:nvPr/>
        </p:nvSpPr>
        <p:spPr>
          <a:xfrm>
            <a:off x="1925351" y="4251700"/>
            <a:ext cx="1197320" cy="273088"/>
          </a:xfrm>
          <a:prstGeom prst="rect">
            <a:avLst/>
          </a:prstGeom>
          <a:noFill/>
        </p:spPr>
        <p:txBody>
          <a:bodyPr wrap="square" lIns="0" tIns="0" rIns="0" bIns="0" anchor="t">
            <a:spAutoFit/>
          </a:bodyPr>
          <a:lstStyle/>
          <a:p>
            <a:pPr algn="l">
              <a:lnSpc>
                <a:spcPct val="105000"/>
              </a:lnSpc>
            </a:pPr>
            <a:r>
              <a:rPr b="1" dirty="0" err="1">
                <a:solidFill>
                  <a:srgbClr val="16324F"/>
                </a:solidFill>
                <a:latin typeface="Microsoft YaHei"/>
              </a:rPr>
              <a:t>研发</a:t>
            </a:r>
            <a:r>
              <a:rPr lang="zh-CN" altLang="en-US" b="1" dirty="0">
                <a:solidFill>
                  <a:srgbClr val="16324F"/>
                </a:solidFill>
                <a:latin typeface="微软雅黑" panose="020B0503020204020204" pitchFamily="34" charset="-122"/>
                <a:ea typeface="微软雅黑" panose="020B0503020204020204" pitchFamily="34" charset="-122"/>
              </a:rPr>
              <a:t>周期长</a:t>
            </a:r>
            <a:endParaRPr b="1" dirty="0">
              <a:solidFill>
                <a:srgbClr val="16324F"/>
              </a:solidFill>
              <a:latin typeface="微软雅黑" panose="020B0503020204020204" pitchFamily="34" charset="-122"/>
              <a:ea typeface="微软雅黑" panose="020B0503020204020204" pitchFamily="34" charset="-122"/>
            </a:endParaRPr>
          </a:p>
        </p:txBody>
      </p:sp>
      <p:sp>
        <p:nvSpPr>
          <p:cNvPr id="17" name="TextBox 16"/>
          <p:cNvSpPr txBox="1"/>
          <p:nvPr/>
        </p:nvSpPr>
        <p:spPr>
          <a:xfrm>
            <a:off x="1816514" y="4657086"/>
            <a:ext cx="1965960" cy="670248"/>
          </a:xfrm>
          <a:prstGeom prst="rect">
            <a:avLst/>
          </a:prstGeom>
          <a:noFill/>
        </p:spPr>
        <p:txBody>
          <a:bodyPr wrap="square" lIns="0" tIns="0" rIns="0" bIns="0" anchor="t">
            <a:spAutoFit/>
          </a:bodyPr>
          <a:lstStyle/>
          <a:p>
            <a:pPr>
              <a:lnSpc>
                <a:spcPct val="108000"/>
              </a:lnSpc>
            </a:pPr>
            <a:r>
              <a:rPr lang="zh-CN" altLang="en-US" sz="1400" b="1" dirty="0">
                <a:latin typeface="宋体" panose="02010600030101010101" pitchFamily="2" charset="-122"/>
                <a:ea typeface="宋体" panose="02010600030101010101" pitchFamily="2" charset="-122"/>
              </a:rPr>
              <a:t>研发链条长、阶段多，后期失败会显著放大早期筛选误差。</a:t>
            </a:r>
            <a:endParaRPr lang="en-US" sz="1400" b="1" dirty="0">
              <a:solidFill>
                <a:srgbClr val="5B6773"/>
              </a:solidFill>
              <a:latin typeface="宋体" panose="02010600030101010101" pitchFamily="2" charset="-122"/>
              <a:ea typeface="宋体" panose="02010600030101010101" pitchFamily="2" charset="-122"/>
            </a:endParaRPr>
          </a:p>
        </p:txBody>
      </p:sp>
      <p:sp>
        <p:nvSpPr>
          <p:cNvPr id="18" name="Rounded Rectangle 17"/>
          <p:cNvSpPr/>
          <p:nvPr/>
        </p:nvSpPr>
        <p:spPr>
          <a:xfrm>
            <a:off x="4669943" y="4163462"/>
            <a:ext cx="2919404" cy="1396942"/>
          </a:xfrm>
          <a:prstGeom prst="roundRect">
            <a:avLst>
              <a:gd name="adj" fmla="val 9576"/>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669943" y="4163461"/>
            <a:ext cx="125548" cy="1408101"/>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880121" y="4653531"/>
            <a:ext cx="420624" cy="420624"/>
          </a:xfrm>
          <a:prstGeom prst="ellipse">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2</a:t>
            </a:r>
            <a:endParaRPr dirty="0"/>
          </a:p>
        </p:txBody>
      </p:sp>
      <p:sp>
        <p:nvSpPr>
          <p:cNvPr id="22" name="TextBox 21"/>
          <p:cNvSpPr txBox="1"/>
          <p:nvPr/>
        </p:nvSpPr>
        <p:spPr>
          <a:xfrm>
            <a:off x="5583580" y="4251700"/>
            <a:ext cx="1171151" cy="273088"/>
          </a:xfrm>
          <a:prstGeom prst="rect">
            <a:avLst/>
          </a:prstGeom>
          <a:noFill/>
        </p:spPr>
        <p:txBody>
          <a:bodyPr wrap="square" lIns="0" tIns="0" rIns="0" bIns="0" anchor="t">
            <a:spAutoFit/>
          </a:bodyPr>
          <a:lstStyle/>
          <a:p>
            <a:pPr algn="l">
              <a:lnSpc>
                <a:spcPct val="105000"/>
              </a:lnSpc>
            </a:pPr>
            <a:r>
              <a:rPr lang="zh-CN" altLang="en-US" b="1" dirty="0">
                <a:solidFill>
                  <a:srgbClr val="16324F"/>
                </a:solidFill>
                <a:latin typeface="微软雅黑" panose="020B0503020204020204" pitchFamily="34" charset="-122"/>
                <a:ea typeface="微软雅黑" panose="020B0503020204020204" pitchFamily="34" charset="-122"/>
              </a:rPr>
              <a:t>候选空间大</a:t>
            </a:r>
            <a:endParaRPr b="1" dirty="0">
              <a:solidFill>
                <a:srgbClr val="16324F"/>
              </a:solidFill>
              <a:latin typeface="微软雅黑" panose="020B0503020204020204" pitchFamily="34" charset="-122"/>
              <a:ea typeface="微软雅黑" panose="020B0503020204020204" pitchFamily="34" charset="-122"/>
            </a:endParaRPr>
          </a:p>
        </p:txBody>
      </p:sp>
      <p:sp>
        <p:nvSpPr>
          <p:cNvPr id="23" name="TextBox 22"/>
          <p:cNvSpPr txBox="1"/>
          <p:nvPr/>
        </p:nvSpPr>
        <p:spPr>
          <a:xfrm>
            <a:off x="5385375" y="4661520"/>
            <a:ext cx="1965960" cy="687048"/>
          </a:xfrm>
          <a:prstGeom prst="rect">
            <a:avLst/>
          </a:prstGeom>
          <a:noFill/>
        </p:spPr>
        <p:txBody>
          <a:bodyPr wrap="square" lIns="0" tIns="0" rIns="0" bIns="0" anchor="t">
            <a:spAutoFit/>
          </a:bodyPr>
          <a:lstStyle/>
          <a:p>
            <a:pPr>
              <a:lnSpc>
                <a:spcPct val="108000"/>
              </a:lnSpc>
            </a:pPr>
            <a:r>
              <a:rPr lang="zh-CN" altLang="en-US" sz="1400" b="1" dirty="0">
                <a:latin typeface="宋体" panose="02010600030101010101" pitchFamily="2" charset="-122"/>
                <a:ea typeface="宋体" panose="02010600030101010101" pitchFamily="2" charset="-122"/>
              </a:rPr>
              <a:t>候选分子数量庞大，湿实验难以覆盖全部潜在化学空间。</a:t>
            </a:r>
            <a:endParaRPr lang="en-US" sz="1400" b="1" dirty="0">
              <a:solidFill>
                <a:srgbClr val="5B6773"/>
              </a:solidFill>
              <a:latin typeface="宋体" panose="02010600030101010101" pitchFamily="2" charset="-122"/>
              <a:ea typeface="宋体" panose="02010600030101010101" pitchFamily="2" charset="-122"/>
            </a:endParaRPr>
          </a:p>
        </p:txBody>
      </p:sp>
      <p:sp>
        <p:nvSpPr>
          <p:cNvPr id="24" name="Rounded Rectangle 23"/>
          <p:cNvSpPr/>
          <p:nvPr/>
        </p:nvSpPr>
        <p:spPr>
          <a:xfrm>
            <a:off x="8266002" y="4171948"/>
            <a:ext cx="2870139" cy="1417903"/>
          </a:xfrm>
          <a:prstGeom prst="roundRect">
            <a:avLst>
              <a:gd name="adj" fmla="val 8606"/>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266002" y="4176520"/>
            <a:ext cx="125547" cy="1406744"/>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519795" y="4653531"/>
            <a:ext cx="420624" cy="420624"/>
          </a:xfrm>
          <a:prstGeom prst="ellipse">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3</a:t>
            </a:r>
            <a:endParaRPr dirty="0"/>
          </a:p>
        </p:txBody>
      </p:sp>
      <p:sp>
        <p:nvSpPr>
          <p:cNvPr id="28" name="TextBox 27"/>
          <p:cNvSpPr txBox="1"/>
          <p:nvPr/>
        </p:nvSpPr>
        <p:spPr>
          <a:xfrm>
            <a:off x="9265236" y="4257182"/>
            <a:ext cx="1215537" cy="273088"/>
          </a:xfrm>
          <a:prstGeom prst="rect">
            <a:avLst/>
          </a:prstGeom>
          <a:noFill/>
        </p:spPr>
        <p:txBody>
          <a:bodyPr wrap="square" lIns="0" tIns="0" rIns="0" bIns="0" anchor="t">
            <a:spAutoFit/>
          </a:bodyPr>
          <a:lstStyle/>
          <a:p>
            <a:pPr algn="l">
              <a:lnSpc>
                <a:spcPct val="105000"/>
              </a:lnSpc>
            </a:pPr>
            <a:r>
              <a:rPr lang="zh-CN" altLang="en-US" b="1" dirty="0">
                <a:solidFill>
                  <a:srgbClr val="16324F"/>
                </a:solidFill>
                <a:latin typeface="微软雅黑" panose="020B0503020204020204" pitchFamily="34" charset="-122"/>
                <a:ea typeface="微软雅黑" panose="020B0503020204020204" pitchFamily="34" charset="-122"/>
              </a:rPr>
              <a:t>实验成本高</a:t>
            </a:r>
            <a:endParaRPr b="1" dirty="0">
              <a:solidFill>
                <a:srgbClr val="16324F"/>
              </a:solidFill>
              <a:latin typeface="微软雅黑" panose="020B0503020204020204" pitchFamily="34" charset="-122"/>
              <a:ea typeface="微软雅黑" panose="020B0503020204020204" pitchFamily="34" charset="-122"/>
            </a:endParaRPr>
          </a:p>
        </p:txBody>
      </p:sp>
      <p:sp>
        <p:nvSpPr>
          <p:cNvPr id="29" name="TextBox 28"/>
          <p:cNvSpPr txBox="1"/>
          <p:nvPr/>
        </p:nvSpPr>
        <p:spPr>
          <a:xfrm>
            <a:off x="9053577" y="4646481"/>
            <a:ext cx="1965960" cy="687048"/>
          </a:xfrm>
          <a:prstGeom prst="rect">
            <a:avLst/>
          </a:prstGeom>
          <a:noFill/>
        </p:spPr>
        <p:txBody>
          <a:bodyPr wrap="square" lIns="0" tIns="0" rIns="0" bIns="0" anchor="t">
            <a:spAutoFit/>
          </a:bodyPr>
          <a:lstStyle/>
          <a:p>
            <a:pPr>
              <a:lnSpc>
                <a:spcPct val="108000"/>
              </a:lnSpc>
            </a:pPr>
            <a:r>
              <a:rPr lang="zh-CN" altLang="en-US" sz="1400" b="1" dirty="0">
                <a:latin typeface="宋体" panose="02010600030101010101" pitchFamily="2" charset="-122"/>
                <a:ea typeface="宋体" panose="02010600030101010101" pitchFamily="2" charset="-122"/>
              </a:rPr>
              <a:t>湿实验可靠性高，但成本高、流程复杂，难以支撑大规模高通量筛选</a:t>
            </a:r>
            <a:endParaRPr lang="en-US" sz="1400" b="1" dirty="0">
              <a:solidFill>
                <a:srgbClr val="5B6773"/>
              </a:solidFill>
              <a:latin typeface="宋体" panose="02010600030101010101" pitchFamily="2" charset="-122"/>
              <a:ea typeface="宋体" panose="02010600030101010101" pitchFamily="2" charset="-122"/>
            </a:endParaRPr>
          </a:p>
        </p:txBody>
      </p:sp>
      <p:grpSp>
        <p:nvGrpSpPr>
          <p:cNvPr id="55" name="组合 54">
            <a:extLst>
              <a:ext uri="{FF2B5EF4-FFF2-40B4-BE49-F238E27FC236}">
                <a16:creationId xmlns:a16="http://schemas.microsoft.com/office/drawing/2014/main" id="{B4AC076A-AB28-2BCF-D8C1-60B0E923B518}"/>
              </a:ext>
            </a:extLst>
          </p:cNvPr>
          <p:cNvGrpSpPr/>
          <p:nvPr/>
        </p:nvGrpSpPr>
        <p:grpSpPr>
          <a:xfrm>
            <a:off x="1562729" y="1987499"/>
            <a:ext cx="8847084" cy="1742696"/>
            <a:chOff x="1583684" y="1607875"/>
            <a:chExt cx="8847084" cy="1742696"/>
          </a:xfrm>
        </p:grpSpPr>
        <p:sp>
          <p:nvSpPr>
            <p:cNvPr id="44" name="箭头: 右 43">
              <a:extLst>
                <a:ext uri="{FF2B5EF4-FFF2-40B4-BE49-F238E27FC236}">
                  <a16:creationId xmlns:a16="http://schemas.microsoft.com/office/drawing/2014/main" id="{7FD79801-D507-AD27-6C34-E91608A15FD5}"/>
                </a:ext>
              </a:extLst>
            </p:cNvPr>
            <p:cNvSpPr/>
            <p:nvPr/>
          </p:nvSpPr>
          <p:spPr>
            <a:xfrm>
              <a:off x="8224632" y="2094124"/>
              <a:ext cx="2206136" cy="1251581"/>
            </a:xfrm>
            <a:prstGeom prst="rightArrow">
              <a:avLst/>
            </a:prstGeom>
            <a:solidFill>
              <a:srgbClr val="1F4E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56AEE718-C111-FB0B-AA63-6F2C002FFEC7}"/>
                </a:ext>
              </a:extLst>
            </p:cNvPr>
            <p:cNvSpPr/>
            <p:nvPr/>
          </p:nvSpPr>
          <p:spPr>
            <a:xfrm>
              <a:off x="6613766" y="2094124"/>
              <a:ext cx="2206136" cy="1251581"/>
            </a:xfrm>
            <a:prstGeom prst="rightArrow">
              <a:avLst/>
            </a:prstGeom>
            <a:solidFill>
              <a:srgbClr val="2E75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ECA8CF1D-BA8F-7921-9269-07A8E0E718DB}"/>
                </a:ext>
              </a:extLst>
            </p:cNvPr>
            <p:cNvSpPr/>
            <p:nvPr/>
          </p:nvSpPr>
          <p:spPr>
            <a:xfrm>
              <a:off x="4931652" y="2098990"/>
              <a:ext cx="2206136" cy="1251581"/>
            </a:xfrm>
            <a:prstGeom prst="rightArrow">
              <a:avLst/>
            </a:prstGeom>
            <a:solidFill>
              <a:srgbClr val="9DC3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箭头: 右 41">
              <a:extLst>
                <a:ext uri="{FF2B5EF4-FFF2-40B4-BE49-F238E27FC236}">
                  <a16:creationId xmlns:a16="http://schemas.microsoft.com/office/drawing/2014/main" id="{F82F2429-8D3C-03F0-CEB9-68EEB229BB1E}"/>
                </a:ext>
              </a:extLst>
            </p:cNvPr>
            <p:cNvSpPr/>
            <p:nvPr/>
          </p:nvSpPr>
          <p:spPr>
            <a:xfrm>
              <a:off x="3377936" y="2098990"/>
              <a:ext cx="2206136" cy="1251581"/>
            </a:xfrm>
            <a:prstGeom prst="rightArrow">
              <a:avLst/>
            </a:prstGeom>
            <a:solidFill>
              <a:srgbClr val="BDD7EE"/>
            </a:solidFill>
            <a:ln>
              <a:noFill/>
            </a:ln>
            <a:effectLst>
              <a:glow rad="1397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AEBBE370-B6FB-2BCA-9BA2-AB5484C5BBB0}"/>
                </a:ext>
              </a:extLst>
            </p:cNvPr>
            <p:cNvSpPr/>
            <p:nvPr/>
          </p:nvSpPr>
          <p:spPr>
            <a:xfrm>
              <a:off x="1648197" y="2098989"/>
              <a:ext cx="2206136" cy="1251581"/>
            </a:xfrm>
            <a:prstGeom prst="rightArrow">
              <a:avLst/>
            </a:prstGeom>
            <a:solidFill>
              <a:srgbClr val="DEEAF6"/>
            </a:solidFill>
            <a:ln>
              <a:noFill/>
            </a:ln>
            <a:effectLst>
              <a:glow rad="101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4ED51F5F-7679-018D-ACAC-196E7AF9EE02}"/>
                </a:ext>
              </a:extLst>
            </p:cNvPr>
            <p:cNvSpPr/>
            <p:nvPr/>
          </p:nvSpPr>
          <p:spPr>
            <a:xfrm>
              <a:off x="1583684" y="1625045"/>
              <a:ext cx="1794252" cy="379624"/>
            </a:xfrm>
            <a:prstGeom prst="roundRect">
              <a:avLst/>
            </a:prstGeom>
            <a:solidFill>
              <a:srgbClr val="D0CECF"/>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b="1" dirty="0">
                  <a:latin typeface="宋体" panose="02010600030101010101" pitchFamily="2" charset="-122"/>
                  <a:ea typeface="宋体" panose="02010600030101010101" pitchFamily="2" charset="-122"/>
                </a:rPr>
                <a:t>早期筛选</a:t>
              </a:r>
            </a:p>
          </p:txBody>
        </p:sp>
        <p:sp>
          <p:nvSpPr>
            <p:cNvPr id="47" name="矩形: 圆角 46">
              <a:extLst>
                <a:ext uri="{FF2B5EF4-FFF2-40B4-BE49-F238E27FC236}">
                  <a16:creationId xmlns:a16="http://schemas.microsoft.com/office/drawing/2014/main" id="{02F3B9A1-04AD-1B73-CEF3-5AFA7E55ADC6}"/>
                </a:ext>
              </a:extLst>
            </p:cNvPr>
            <p:cNvSpPr/>
            <p:nvPr/>
          </p:nvSpPr>
          <p:spPr>
            <a:xfrm>
              <a:off x="5097299" y="1607875"/>
              <a:ext cx="1660844" cy="379624"/>
            </a:xfrm>
            <a:prstGeom prst="roundRect">
              <a:avLst/>
            </a:prstGeom>
            <a:solidFill>
              <a:srgbClr val="D0CECF"/>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b="1" dirty="0">
                  <a:latin typeface="宋体" panose="02010600030101010101" pitchFamily="2" charset="-122"/>
                  <a:ea typeface="宋体" panose="02010600030101010101" pitchFamily="2" charset="-122"/>
                </a:rPr>
                <a:t>人体试验</a:t>
              </a:r>
            </a:p>
          </p:txBody>
        </p:sp>
        <p:sp>
          <p:nvSpPr>
            <p:cNvPr id="48" name="矩形: 圆角 47">
              <a:extLst>
                <a:ext uri="{FF2B5EF4-FFF2-40B4-BE49-F238E27FC236}">
                  <a16:creationId xmlns:a16="http://schemas.microsoft.com/office/drawing/2014/main" id="{0DD27ABD-7611-E40E-3489-B5A0EB073134}"/>
                </a:ext>
              </a:extLst>
            </p:cNvPr>
            <p:cNvSpPr/>
            <p:nvPr/>
          </p:nvSpPr>
          <p:spPr>
            <a:xfrm>
              <a:off x="6879906" y="1614913"/>
              <a:ext cx="1660844" cy="379624"/>
            </a:xfrm>
            <a:prstGeom prst="roundRect">
              <a:avLst/>
            </a:prstGeom>
            <a:solidFill>
              <a:srgbClr val="D0CECF"/>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b="1" dirty="0">
                  <a:latin typeface="宋体" panose="02010600030101010101" pitchFamily="2" charset="-122"/>
                  <a:ea typeface="宋体" panose="02010600030101010101" pitchFamily="2" charset="-122"/>
                  <a:cs typeface="Times New Roman" panose="02020603050405020304" pitchFamily="18" charset="0"/>
                </a:rPr>
                <a:t>审批审查</a:t>
              </a:r>
            </a:p>
          </p:txBody>
        </p:sp>
        <p:sp>
          <p:nvSpPr>
            <p:cNvPr id="49" name="矩形: 圆角 48">
              <a:extLst>
                <a:ext uri="{FF2B5EF4-FFF2-40B4-BE49-F238E27FC236}">
                  <a16:creationId xmlns:a16="http://schemas.microsoft.com/office/drawing/2014/main" id="{585E050F-AFE6-69E7-76DE-580A25C6F9BA}"/>
                </a:ext>
              </a:extLst>
            </p:cNvPr>
            <p:cNvSpPr/>
            <p:nvPr/>
          </p:nvSpPr>
          <p:spPr>
            <a:xfrm>
              <a:off x="8693150" y="1615870"/>
              <a:ext cx="1364362" cy="379624"/>
            </a:xfrm>
            <a:prstGeom prst="roundRect">
              <a:avLst/>
            </a:prstGeom>
            <a:solidFill>
              <a:srgbClr val="D0CECF"/>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b="1" dirty="0">
                  <a:latin typeface="宋体" panose="02010600030101010101" pitchFamily="2" charset="-122"/>
                  <a:ea typeface="宋体" panose="02010600030101010101" pitchFamily="2" charset="-122"/>
                </a:rPr>
                <a:t>长期检测</a:t>
              </a:r>
            </a:p>
          </p:txBody>
        </p:sp>
        <p:sp>
          <p:nvSpPr>
            <p:cNvPr id="50" name="文本框 49">
              <a:extLst>
                <a:ext uri="{FF2B5EF4-FFF2-40B4-BE49-F238E27FC236}">
                  <a16:creationId xmlns:a16="http://schemas.microsoft.com/office/drawing/2014/main" id="{1C2003B9-9B3D-A4A7-F701-978AA86F73A4}"/>
                </a:ext>
              </a:extLst>
            </p:cNvPr>
            <p:cNvSpPr txBox="1"/>
            <p:nvPr/>
          </p:nvSpPr>
          <p:spPr>
            <a:xfrm>
              <a:off x="1925026" y="2535248"/>
              <a:ext cx="1155817"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药物发现</a:t>
              </a:r>
            </a:p>
          </p:txBody>
        </p:sp>
        <p:sp>
          <p:nvSpPr>
            <p:cNvPr id="51" name="文本框 50">
              <a:extLst>
                <a:ext uri="{FF2B5EF4-FFF2-40B4-BE49-F238E27FC236}">
                  <a16:creationId xmlns:a16="http://schemas.microsoft.com/office/drawing/2014/main" id="{28077EA0-1CE8-A541-059A-1FFBA6181CA9}"/>
                </a:ext>
              </a:extLst>
            </p:cNvPr>
            <p:cNvSpPr txBox="1"/>
            <p:nvPr/>
          </p:nvSpPr>
          <p:spPr>
            <a:xfrm>
              <a:off x="3889764" y="2527321"/>
              <a:ext cx="1429375"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临床前研究</a:t>
              </a:r>
            </a:p>
          </p:txBody>
        </p:sp>
        <p:sp>
          <p:nvSpPr>
            <p:cNvPr id="52" name="文本框 51">
              <a:extLst>
                <a:ext uri="{FF2B5EF4-FFF2-40B4-BE49-F238E27FC236}">
                  <a16:creationId xmlns:a16="http://schemas.microsoft.com/office/drawing/2014/main" id="{33743D26-79AC-8E21-A685-AC89A74A946E}"/>
                </a:ext>
              </a:extLst>
            </p:cNvPr>
            <p:cNvSpPr txBox="1"/>
            <p:nvPr/>
          </p:nvSpPr>
          <p:spPr>
            <a:xfrm>
              <a:off x="5619504" y="2527321"/>
              <a:ext cx="1253352"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临床研究</a:t>
              </a:r>
            </a:p>
          </p:txBody>
        </p:sp>
        <p:sp>
          <p:nvSpPr>
            <p:cNvPr id="53" name="文本框 52">
              <a:extLst>
                <a:ext uri="{FF2B5EF4-FFF2-40B4-BE49-F238E27FC236}">
                  <a16:creationId xmlns:a16="http://schemas.microsoft.com/office/drawing/2014/main" id="{C8ECED8C-8DC7-ED6D-A54A-700727968502}"/>
                </a:ext>
              </a:extLst>
            </p:cNvPr>
            <p:cNvSpPr txBox="1"/>
            <p:nvPr/>
          </p:nvSpPr>
          <p:spPr>
            <a:xfrm>
              <a:off x="7220337" y="2544813"/>
              <a:ext cx="1253352" cy="369332"/>
            </a:xfrm>
            <a:prstGeom prst="rect">
              <a:avLst/>
            </a:prstGeom>
            <a:noFill/>
          </p:spPr>
          <p:txBody>
            <a:bodyPr wrap="square" rtlCol="0">
              <a:spAutoFit/>
            </a:bodyPr>
            <a:lstStyle/>
            <a:p>
              <a:r>
                <a:rPr lang="zh-CN" altLang="en-US" b="1" dirty="0">
                  <a:solidFill>
                    <a:schemeClr val="bg1"/>
                  </a:solidFill>
                  <a:latin typeface="宋体" panose="02010600030101010101" pitchFamily="2" charset="-122"/>
                  <a:ea typeface="宋体" panose="02010600030101010101" pitchFamily="2" charset="-122"/>
                </a:rPr>
                <a:t>监管审批</a:t>
              </a:r>
            </a:p>
          </p:txBody>
        </p:sp>
        <p:sp>
          <p:nvSpPr>
            <p:cNvPr id="54" name="文本框 53">
              <a:extLst>
                <a:ext uri="{FF2B5EF4-FFF2-40B4-BE49-F238E27FC236}">
                  <a16:creationId xmlns:a16="http://schemas.microsoft.com/office/drawing/2014/main" id="{BEC09263-A2FF-E838-8A8D-5E2DE9FA5FD6}"/>
                </a:ext>
              </a:extLst>
            </p:cNvPr>
            <p:cNvSpPr txBox="1"/>
            <p:nvPr/>
          </p:nvSpPr>
          <p:spPr>
            <a:xfrm>
              <a:off x="8819902" y="2535248"/>
              <a:ext cx="1364523" cy="369332"/>
            </a:xfrm>
            <a:prstGeom prst="rect">
              <a:avLst/>
            </a:prstGeom>
            <a:noFill/>
          </p:spPr>
          <p:txBody>
            <a:bodyPr wrap="square" rtlCol="0">
              <a:spAutoFit/>
            </a:bodyPr>
            <a:lstStyle/>
            <a:p>
              <a:r>
                <a:rPr lang="zh-CN" altLang="en-US" b="1" dirty="0">
                  <a:solidFill>
                    <a:schemeClr val="bg1"/>
                  </a:solidFill>
                  <a:latin typeface="宋体" panose="02010600030101010101" pitchFamily="2" charset="-122"/>
                  <a:ea typeface="宋体" panose="02010600030101010101" pitchFamily="2" charset="-122"/>
                </a:rPr>
                <a:t>上市后检测</a:t>
              </a:r>
            </a:p>
          </p:txBody>
        </p:sp>
      </p:grpSp>
      <p:sp>
        <p:nvSpPr>
          <p:cNvPr id="62" name="文本框 61">
            <a:extLst>
              <a:ext uri="{FF2B5EF4-FFF2-40B4-BE49-F238E27FC236}">
                <a16:creationId xmlns:a16="http://schemas.microsoft.com/office/drawing/2014/main" id="{7154F781-D2B8-B59E-E726-835CC4C62685}"/>
              </a:ext>
            </a:extLst>
          </p:cNvPr>
          <p:cNvSpPr txBox="1"/>
          <p:nvPr/>
        </p:nvSpPr>
        <p:spPr>
          <a:xfrm>
            <a:off x="1046333" y="5842172"/>
            <a:ext cx="9648795" cy="369332"/>
          </a:xfrm>
          <a:prstGeom prst="rect">
            <a:avLst/>
          </a:prstGeom>
          <a:noFill/>
        </p:spPr>
        <p:txBody>
          <a:bodyPr wrap="none" rtlCol="0">
            <a:spAutoFit/>
          </a:bodyPr>
          <a:lstStyle/>
          <a:p>
            <a:r>
              <a:rPr lang="zh-CN" altLang="en-US" b="1" dirty="0">
                <a:solidFill>
                  <a:srgbClr val="1F4E78"/>
                </a:solidFill>
                <a:latin typeface="微软雅黑" panose="020B0503020204020204" pitchFamily="34" charset="-122"/>
                <a:ea typeface="微软雅黑" panose="020B0503020204020204" pitchFamily="34" charset="-122"/>
              </a:rPr>
              <a:t>因此，在实验验证前对候选分子进行快速性质预测，是降低研发成本和失败风险的重要手段。</a:t>
            </a:r>
          </a:p>
        </p:txBody>
      </p:sp>
      <p:sp>
        <p:nvSpPr>
          <p:cNvPr id="63" name="矩形: 圆角 62">
            <a:extLst>
              <a:ext uri="{FF2B5EF4-FFF2-40B4-BE49-F238E27FC236}">
                <a16:creationId xmlns:a16="http://schemas.microsoft.com/office/drawing/2014/main" id="{D7EEF7CA-4A70-D3B5-C149-AFE89832840D}"/>
              </a:ext>
            </a:extLst>
          </p:cNvPr>
          <p:cNvSpPr/>
          <p:nvPr/>
        </p:nvSpPr>
        <p:spPr>
          <a:xfrm>
            <a:off x="3437470" y="1998544"/>
            <a:ext cx="1517082" cy="379624"/>
          </a:xfrm>
          <a:prstGeom prst="roundRect">
            <a:avLst/>
          </a:prstGeom>
          <a:solidFill>
            <a:srgbClr val="D0CECF"/>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b="1" dirty="0">
                <a:latin typeface="宋体" panose="02010600030101010101" pitchFamily="2" charset="-122"/>
                <a:ea typeface="宋体" panose="02010600030101010101" pitchFamily="2" charset="-122"/>
              </a:rPr>
              <a:t>安全性评估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57884" y="352552"/>
            <a:ext cx="5669280" cy="309315"/>
          </a:xfrm>
          <a:prstGeom prst="rect">
            <a:avLst/>
          </a:prstGeom>
          <a:noFill/>
        </p:spPr>
        <p:txBody>
          <a:bodyPr wrap="square" lIns="0" tIns="0" rIns="0" bIns="0" anchor="t">
            <a:spAutoFit/>
          </a:bodyPr>
          <a:lstStyle/>
          <a:p>
            <a:pPr algn="l">
              <a:lnSpc>
                <a:spcPct val="105000"/>
              </a:lnSpc>
            </a:pPr>
            <a:r>
              <a:rPr sz="2000" b="1" dirty="0" err="1">
                <a:solidFill>
                  <a:srgbClr val="004E98"/>
                </a:solidFill>
                <a:latin typeface="微软雅黑" panose="020B0503020204020204" pitchFamily="34" charset="-122"/>
                <a:ea typeface="微软雅黑" panose="020B0503020204020204" pitchFamily="34" charset="-122"/>
              </a:rPr>
              <a:t>研究</a:t>
            </a:r>
            <a:r>
              <a:rPr lang="zh-CN" altLang="en-US" sz="2000" b="1" dirty="0">
                <a:solidFill>
                  <a:srgbClr val="004E98"/>
                </a:solidFill>
                <a:latin typeface="微软雅黑" panose="020B0503020204020204" pitchFamily="34" charset="-122"/>
                <a:ea typeface="微软雅黑" panose="020B0503020204020204" pitchFamily="34" charset="-122"/>
              </a:rPr>
              <a:t>背景</a:t>
            </a:r>
            <a:r>
              <a:rPr sz="2000" b="1" dirty="0">
                <a:solidFill>
                  <a:srgbClr val="004E98"/>
                </a:solidFill>
                <a:latin typeface="微软雅黑" panose="020B0503020204020204" pitchFamily="34" charset="-122"/>
                <a:ea typeface="微软雅黑" panose="020B0503020204020204" pitchFamily="34" charset="-122"/>
              </a:rPr>
              <a:t>：</a:t>
            </a:r>
            <a:r>
              <a:rPr lang="zh-CN" altLang="en-US" sz="2000" b="1" dirty="0">
                <a:solidFill>
                  <a:srgbClr val="004E98"/>
                </a:solidFill>
                <a:latin typeface="微软雅黑" panose="020B0503020204020204" pitchFamily="34" charset="-122"/>
                <a:ea typeface="微软雅黑" panose="020B0503020204020204" pitchFamily="34" charset="-122"/>
              </a:rPr>
              <a:t>分子性质预测任务</a:t>
            </a:r>
            <a:endParaRPr sz="2000" b="1" dirty="0">
              <a:solidFill>
                <a:srgbClr val="004E98"/>
              </a:solidFill>
              <a:latin typeface="微软雅黑" panose="020B0503020204020204" pitchFamily="34" charset="-122"/>
              <a:ea typeface="微软雅黑" panose="020B0503020204020204" pitchFamily="34" charset="-122"/>
            </a:endParaRPr>
          </a:p>
        </p:txBody>
      </p:sp>
      <p:pic>
        <p:nvPicPr>
          <p:cNvPr id="7" name="Picture 6" descr="logo.png"/>
          <p:cNvPicPr>
            <a:picLocks noChangeAspect="1"/>
          </p:cNvPicPr>
          <p:nvPr/>
        </p:nvPicPr>
        <p:blipFill>
          <a:blip r:embed="rId3"/>
          <a:stretch>
            <a:fillRect/>
          </a:stretch>
        </p:blipFill>
        <p:spPr>
          <a:xfrm>
            <a:off x="11301984" y="310896"/>
            <a:ext cx="402336" cy="457200"/>
          </a:xfrm>
          <a:prstGeom prst="rect">
            <a:avLst/>
          </a:prstGeom>
        </p:spPr>
      </p:pic>
      <p:sp>
        <p:nvSpPr>
          <p:cNvPr id="8" name="Rectangle 7"/>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sp>
        <p:nvSpPr>
          <p:cNvPr id="11" name="Rounded Rectangle 10"/>
          <p:cNvSpPr/>
          <p:nvPr/>
        </p:nvSpPr>
        <p:spPr>
          <a:xfrm>
            <a:off x="824101" y="2022037"/>
            <a:ext cx="2471165" cy="1207008"/>
          </a:xfrm>
          <a:prstGeom prst="round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3828" y="2131765"/>
            <a:ext cx="292608" cy="182880"/>
          </a:xfrm>
          <a:prstGeom prst="rect">
            <a:avLst/>
          </a:prstGeom>
          <a:noFill/>
        </p:spPr>
        <p:txBody>
          <a:bodyPr wrap="square" lIns="0" tIns="0" rIns="0" bIns="0" anchor="t">
            <a:spAutoFit/>
          </a:bodyPr>
          <a:lstStyle/>
          <a:p>
            <a:pPr algn="ctr">
              <a:lnSpc>
                <a:spcPct val="105000"/>
              </a:lnSpc>
            </a:pPr>
            <a:r>
              <a:rPr sz="1100" b="1">
                <a:solidFill>
                  <a:srgbClr val="FFFFFF"/>
                </a:solidFill>
                <a:latin typeface="微软雅黑 Light"/>
              </a:rPr>
              <a:t>1</a:t>
            </a:r>
          </a:p>
        </p:txBody>
      </p:sp>
      <p:sp>
        <p:nvSpPr>
          <p:cNvPr id="13" name="TextBox 12"/>
          <p:cNvSpPr txBox="1"/>
          <p:nvPr/>
        </p:nvSpPr>
        <p:spPr>
          <a:xfrm>
            <a:off x="988692" y="2460949"/>
            <a:ext cx="2141982" cy="274320"/>
          </a:xfrm>
          <a:prstGeom prst="rect">
            <a:avLst/>
          </a:prstGeom>
          <a:noFill/>
        </p:spPr>
        <p:txBody>
          <a:bodyPr wrap="square" lIns="0" tIns="0" rIns="0" bIns="0" anchor="t">
            <a:spAutoFit/>
          </a:bodyPr>
          <a:lstStyle/>
          <a:p>
            <a:pPr algn="ctr">
              <a:lnSpc>
                <a:spcPct val="105000"/>
              </a:lnSpc>
            </a:pPr>
            <a:r>
              <a:rPr b="1" dirty="0" err="1">
                <a:solidFill>
                  <a:srgbClr val="FFFFFF"/>
                </a:solidFill>
                <a:latin typeface="微软雅黑 Light"/>
              </a:rPr>
              <a:t>候选分子</a:t>
            </a:r>
            <a:endParaRPr b="1" dirty="0">
              <a:solidFill>
                <a:srgbClr val="FFFFFF"/>
              </a:solidFill>
              <a:latin typeface="微软雅黑 Light"/>
            </a:endParaRPr>
          </a:p>
        </p:txBody>
      </p:sp>
      <p:sp>
        <p:nvSpPr>
          <p:cNvPr id="14" name="TextBox 13"/>
          <p:cNvSpPr txBox="1"/>
          <p:nvPr/>
        </p:nvSpPr>
        <p:spPr>
          <a:xfrm>
            <a:off x="988692" y="2808421"/>
            <a:ext cx="2141982" cy="347472"/>
          </a:xfrm>
          <a:prstGeom prst="rect">
            <a:avLst/>
          </a:prstGeom>
          <a:noFill/>
        </p:spPr>
        <p:txBody>
          <a:bodyPr wrap="square" lIns="0" tIns="0" rIns="0" bIns="0" anchor="t">
            <a:spAutoFit/>
          </a:bodyPr>
          <a:lstStyle/>
          <a:p>
            <a:pPr algn="ctr">
              <a:lnSpc>
                <a:spcPct val="105000"/>
              </a:lnSpc>
            </a:pPr>
            <a:r>
              <a:rPr sz="880" b="0">
                <a:solidFill>
                  <a:srgbClr val="EAF3FA"/>
                </a:solidFill>
                <a:latin typeface="微软雅黑 Light"/>
              </a:rPr>
              <a:t>海量化合物库</a:t>
            </a:r>
          </a:p>
        </p:txBody>
      </p:sp>
      <p:sp>
        <p:nvSpPr>
          <p:cNvPr id="15" name="Rounded Rectangle 14"/>
          <p:cNvSpPr/>
          <p:nvPr/>
        </p:nvSpPr>
        <p:spPr>
          <a:xfrm>
            <a:off x="3459858" y="2022037"/>
            <a:ext cx="2471165" cy="1207008"/>
          </a:xfrm>
          <a:prstGeom prst="round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69586" y="2131765"/>
            <a:ext cx="292608" cy="182880"/>
          </a:xfrm>
          <a:prstGeom prst="rect">
            <a:avLst/>
          </a:prstGeom>
          <a:noFill/>
        </p:spPr>
        <p:txBody>
          <a:bodyPr wrap="square" lIns="0" tIns="0" rIns="0" bIns="0" anchor="t">
            <a:spAutoFit/>
          </a:bodyPr>
          <a:lstStyle/>
          <a:p>
            <a:pPr algn="ctr">
              <a:lnSpc>
                <a:spcPct val="105000"/>
              </a:lnSpc>
            </a:pPr>
            <a:r>
              <a:rPr sz="1100" b="1">
                <a:solidFill>
                  <a:srgbClr val="FFFFFF"/>
                </a:solidFill>
                <a:latin typeface="微软雅黑 Light"/>
              </a:rPr>
              <a:t>2</a:t>
            </a:r>
          </a:p>
        </p:txBody>
      </p:sp>
      <p:sp>
        <p:nvSpPr>
          <p:cNvPr id="17" name="TextBox 16"/>
          <p:cNvSpPr txBox="1"/>
          <p:nvPr/>
        </p:nvSpPr>
        <p:spPr>
          <a:xfrm>
            <a:off x="3624450" y="2460949"/>
            <a:ext cx="2141982" cy="278731"/>
          </a:xfrm>
          <a:prstGeom prst="rect">
            <a:avLst/>
          </a:prstGeom>
          <a:noFill/>
        </p:spPr>
        <p:txBody>
          <a:bodyPr wrap="square" lIns="0" tIns="0" rIns="0" bIns="0" anchor="t">
            <a:spAutoFit/>
          </a:bodyPr>
          <a:lstStyle/>
          <a:p>
            <a:pPr algn="ctr">
              <a:lnSpc>
                <a:spcPct val="105000"/>
              </a:lnSpc>
            </a:pPr>
            <a:r>
              <a:rPr lang="zh-CN" altLang="en-US" b="1" dirty="0">
                <a:solidFill>
                  <a:srgbClr val="FFFFFF"/>
                </a:solidFill>
                <a:latin typeface="微软雅黑 Light"/>
              </a:rPr>
              <a:t>分子</a:t>
            </a:r>
            <a:r>
              <a:rPr b="1" dirty="0" err="1">
                <a:solidFill>
                  <a:srgbClr val="FFFFFF"/>
                </a:solidFill>
                <a:latin typeface="微软雅黑 Light"/>
              </a:rPr>
              <a:t>表征</a:t>
            </a:r>
            <a:endParaRPr b="1" dirty="0">
              <a:solidFill>
                <a:srgbClr val="FFFFFF"/>
              </a:solidFill>
              <a:latin typeface="微软雅黑 Light"/>
            </a:endParaRPr>
          </a:p>
        </p:txBody>
      </p:sp>
      <p:sp>
        <p:nvSpPr>
          <p:cNvPr id="18" name="TextBox 17"/>
          <p:cNvSpPr txBox="1"/>
          <p:nvPr/>
        </p:nvSpPr>
        <p:spPr>
          <a:xfrm>
            <a:off x="3624450" y="2808421"/>
            <a:ext cx="2141982" cy="347472"/>
          </a:xfrm>
          <a:prstGeom prst="rect">
            <a:avLst/>
          </a:prstGeom>
          <a:noFill/>
        </p:spPr>
        <p:txBody>
          <a:bodyPr wrap="square" lIns="0" tIns="0" rIns="0" bIns="0" anchor="t">
            <a:spAutoFit/>
          </a:bodyPr>
          <a:lstStyle/>
          <a:p>
            <a:pPr algn="ctr">
              <a:lnSpc>
                <a:spcPct val="105000"/>
              </a:lnSpc>
            </a:pPr>
            <a:r>
              <a:rPr sz="880" b="0">
                <a:solidFill>
                  <a:srgbClr val="EAF3FA"/>
                </a:solidFill>
                <a:latin typeface="微软雅黑 Light"/>
              </a:rPr>
              <a:t>结构、序列、指纹、文本</a:t>
            </a:r>
          </a:p>
        </p:txBody>
      </p:sp>
      <p:sp>
        <p:nvSpPr>
          <p:cNvPr id="19" name="Rounded Rectangle 18"/>
          <p:cNvSpPr/>
          <p:nvPr/>
        </p:nvSpPr>
        <p:spPr>
          <a:xfrm>
            <a:off x="6095617" y="2022037"/>
            <a:ext cx="2471165" cy="1207008"/>
          </a:xfrm>
          <a:prstGeom prst="round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05345" y="2131765"/>
            <a:ext cx="292608" cy="182880"/>
          </a:xfrm>
          <a:prstGeom prst="rect">
            <a:avLst/>
          </a:prstGeom>
          <a:noFill/>
        </p:spPr>
        <p:txBody>
          <a:bodyPr wrap="square" lIns="0" tIns="0" rIns="0" bIns="0" anchor="t">
            <a:spAutoFit/>
          </a:bodyPr>
          <a:lstStyle/>
          <a:p>
            <a:pPr algn="ctr">
              <a:lnSpc>
                <a:spcPct val="105000"/>
              </a:lnSpc>
            </a:pPr>
            <a:r>
              <a:rPr sz="1100" b="1">
                <a:solidFill>
                  <a:srgbClr val="FFFFFF"/>
                </a:solidFill>
                <a:latin typeface="微软雅黑 Light"/>
              </a:rPr>
              <a:t>3</a:t>
            </a:r>
          </a:p>
        </p:txBody>
      </p:sp>
      <p:sp>
        <p:nvSpPr>
          <p:cNvPr id="21" name="TextBox 20"/>
          <p:cNvSpPr txBox="1"/>
          <p:nvPr/>
        </p:nvSpPr>
        <p:spPr>
          <a:xfrm>
            <a:off x="6260209" y="2460949"/>
            <a:ext cx="2141982" cy="274320"/>
          </a:xfrm>
          <a:prstGeom prst="rect">
            <a:avLst/>
          </a:prstGeom>
          <a:noFill/>
        </p:spPr>
        <p:txBody>
          <a:bodyPr wrap="square" lIns="0" tIns="0" rIns="0" bIns="0" anchor="t">
            <a:spAutoFit/>
          </a:bodyPr>
          <a:lstStyle/>
          <a:p>
            <a:pPr algn="ctr">
              <a:lnSpc>
                <a:spcPct val="105000"/>
              </a:lnSpc>
            </a:pPr>
            <a:r>
              <a:rPr b="1" dirty="0" err="1">
                <a:solidFill>
                  <a:srgbClr val="FFFFFF"/>
                </a:solidFill>
                <a:latin typeface="微软雅黑 Light"/>
              </a:rPr>
              <a:t>性质预测</a:t>
            </a:r>
            <a:endParaRPr b="1" dirty="0">
              <a:solidFill>
                <a:srgbClr val="FFFFFF"/>
              </a:solidFill>
              <a:latin typeface="微软雅黑 Light"/>
            </a:endParaRPr>
          </a:p>
        </p:txBody>
      </p:sp>
      <p:sp>
        <p:nvSpPr>
          <p:cNvPr id="22" name="TextBox 21"/>
          <p:cNvSpPr txBox="1"/>
          <p:nvPr/>
        </p:nvSpPr>
        <p:spPr>
          <a:xfrm>
            <a:off x="6260209" y="2808421"/>
            <a:ext cx="2141982" cy="347472"/>
          </a:xfrm>
          <a:prstGeom prst="rect">
            <a:avLst/>
          </a:prstGeom>
          <a:noFill/>
        </p:spPr>
        <p:txBody>
          <a:bodyPr wrap="square" lIns="0" tIns="0" rIns="0" bIns="0" anchor="t">
            <a:spAutoFit/>
          </a:bodyPr>
          <a:lstStyle/>
          <a:p>
            <a:pPr algn="ctr">
              <a:lnSpc>
                <a:spcPct val="105000"/>
              </a:lnSpc>
            </a:pPr>
            <a:r>
              <a:rPr sz="880" b="0">
                <a:solidFill>
                  <a:srgbClr val="EAF3FA"/>
                </a:solidFill>
                <a:latin typeface="微软雅黑 Light"/>
              </a:rPr>
              <a:t>分类与回归任务</a:t>
            </a:r>
          </a:p>
        </p:txBody>
      </p:sp>
      <p:sp>
        <p:nvSpPr>
          <p:cNvPr id="23" name="Rounded Rectangle 22"/>
          <p:cNvSpPr/>
          <p:nvPr/>
        </p:nvSpPr>
        <p:spPr>
          <a:xfrm>
            <a:off x="8731374" y="2022037"/>
            <a:ext cx="2471165" cy="1207008"/>
          </a:xfrm>
          <a:prstGeom prst="roundRect">
            <a:avLst/>
          </a:prstGeom>
          <a:solidFill>
            <a:srgbClr val="163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41102" y="2131765"/>
            <a:ext cx="292608" cy="182880"/>
          </a:xfrm>
          <a:prstGeom prst="rect">
            <a:avLst/>
          </a:prstGeom>
          <a:noFill/>
        </p:spPr>
        <p:txBody>
          <a:bodyPr wrap="square" lIns="0" tIns="0" rIns="0" bIns="0" anchor="t">
            <a:spAutoFit/>
          </a:bodyPr>
          <a:lstStyle/>
          <a:p>
            <a:pPr algn="ctr">
              <a:lnSpc>
                <a:spcPct val="105000"/>
              </a:lnSpc>
            </a:pPr>
            <a:r>
              <a:rPr sz="1100" b="1">
                <a:solidFill>
                  <a:srgbClr val="FFFFFF"/>
                </a:solidFill>
                <a:latin typeface="微软雅黑 Light"/>
              </a:rPr>
              <a:t>4</a:t>
            </a:r>
          </a:p>
        </p:txBody>
      </p:sp>
      <p:sp>
        <p:nvSpPr>
          <p:cNvPr id="25" name="TextBox 24"/>
          <p:cNvSpPr txBox="1"/>
          <p:nvPr/>
        </p:nvSpPr>
        <p:spPr>
          <a:xfrm>
            <a:off x="8895966" y="2460949"/>
            <a:ext cx="2141982" cy="274320"/>
          </a:xfrm>
          <a:prstGeom prst="rect">
            <a:avLst/>
          </a:prstGeom>
          <a:noFill/>
        </p:spPr>
        <p:txBody>
          <a:bodyPr wrap="square" lIns="0" tIns="0" rIns="0" bIns="0" anchor="t">
            <a:spAutoFit/>
          </a:bodyPr>
          <a:lstStyle/>
          <a:p>
            <a:pPr algn="ctr">
              <a:lnSpc>
                <a:spcPct val="105000"/>
              </a:lnSpc>
            </a:pPr>
            <a:r>
              <a:rPr b="1" dirty="0" err="1">
                <a:solidFill>
                  <a:srgbClr val="FFFFFF"/>
                </a:solidFill>
                <a:latin typeface="微软雅黑 Light"/>
              </a:rPr>
              <a:t>早期决策</a:t>
            </a:r>
            <a:endParaRPr b="1" dirty="0">
              <a:solidFill>
                <a:srgbClr val="FFFFFF"/>
              </a:solidFill>
              <a:latin typeface="微软雅黑 Light"/>
            </a:endParaRPr>
          </a:p>
        </p:txBody>
      </p:sp>
      <p:sp>
        <p:nvSpPr>
          <p:cNvPr id="26" name="TextBox 25"/>
          <p:cNvSpPr txBox="1"/>
          <p:nvPr/>
        </p:nvSpPr>
        <p:spPr>
          <a:xfrm>
            <a:off x="8895966" y="2808421"/>
            <a:ext cx="2141982" cy="347472"/>
          </a:xfrm>
          <a:prstGeom prst="rect">
            <a:avLst/>
          </a:prstGeom>
          <a:noFill/>
        </p:spPr>
        <p:txBody>
          <a:bodyPr wrap="square" lIns="0" tIns="0" rIns="0" bIns="0" anchor="t">
            <a:spAutoFit/>
          </a:bodyPr>
          <a:lstStyle/>
          <a:p>
            <a:pPr algn="ctr">
              <a:lnSpc>
                <a:spcPct val="105000"/>
              </a:lnSpc>
            </a:pPr>
            <a:r>
              <a:rPr sz="880" b="0">
                <a:solidFill>
                  <a:srgbClr val="EAF3FA"/>
                </a:solidFill>
                <a:latin typeface="微软雅黑 Light"/>
              </a:rPr>
              <a:t>风险筛除与优先级排序</a:t>
            </a:r>
          </a:p>
        </p:txBody>
      </p:sp>
      <p:sp>
        <p:nvSpPr>
          <p:cNvPr id="27" name="Rounded Rectangle 26"/>
          <p:cNvSpPr/>
          <p:nvPr/>
        </p:nvSpPr>
        <p:spPr>
          <a:xfrm>
            <a:off x="824101" y="3746062"/>
            <a:ext cx="3182112" cy="111556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24101" y="3746062"/>
            <a:ext cx="91440" cy="111556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025269" y="3947230"/>
            <a:ext cx="420624" cy="420624"/>
          </a:xfrm>
          <a:prstGeom prst="ellipse">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1</a:t>
            </a:r>
            <a:endParaRPr dirty="0"/>
          </a:p>
        </p:txBody>
      </p:sp>
      <p:sp>
        <p:nvSpPr>
          <p:cNvPr id="31" name="TextBox 30"/>
          <p:cNvSpPr txBox="1"/>
          <p:nvPr/>
        </p:nvSpPr>
        <p:spPr>
          <a:xfrm>
            <a:off x="1555621" y="4010663"/>
            <a:ext cx="2176272" cy="224292"/>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Microsoft YaHei"/>
              </a:rPr>
              <a:t>预测对象</a:t>
            </a:r>
            <a:endParaRPr sz="1450" b="1" dirty="0">
              <a:solidFill>
                <a:srgbClr val="16324F"/>
              </a:solidFill>
              <a:latin typeface="Microsoft YaHei"/>
            </a:endParaRPr>
          </a:p>
        </p:txBody>
      </p:sp>
      <p:sp>
        <p:nvSpPr>
          <p:cNvPr id="32" name="TextBox 31"/>
          <p:cNvSpPr txBox="1"/>
          <p:nvPr/>
        </p:nvSpPr>
        <p:spPr>
          <a:xfrm>
            <a:off x="1445893" y="4290625"/>
            <a:ext cx="2633472" cy="515334"/>
          </a:xfrm>
          <a:prstGeom prst="rect">
            <a:avLst/>
          </a:prstGeom>
          <a:noFill/>
        </p:spPr>
        <p:txBody>
          <a:bodyPr wrap="square" lIns="0" tIns="0" rIns="0" bIns="0" anchor="t">
            <a:spAutoFit/>
          </a:bodyPr>
          <a:lstStyle/>
          <a:p>
            <a:pPr>
              <a:lnSpc>
                <a:spcPct val="108000"/>
              </a:lnSpc>
            </a:pPr>
            <a:r>
              <a:rPr lang="en-US" altLang="zh-CN" sz="1050" dirty="0">
                <a:latin typeface="微软雅黑 Light" panose="020B0502040204020203" pitchFamily="34" charset="-122"/>
                <a:ea typeface="微软雅黑 Light" panose="020B0502040204020203" pitchFamily="34" charset="-122"/>
              </a:rPr>
              <a:t>ADMET</a:t>
            </a:r>
            <a:r>
              <a:rPr lang="zh-CN" altLang="en-US" sz="1050" dirty="0">
                <a:latin typeface="微软雅黑 Light" panose="020B0502040204020203" pitchFamily="34" charset="-122"/>
                <a:ea typeface="微软雅黑 Light" panose="020B0502040204020203" pitchFamily="34" charset="-122"/>
              </a:rPr>
              <a:t>、毒性、理化性质等关键分子性质。例如吸收、分布、代谢、排泄、毒性、溶解度、亲脂性等。</a:t>
            </a:r>
            <a:endParaRPr sz="1050" b="0" dirty="0">
              <a:solidFill>
                <a:srgbClr val="5B6773"/>
              </a:solidFill>
              <a:latin typeface="微软雅黑 Light" panose="020B0502040204020203" pitchFamily="34" charset="-122"/>
              <a:ea typeface="微软雅黑 Light" panose="020B0502040204020203" pitchFamily="34" charset="-122"/>
            </a:endParaRPr>
          </a:p>
        </p:txBody>
      </p:sp>
      <p:sp>
        <p:nvSpPr>
          <p:cNvPr id="33" name="Rounded Rectangle 32"/>
          <p:cNvSpPr/>
          <p:nvPr/>
        </p:nvSpPr>
        <p:spPr>
          <a:xfrm>
            <a:off x="4435981" y="3746062"/>
            <a:ext cx="3182112" cy="111556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435981" y="3746062"/>
            <a:ext cx="91440" cy="1115568"/>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637149" y="3947230"/>
            <a:ext cx="420624" cy="420624"/>
          </a:xfrm>
          <a:prstGeom prst="ellipse">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2</a:t>
            </a:r>
            <a:endParaRPr dirty="0"/>
          </a:p>
        </p:txBody>
      </p:sp>
      <p:sp>
        <p:nvSpPr>
          <p:cNvPr id="37" name="TextBox 36"/>
          <p:cNvSpPr txBox="1"/>
          <p:nvPr/>
        </p:nvSpPr>
        <p:spPr>
          <a:xfrm>
            <a:off x="5204077" y="4033593"/>
            <a:ext cx="2176272" cy="224292"/>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Microsoft YaHei"/>
              </a:rPr>
              <a:t>任务类型</a:t>
            </a:r>
            <a:endParaRPr sz="1450" b="1" dirty="0">
              <a:solidFill>
                <a:srgbClr val="16324F"/>
              </a:solidFill>
              <a:latin typeface="Microsoft YaHei"/>
            </a:endParaRPr>
          </a:p>
        </p:txBody>
      </p:sp>
      <p:sp>
        <p:nvSpPr>
          <p:cNvPr id="38" name="TextBox 37"/>
          <p:cNvSpPr txBox="1"/>
          <p:nvPr/>
        </p:nvSpPr>
        <p:spPr>
          <a:xfrm>
            <a:off x="5046722" y="4352765"/>
            <a:ext cx="2633472" cy="340799"/>
          </a:xfrm>
          <a:prstGeom prst="rect">
            <a:avLst/>
          </a:prstGeom>
          <a:noFill/>
        </p:spPr>
        <p:txBody>
          <a:bodyPr wrap="square" lIns="0" tIns="0" rIns="0" bIns="0" anchor="t">
            <a:spAutoFit/>
          </a:bodyPr>
          <a:lstStyle/>
          <a:p>
            <a:pPr>
              <a:lnSpc>
                <a:spcPct val="108000"/>
              </a:lnSpc>
            </a:pPr>
            <a:r>
              <a:rPr lang="zh-CN" altLang="en-US" sz="1050" dirty="0">
                <a:latin typeface="微软雅黑 Light" panose="020B0502040204020203" pitchFamily="34" charset="-122"/>
                <a:ea typeface="微软雅黑 Light" panose="020B0502040204020203" pitchFamily="34" charset="-122"/>
              </a:rPr>
              <a:t>包括分类任务与回归任务。分类任务输出性质标签，回归任务输出连续数值。</a:t>
            </a:r>
            <a:endParaRPr sz="1050" b="0" dirty="0">
              <a:solidFill>
                <a:srgbClr val="5B6773"/>
              </a:solidFill>
              <a:latin typeface="微软雅黑 Light" panose="020B0502040204020203" pitchFamily="34" charset="-122"/>
              <a:ea typeface="微软雅黑 Light" panose="020B0502040204020203" pitchFamily="34" charset="-122"/>
            </a:endParaRPr>
          </a:p>
        </p:txBody>
      </p:sp>
      <p:sp>
        <p:nvSpPr>
          <p:cNvPr id="39" name="Rounded Rectangle 38"/>
          <p:cNvSpPr/>
          <p:nvPr/>
        </p:nvSpPr>
        <p:spPr>
          <a:xfrm>
            <a:off x="8047861" y="3746062"/>
            <a:ext cx="3182112" cy="111556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047861" y="3746062"/>
            <a:ext cx="91440" cy="1115568"/>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8249029" y="3947230"/>
            <a:ext cx="420624" cy="420624"/>
          </a:xfrm>
          <a:prstGeom prst="ellipse">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3</a:t>
            </a:r>
            <a:endParaRPr dirty="0"/>
          </a:p>
        </p:txBody>
      </p:sp>
      <p:sp>
        <p:nvSpPr>
          <p:cNvPr id="43" name="TextBox 42"/>
          <p:cNvSpPr txBox="1"/>
          <p:nvPr/>
        </p:nvSpPr>
        <p:spPr>
          <a:xfrm>
            <a:off x="8815957" y="4014325"/>
            <a:ext cx="2176272" cy="247440"/>
          </a:xfrm>
          <a:prstGeom prst="rect">
            <a:avLst/>
          </a:prstGeom>
          <a:noFill/>
        </p:spPr>
        <p:txBody>
          <a:bodyPr wrap="square" lIns="0" tIns="0" rIns="0" bIns="0" anchor="t">
            <a:spAutoFit/>
          </a:bodyPr>
          <a:lstStyle/>
          <a:p>
            <a:pPr>
              <a:lnSpc>
                <a:spcPct val="105000"/>
              </a:lnSpc>
            </a:pPr>
            <a:r>
              <a:rPr lang="zh-CN" altLang="en-US" sz="1600" b="1" dirty="0">
                <a:solidFill>
                  <a:srgbClr val="16324F"/>
                </a:solidFill>
              </a:rPr>
              <a:t>筛选应用</a:t>
            </a:r>
            <a:endParaRPr sz="1450" b="1" dirty="0">
              <a:solidFill>
                <a:srgbClr val="16324F"/>
              </a:solidFill>
              <a:latin typeface="Microsoft YaHei"/>
            </a:endParaRPr>
          </a:p>
        </p:txBody>
      </p:sp>
      <p:sp>
        <p:nvSpPr>
          <p:cNvPr id="44" name="TextBox 43"/>
          <p:cNvSpPr txBox="1"/>
          <p:nvPr/>
        </p:nvSpPr>
        <p:spPr>
          <a:xfrm>
            <a:off x="8650220" y="4382028"/>
            <a:ext cx="2633472" cy="166264"/>
          </a:xfrm>
          <a:prstGeom prst="rect">
            <a:avLst/>
          </a:prstGeom>
          <a:noFill/>
        </p:spPr>
        <p:txBody>
          <a:bodyPr wrap="square" lIns="0" tIns="0" rIns="0" bIns="0" anchor="t">
            <a:spAutoFit/>
          </a:bodyPr>
          <a:lstStyle/>
          <a:p>
            <a:pPr>
              <a:lnSpc>
                <a:spcPct val="108000"/>
              </a:lnSpc>
            </a:pPr>
            <a:r>
              <a:rPr lang="zh-CN" altLang="en-US" sz="1050" dirty="0"/>
              <a:t>在实验验证前辅助判断候选分子的开发价值</a:t>
            </a:r>
            <a:endParaRPr sz="1050" dirty="0">
              <a:solidFill>
                <a:srgbClr val="5B6773"/>
              </a:solidFill>
              <a:latin typeface="微软雅黑 Light"/>
            </a:endParaRPr>
          </a:p>
        </p:txBody>
      </p:sp>
      <p:sp>
        <p:nvSpPr>
          <p:cNvPr id="45" name="TextBox 44"/>
          <p:cNvSpPr txBox="1"/>
          <p:nvPr/>
        </p:nvSpPr>
        <p:spPr>
          <a:xfrm>
            <a:off x="814956" y="1137666"/>
            <a:ext cx="10222992" cy="569195"/>
          </a:xfrm>
          <a:prstGeom prst="rect">
            <a:avLst/>
          </a:prstGeom>
          <a:noFill/>
        </p:spPr>
        <p:txBody>
          <a:bodyPr wrap="square" lIns="0" tIns="0" rIns="0" bIns="0" anchor="t">
            <a:spAutoFit/>
          </a:bodyPr>
          <a:lstStyle/>
          <a:p>
            <a:pPr>
              <a:lnSpc>
                <a:spcPct val="105000"/>
              </a:lnSpc>
            </a:pPr>
            <a:r>
              <a:rPr lang="zh-CN" altLang="en-US" b="1" dirty="0">
                <a:solidFill>
                  <a:srgbClr val="1F4E78"/>
                </a:solidFill>
                <a:latin typeface="微软雅黑" panose="020B0503020204020204" pitchFamily="34" charset="-122"/>
                <a:ea typeface="微软雅黑" panose="020B0503020204020204" pitchFamily="34" charset="-122"/>
              </a:rPr>
              <a:t>分子性质预测旨在学习分子结构与理化属性、生化性质之间的映射关系，并输出分类标签或连续数值，为候选分子的早期筛选提供依据</a:t>
            </a:r>
            <a:endParaRPr sz="1650" b="1" dirty="0">
              <a:solidFill>
                <a:srgbClr val="1F4E78"/>
              </a:solidFill>
              <a:latin typeface="微软雅黑" panose="020B0503020204020204" pitchFamily="34" charset="-122"/>
              <a:ea typeface="微软雅黑" panose="020B0503020204020204" pitchFamily="34" charset="-122"/>
            </a:endParaRPr>
          </a:p>
        </p:txBody>
      </p:sp>
      <p:sp>
        <p:nvSpPr>
          <p:cNvPr id="47" name="TextBox 44">
            <a:extLst>
              <a:ext uri="{FF2B5EF4-FFF2-40B4-BE49-F238E27FC236}">
                <a16:creationId xmlns:a16="http://schemas.microsoft.com/office/drawing/2014/main" id="{F8713FB3-227A-E45A-FC0F-A8764CC299D5}"/>
              </a:ext>
            </a:extLst>
          </p:cNvPr>
          <p:cNvSpPr txBox="1"/>
          <p:nvPr/>
        </p:nvSpPr>
        <p:spPr>
          <a:xfrm>
            <a:off x="569595" y="5513051"/>
            <a:ext cx="10222992" cy="278346"/>
          </a:xfrm>
          <a:prstGeom prst="rect">
            <a:avLst/>
          </a:prstGeom>
          <a:noFill/>
        </p:spPr>
        <p:txBody>
          <a:bodyPr wrap="square" lIns="0" tIns="0" rIns="0" bIns="0" anchor="t">
            <a:spAutoFit/>
          </a:bodyPr>
          <a:lstStyle/>
          <a:p>
            <a:pPr algn="ctr">
              <a:lnSpc>
                <a:spcPct val="105000"/>
              </a:lnSpc>
            </a:pPr>
            <a:r>
              <a:rPr lang="zh-CN" altLang="en-US" b="1" dirty="0">
                <a:solidFill>
                  <a:srgbClr val="1F4E78"/>
                </a:solidFill>
                <a:latin typeface="微软雅黑" panose="020B0503020204020204" pitchFamily="34" charset="-122"/>
                <a:ea typeface="微软雅黑" panose="020B0503020204020204" pitchFamily="34" charset="-122"/>
              </a:rPr>
              <a:t>分子性质预测既是药物早筛中的关键计算任务，也是后续多模态分子表征学习的直接应用目标。</a:t>
            </a:r>
            <a:endParaRPr sz="1650" b="1" dirty="0">
              <a:solidFill>
                <a:srgbClr val="1F4E78"/>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39596" y="329184"/>
            <a:ext cx="5669280" cy="309315"/>
          </a:xfrm>
          <a:prstGeom prst="rect">
            <a:avLst/>
          </a:prstGeom>
          <a:noFill/>
        </p:spPr>
        <p:txBody>
          <a:bodyPr wrap="square" lIns="0" tIns="0" rIns="0" bIns="0" anchor="t">
            <a:spAutoFit/>
          </a:bodyPr>
          <a:lstStyle/>
          <a:p>
            <a:pPr algn="l">
              <a:lnSpc>
                <a:spcPct val="105000"/>
              </a:lnSpc>
            </a:pPr>
            <a:r>
              <a:rPr sz="2000" b="1" dirty="0" err="1">
                <a:solidFill>
                  <a:srgbClr val="004E98"/>
                </a:solidFill>
                <a:latin typeface="微软雅黑" panose="020B0503020204020204" pitchFamily="34" charset="-122"/>
                <a:ea typeface="微软雅黑" panose="020B0503020204020204" pitchFamily="34" charset="-122"/>
              </a:rPr>
              <a:t>研究</a:t>
            </a:r>
            <a:r>
              <a:rPr lang="zh-CN" altLang="en-US" sz="2000" b="1" dirty="0">
                <a:solidFill>
                  <a:srgbClr val="004E98"/>
                </a:solidFill>
                <a:latin typeface="微软雅黑" panose="020B0503020204020204" pitchFamily="34" charset="-122"/>
                <a:ea typeface="微软雅黑" panose="020B0503020204020204" pitchFamily="34" charset="-122"/>
              </a:rPr>
              <a:t>背景</a:t>
            </a:r>
            <a:r>
              <a:rPr sz="2000" b="1" dirty="0">
                <a:solidFill>
                  <a:srgbClr val="004E98"/>
                </a:solidFill>
                <a:latin typeface="微软雅黑" panose="020B0503020204020204" pitchFamily="34" charset="-122"/>
                <a:ea typeface="微软雅黑" panose="020B0503020204020204" pitchFamily="34" charset="-122"/>
              </a:rPr>
              <a:t>：</a:t>
            </a:r>
            <a:r>
              <a:rPr lang="zh-CN" altLang="en-US" sz="2000" b="1" dirty="0">
                <a:solidFill>
                  <a:srgbClr val="004E98"/>
                </a:solidFill>
                <a:latin typeface="微软雅黑" panose="020B0503020204020204" pitchFamily="34" charset="-122"/>
                <a:ea typeface="微软雅黑" panose="020B0503020204020204" pitchFamily="34" charset="-122"/>
              </a:rPr>
              <a:t>分子的多模态表征</a:t>
            </a:r>
            <a:endParaRPr sz="2000" b="1" dirty="0">
              <a:solidFill>
                <a:srgbClr val="004E98"/>
              </a:solidFill>
              <a:latin typeface="微软雅黑" panose="020B0503020204020204" pitchFamily="34" charset="-122"/>
              <a:ea typeface="微软雅黑" panose="020B0503020204020204" pitchFamily="34" charset="-122"/>
            </a:endParaRPr>
          </a:p>
        </p:txBody>
      </p:sp>
      <p:pic>
        <p:nvPicPr>
          <p:cNvPr id="7" name="Picture 6" descr="logo.png"/>
          <p:cNvPicPr>
            <a:picLocks noChangeAspect="1"/>
          </p:cNvPicPr>
          <p:nvPr/>
        </p:nvPicPr>
        <p:blipFill>
          <a:blip r:embed="rId3"/>
          <a:stretch>
            <a:fillRect/>
          </a:stretch>
        </p:blipFill>
        <p:spPr>
          <a:xfrm>
            <a:off x="11301984" y="310896"/>
            <a:ext cx="402336" cy="457200"/>
          </a:xfrm>
          <a:prstGeom prst="rect">
            <a:avLst/>
          </a:prstGeom>
        </p:spPr>
      </p:pic>
      <p:sp>
        <p:nvSpPr>
          <p:cNvPr id="8" name="Rectangle 7"/>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sp>
        <p:nvSpPr>
          <p:cNvPr id="33" name="TextBox 44">
            <a:extLst>
              <a:ext uri="{FF2B5EF4-FFF2-40B4-BE49-F238E27FC236}">
                <a16:creationId xmlns:a16="http://schemas.microsoft.com/office/drawing/2014/main" id="{9C4D7380-5589-EF54-B404-8AA9FC782414}"/>
              </a:ext>
            </a:extLst>
          </p:cNvPr>
          <p:cNvSpPr txBox="1"/>
          <p:nvPr/>
        </p:nvSpPr>
        <p:spPr>
          <a:xfrm>
            <a:off x="801623" y="1040454"/>
            <a:ext cx="10222992" cy="569195"/>
          </a:xfrm>
          <a:prstGeom prst="rect">
            <a:avLst/>
          </a:prstGeom>
          <a:noFill/>
        </p:spPr>
        <p:txBody>
          <a:bodyPr wrap="square" lIns="0" tIns="0" rIns="0" bIns="0" anchor="t">
            <a:spAutoFit/>
          </a:bodyPr>
          <a:lstStyle/>
          <a:p>
            <a:pPr>
              <a:lnSpc>
                <a:spcPct val="105000"/>
              </a:lnSpc>
            </a:pPr>
            <a:r>
              <a:rPr lang="zh-CN" altLang="en-US" b="1" dirty="0">
                <a:latin typeface="微软雅黑" panose="020B0503020204020204" pitchFamily="34" charset="-122"/>
                <a:ea typeface="微软雅黑" panose="020B0503020204020204" pitchFamily="34" charset="-122"/>
              </a:rPr>
              <a:t>分子性质预测的关键在于分子表征。同一分子可以由</a:t>
            </a:r>
            <a:r>
              <a:rPr lang="zh-CN" altLang="en-US" b="1" dirty="0">
                <a:solidFill>
                  <a:srgbClr val="004E98"/>
                </a:solidFill>
                <a:latin typeface="微软雅黑" panose="020B0503020204020204" pitchFamily="34" charset="-122"/>
                <a:ea typeface="微软雅黑" panose="020B0503020204020204" pitchFamily="34" charset="-122"/>
              </a:rPr>
              <a:t>图结构、</a:t>
            </a:r>
            <a:r>
              <a:rPr lang="en-US" altLang="zh-CN" b="1" dirty="0">
                <a:solidFill>
                  <a:srgbClr val="004E98"/>
                </a:solidFill>
                <a:latin typeface="微软雅黑" panose="020B0503020204020204" pitchFamily="34" charset="-122"/>
                <a:ea typeface="微软雅黑" panose="020B0503020204020204" pitchFamily="34" charset="-122"/>
              </a:rPr>
              <a:t>SMILES</a:t>
            </a:r>
            <a:r>
              <a:rPr lang="zh-CN" altLang="en-US" b="1" dirty="0">
                <a:solidFill>
                  <a:srgbClr val="004E98"/>
                </a:solidFill>
                <a:latin typeface="微软雅黑" panose="020B0503020204020204" pitchFamily="34" charset="-122"/>
                <a:ea typeface="微软雅黑" panose="020B0503020204020204" pitchFamily="34" charset="-122"/>
              </a:rPr>
              <a:t>序列、分子指纹和文本语义</a:t>
            </a:r>
            <a:r>
              <a:rPr lang="zh-CN" altLang="en-US" b="1" dirty="0">
                <a:latin typeface="微软雅黑" panose="020B0503020204020204" pitchFamily="34" charset="-122"/>
                <a:ea typeface="微软雅黑" panose="020B0503020204020204" pitchFamily="34" charset="-122"/>
              </a:rPr>
              <a:t>等多种模态共同刻画。</a:t>
            </a:r>
            <a:endParaRPr sz="1650" b="1" dirty="0">
              <a:latin typeface="微软雅黑" panose="020B0503020204020204" pitchFamily="34" charset="-122"/>
              <a:ea typeface="微软雅黑" panose="020B0503020204020204" pitchFamily="34" charset="-122"/>
            </a:endParaRPr>
          </a:p>
        </p:txBody>
      </p:sp>
      <p:pic>
        <p:nvPicPr>
          <p:cNvPr id="34" name="Picture 30" descr="图2-1 阿司匹林的多模态化学表征.png">
            <a:extLst>
              <a:ext uri="{FF2B5EF4-FFF2-40B4-BE49-F238E27FC236}">
                <a16:creationId xmlns:a16="http://schemas.microsoft.com/office/drawing/2014/main" id="{1D2F265A-0BEE-8893-4B43-708150C6A846}"/>
              </a:ext>
            </a:extLst>
          </p:cNvPr>
          <p:cNvPicPr>
            <a:picLocks noChangeAspect="1"/>
          </p:cNvPicPr>
          <p:nvPr/>
        </p:nvPicPr>
        <p:blipFill>
          <a:blip r:embed="rId4"/>
          <a:stretch>
            <a:fillRect/>
          </a:stretch>
        </p:blipFill>
        <p:spPr>
          <a:xfrm>
            <a:off x="563499" y="1802586"/>
            <a:ext cx="7573054" cy="3874960"/>
          </a:xfrm>
          <a:prstGeom prst="rect">
            <a:avLst/>
          </a:prstGeom>
        </p:spPr>
      </p:pic>
      <p:sp>
        <p:nvSpPr>
          <p:cNvPr id="35" name="Rounded Rectangle 13">
            <a:extLst>
              <a:ext uri="{FF2B5EF4-FFF2-40B4-BE49-F238E27FC236}">
                <a16:creationId xmlns:a16="http://schemas.microsoft.com/office/drawing/2014/main" id="{B1ECCC69-E9BF-CB5A-008B-4E78FE7E348C}"/>
              </a:ext>
            </a:extLst>
          </p:cNvPr>
          <p:cNvSpPr/>
          <p:nvPr/>
        </p:nvSpPr>
        <p:spPr>
          <a:xfrm>
            <a:off x="8428482" y="1802586"/>
            <a:ext cx="3401568" cy="813473"/>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14">
            <a:extLst>
              <a:ext uri="{FF2B5EF4-FFF2-40B4-BE49-F238E27FC236}">
                <a16:creationId xmlns:a16="http://schemas.microsoft.com/office/drawing/2014/main" id="{9F6E1B6B-2EF4-3FF8-12EE-BF4AC87F66C3}"/>
              </a:ext>
            </a:extLst>
          </p:cNvPr>
          <p:cNvSpPr/>
          <p:nvPr/>
        </p:nvSpPr>
        <p:spPr>
          <a:xfrm>
            <a:off x="8428482" y="1802586"/>
            <a:ext cx="91440" cy="813473"/>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15">
            <a:extLst>
              <a:ext uri="{FF2B5EF4-FFF2-40B4-BE49-F238E27FC236}">
                <a16:creationId xmlns:a16="http://schemas.microsoft.com/office/drawing/2014/main" id="{EACA9FDF-0C44-95E8-4208-39F692C4DAFA}"/>
              </a:ext>
            </a:extLst>
          </p:cNvPr>
          <p:cNvSpPr txBox="1"/>
          <p:nvPr/>
        </p:nvSpPr>
        <p:spPr>
          <a:xfrm>
            <a:off x="8721090" y="1860879"/>
            <a:ext cx="1134110" cy="224292"/>
          </a:xfrm>
          <a:prstGeom prst="rect">
            <a:avLst/>
          </a:prstGeom>
          <a:noFill/>
        </p:spPr>
        <p:txBody>
          <a:bodyPr wrap="square" lIns="0" tIns="0" rIns="0" bIns="0" anchor="t">
            <a:spAutoFit/>
          </a:bodyPr>
          <a:lstStyle/>
          <a:p>
            <a:pPr algn="l">
              <a:lnSpc>
                <a:spcPct val="105000"/>
              </a:lnSpc>
            </a:pPr>
            <a:r>
              <a:rPr lang="en-US" altLang="zh-CN" sz="1450" b="1" dirty="0">
                <a:solidFill>
                  <a:srgbClr val="16324F"/>
                </a:solidFill>
                <a:latin typeface="Microsoft YaHei"/>
              </a:rPr>
              <a:t>SMILES</a:t>
            </a:r>
            <a:r>
              <a:rPr lang="zh-CN" altLang="en-US" sz="1450" b="1" dirty="0">
                <a:solidFill>
                  <a:srgbClr val="16324F"/>
                </a:solidFill>
                <a:latin typeface="微软雅黑" panose="020B0503020204020204" pitchFamily="34" charset="-122"/>
                <a:ea typeface="微软雅黑" panose="020B0503020204020204" pitchFamily="34" charset="-122"/>
              </a:rPr>
              <a:t>序列</a:t>
            </a:r>
            <a:endParaRPr sz="1450" b="1" dirty="0">
              <a:solidFill>
                <a:srgbClr val="16324F"/>
              </a:solidFill>
              <a:latin typeface="微软雅黑" panose="020B0503020204020204" pitchFamily="34" charset="-122"/>
              <a:ea typeface="微软雅黑" panose="020B0503020204020204" pitchFamily="34" charset="-122"/>
            </a:endParaRPr>
          </a:p>
        </p:txBody>
      </p:sp>
      <p:sp>
        <p:nvSpPr>
          <p:cNvPr id="38" name="TextBox 16">
            <a:extLst>
              <a:ext uri="{FF2B5EF4-FFF2-40B4-BE49-F238E27FC236}">
                <a16:creationId xmlns:a16="http://schemas.microsoft.com/office/drawing/2014/main" id="{9C36C941-763F-9679-D179-2C305F00474B}"/>
              </a:ext>
            </a:extLst>
          </p:cNvPr>
          <p:cNvSpPr txBox="1"/>
          <p:nvPr/>
        </p:nvSpPr>
        <p:spPr>
          <a:xfrm>
            <a:off x="8730234" y="2167467"/>
            <a:ext cx="2852928" cy="340799"/>
          </a:xfrm>
          <a:prstGeom prst="rect">
            <a:avLst/>
          </a:prstGeom>
          <a:noFill/>
        </p:spPr>
        <p:txBody>
          <a:bodyPr wrap="square" lIns="0" tIns="0" rIns="0" bIns="0" anchor="t">
            <a:spAutoFit/>
          </a:bodyPr>
          <a:lstStyle/>
          <a:p>
            <a:pPr>
              <a:lnSpc>
                <a:spcPct val="108000"/>
              </a:lnSpc>
            </a:pPr>
            <a:r>
              <a:rPr lang="zh-CN" altLang="zh-CN" sz="1050" dirty="0"/>
              <a:t>简化分子线性输入规范</a:t>
            </a:r>
            <a:r>
              <a:rPr lang="zh-CN" altLang="en-US" sz="1050" dirty="0"/>
              <a:t>，将分子结构编码为一维字符串，适合序列模型建模。</a:t>
            </a:r>
            <a:endParaRPr sz="1050" b="0" dirty="0">
              <a:solidFill>
                <a:srgbClr val="5B6773"/>
              </a:solidFill>
              <a:latin typeface="微软雅黑 Light"/>
            </a:endParaRPr>
          </a:p>
        </p:txBody>
      </p:sp>
      <p:sp>
        <p:nvSpPr>
          <p:cNvPr id="47" name="Rounded Rectangle 13">
            <a:extLst>
              <a:ext uri="{FF2B5EF4-FFF2-40B4-BE49-F238E27FC236}">
                <a16:creationId xmlns:a16="http://schemas.microsoft.com/office/drawing/2014/main" id="{3ECD81BF-E0C4-5869-38B3-03E7879C6719}"/>
              </a:ext>
            </a:extLst>
          </p:cNvPr>
          <p:cNvSpPr/>
          <p:nvPr/>
        </p:nvSpPr>
        <p:spPr>
          <a:xfrm>
            <a:off x="8428482" y="2829599"/>
            <a:ext cx="3401568" cy="813473"/>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14">
            <a:extLst>
              <a:ext uri="{FF2B5EF4-FFF2-40B4-BE49-F238E27FC236}">
                <a16:creationId xmlns:a16="http://schemas.microsoft.com/office/drawing/2014/main" id="{FC6B7042-C7B2-BF89-9D60-B9630D7B7A6A}"/>
              </a:ext>
            </a:extLst>
          </p:cNvPr>
          <p:cNvSpPr/>
          <p:nvPr/>
        </p:nvSpPr>
        <p:spPr>
          <a:xfrm>
            <a:off x="8428482" y="2829599"/>
            <a:ext cx="91440" cy="813473"/>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15">
            <a:extLst>
              <a:ext uri="{FF2B5EF4-FFF2-40B4-BE49-F238E27FC236}">
                <a16:creationId xmlns:a16="http://schemas.microsoft.com/office/drawing/2014/main" id="{64D9E0DE-9343-1887-E9E7-75EF5FAB5DF7}"/>
              </a:ext>
            </a:extLst>
          </p:cNvPr>
          <p:cNvSpPr txBox="1"/>
          <p:nvPr/>
        </p:nvSpPr>
        <p:spPr>
          <a:xfrm>
            <a:off x="8721090" y="2887892"/>
            <a:ext cx="1134110" cy="219997"/>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Microsoft YaHei"/>
                <a:ea typeface="微软雅黑" panose="020B0503020204020204" pitchFamily="34" charset="-122"/>
              </a:rPr>
              <a:t>二维拓扑图</a:t>
            </a:r>
            <a:endParaRPr sz="1450" b="1" dirty="0">
              <a:solidFill>
                <a:srgbClr val="16324F"/>
              </a:solidFill>
              <a:latin typeface="微软雅黑" panose="020B0503020204020204" pitchFamily="34" charset="-122"/>
              <a:ea typeface="微软雅黑" panose="020B0503020204020204" pitchFamily="34" charset="-122"/>
            </a:endParaRPr>
          </a:p>
        </p:txBody>
      </p:sp>
      <p:sp>
        <p:nvSpPr>
          <p:cNvPr id="50" name="TextBox 16">
            <a:extLst>
              <a:ext uri="{FF2B5EF4-FFF2-40B4-BE49-F238E27FC236}">
                <a16:creationId xmlns:a16="http://schemas.microsoft.com/office/drawing/2014/main" id="{99CFC1C9-EF3C-4D5F-3AA4-928CDA3C6CA3}"/>
              </a:ext>
            </a:extLst>
          </p:cNvPr>
          <p:cNvSpPr txBox="1"/>
          <p:nvPr/>
        </p:nvSpPr>
        <p:spPr>
          <a:xfrm>
            <a:off x="8730234" y="3194480"/>
            <a:ext cx="2852928" cy="166264"/>
          </a:xfrm>
          <a:prstGeom prst="rect">
            <a:avLst/>
          </a:prstGeom>
          <a:noFill/>
        </p:spPr>
        <p:txBody>
          <a:bodyPr wrap="square" lIns="0" tIns="0" rIns="0" bIns="0" anchor="t">
            <a:spAutoFit/>
          </a:bodyPr>
          <a:lstStyle/>
          <a:p>
            <a:pPr>
              <a:lnSpc>
                <a:spcPct val="108000"/>
              </a:lnSpc>
            </a:pPr>
            <a:r>
              <a:rPr lang="zh-CN" altLang="en-US" sz="1050" dirty="0"/>
              <a:t>以原子为节点、化学键为边，刻画拓扑连接关系。</a:t>
            </a:r>
            <a:endParaRPr sz="1050" b="0" dirty="0">
              <a:solidFill>
                <a:srgbClr val="5B6773"/>
              </a:solidFill>
              <a:latin typeface="微软雅黑 Light"/>
            </a:endParaRPr>
          </a:p>
        </p:txBody>
      </p:sp>
      <p:sp>
        <p:nvSpPr>
          <p:cNvPr id="51" name="Rounded Rectangle 13">
            <a:extLst>
              <a:ext uri="{FF2B5EF4-FFF2-40B4-BE49-F238E27FC236}">
                <a16:creationId xmlns:a16="http://schemas.microsoft.com/office/drawing/2014/main" id="{8595D91F-33AE-3960-B6D4-911320A50B86}"/>
              </a:ext>
            </a:extLst>
          </p:cNvPr>
          <p:cNvSpPr/>
          <p:nvPr/>
        </p:nvSpPr>
        <p:spPr>
          <a:xfrm>
            <a:off x="8428482" y="3841521"/>
            <a:ext cx="3401568" cy="813473"/>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14">
            <a:extLst>
              <a:ext uri="{FF2B5EF4-FFF2-40B4-BE49-F238E27FC236}">
                <a16:creationId xmlns:a16="http://schemas.microsoft.com/office/drawing/2014/main" id="{D8C69C7D-C1E8-0E48-3EA9-2F025B47464C}"/>
              </a:ext>
            </a:extLst>
          </p:cNvPr>
          <p:cNvSpPr/>
          <p:nvPr/>
        </p:nvSpPr>
        <p:spPr>
          <a:xfrm>
            <a:off x="8428482" y="3841521"/>
            <a:ext cx="91440" cy="813473"/>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15">
            <a:extLst>
              <a:ext uri="{FF2B5EF4-FFF2-40B4-BE49-F238E27FC236}">
                <a16:creationId xmlns:a16="http://schemas.microsoft.com/office/drawing/2014/main" id="{4DECCBE6-A5BA-83E0-309C-08D98DD93ABB}"/>
              </a:ext>
            </a:extLst>
          </p:cNvPr>
          <p:cNvSpPr txBox="1"/>
          <p:nvPr/>
        </p:nvSpPr>
        <p:spPr>
          <a:xfrm>
            <a:off x="8721090" y="3899814"/>
            <a:ext cx="1134110" cy="224292"/>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微软雅黑" panose="020B0503020204020204" pitchFamily="34" charset="-122"/>
                <a:ea typeface="微软雅黑" panose="020B0503020204020204" pitchFamily="34" charset="-122"/>
              </a:rPr>
              <a:t>分子指纹</a:t>
            </a:r>
            <a:endParaRPr sz="1450" b="1" dirty="0">
              <a:solidFill>
                <a:srgbClr val="16324F"/>
              </a:solidFill>
              <a:latin typeface="微软雅黑" panose="020B0503020204020204" pitchFamily="34" charset="-122"/>
              <a:ea typeface="微软雅黑" panose="020B0503020204020204" pitchFamily="34" charset="-122"/>
            </a:endParaRPr>
          </a:p>
        </p:txBody>
      </p:sp>
      <p:sp>
        <p:nvSpPr>
          <p:cNvPr id="54" name="TextBox 16">
            <a:extLst>
              <a:ext uri="{FF2B5EF4-FFF2-40B4-BE49-F238E27FC236}">
                <a16:creationId xmlns:a16="http://schemas.microsoft.com/office/drawing/2014/main" id="{EB1A8371-8A13-A6E0-1FD9-A0D6853F2AF7}"/>
              </a:ext>
            </a:extLst>
          </p:cNvPr>
          <p:cNvSpPr txBox="1"/>
          <p:nvPr/>
        </p:nvSpPr>
        <p:spPr>
          <a:xfrm>
            <a:off x="8730234" y="4206402"/>
            <a:ext cx="2852928" cy="340799"/>
          </a:xfrm>
          <a:prstGeom prst="rect">
            <a:avLst/>
          </a:prstGeom>
          <a:noFill/>
        </p:spPr>
        <p:txBody>
          <a:bodyPr wrap="square" lIns="0" tIns="0" rIns="0" bIns="0" anchor="t">
            <a:spAutoFit/>
          </a:bodyPr>
          <a:lstStyle/>
          <a:p>
            <a:pPr>
              <a:lnSpc>
                <a:spcPct val="108000"/>
              </a:lnSpc>
            </a:pPr>
            <a:r>
              <a:rPr lang="zh-CN" altLang="en-US" sz="1050" dirty="0"/>
              <a:t>将子结构、官能团或拓扑路径编码为固定长度向量。</a:t>
            </a:r>
            <a:endParaRPr sz="1050" b="0" dirty="0">
              <a:solidFill>
                <a:srgbClr val="5B6773"/>
              </a:solidFill>
              <a:latin typeface="微软雅黑 Light"/>
            </a:endParaRPr>
          </a:p>
        </p:txBody>
      </p:sp>
      <p:sp>
        <p:nvSpPr>
          <p:cNvPr id="55" name="Rounded Rectangle 13">
            <a:extLst>
              <a:ext uri="{FF2B5EF4-FFF2-40B4-BE49-F238E27FC236}">
                <a16:creationId xmlns:a16="http://schemas.microsoft.com/office/drawing/2014/main" id="{732D869F-7956-6F7D-DB4A-0381E8A2C854}"/>
              </a:ext>
            </a:extLst>
          </p:cNvPr>
          <p:cNvSpPr/>
          <p:nvPr/>
        </p:nvSpPr>
        <p:spPr>
          <a:xfrm>
            <a:off x="8428482" y="4851702"/>
            <a:ext cx="3401568" cy="813473"/>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14">
            <a:extLst>
              <a:ext uri="{FF2B5EF4-FFF2-40B4-BE49-F238E27FC236}">
                <a16:creationId xmlns:a16="http://schemas.microsoft.com/office/drawing/2014/main" id="{5515BA21-F0BA-227E-375C-30DF8F156646}"/>
              </a:ext>
            </a:extLst>
          </p:cNvPr>
          <p:cNvSpPr/>
          <p:nvPr/>
        </p:nvSpPr>
        <p:spPr>
          <a:xfrm>
            <a:off x="8428482" y="4851702"/>
            <a:ext cx="91440" cy="813473"/>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15">
            <a:extLst>
              <a:ext uri="{FF2B5EF4-FFF2-40B4-BE49-F238E27FC236}">
                <a16:creationId xmlns:a16="http://schemas.microsoft.com/office/drawing/2014/main" id="{4904F5FF-84FF-7549-801B-90FDF3E3E1C2}"/>
              </a:ext>
            </a:extLst>
          </p:cNvPr>
          <p:cNvSpPr txBox="1"/>
          <p:nvPr/>
        </p:nvSpPr>
        <p:spPr>
          <a:xfrm>
            <a:off x="8721090" y="4909995"/>
            <a:ext cx="1134110" cy="224292"/>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微软雅黑" panose="020B0503020204020204" pitchFamily="34" charset="-122"/>
                <a:ea typeface="微软雅黑" panose="020B0503020204020204" pitchFamily="34" charset="-122"/>
              </a:rPr>
              <a:t>文本语义</a:t>
            </a:r>
            <a:endParaRPr sz="1450" b="1" dirty="0">
              <a:solidFill>
                <a:srgbClr val="16324F"/>
              </a:solidFill>
              <a:latin typeface="微软雅黑" panose="020B0503020204020204" pitchFamily="34" charset="-122"/>
              <a:ea typeface="微软雅黑" panose="020B0503020204020204" pitchFamily="34" charset="-122"/>
            </a:endParaRPr>
          </a:p>
        </p:txBody>
      </p:sp>
      <p:sp>
        <p:nvSpPr>
          <p:cNvPr id="58" name="TextBox 16">
            <a:extLst>
              <a:ext uri="{FF2B5EF4-FFF2-40B4-BE49-F238E27FC236}">
                <a16:creationId xmlns:a16="http://schemas.microsoft.com/office/drawing/2014/main" id="{BA1EDE0B-86E2-6883-F508-58E8B87D88A9}"/>
              </a:ext>
            </a:extLst>
          </p:cNvPr>
          <p:cNvSpPr txBox="1"/>
          <p:nvPr/>
        </p:nvSpPr>
        <p:spPr>
          <a:xfrm>
            <a:off x="8730234" y="5216583"/>
            <a:ext cx="2852928" cy="340799"/>
          </a:xfrm>
          <a:prstGeom prst="rect">
            <a:avLst/>
          </a:prstGeom>
          <a:noFill/>
        </p:spPr>
        <p:txBody>
          <a:bodyPr wrap="square" lIns="0" tIns="0" rIns="0" bIns="0" anchor="t">
            <a:spAutoFit/>
          </a:bodyPr>
          <a:lstStyle/>
          <a:p>
            <a:pPr>
              <a:lnSpc>
                <a:spcPct val="108000"/>
              </a:lnSpc>
            </a:pPr>
            <a:r>
              <a:rPr lang="zh-CN" altLang="en-US" sz="1050" dirty="0"/>
              <a:t>补充理化性质、药理作用和毒性机制等高层语义信息。</a:t>
            </a:r>
            <a:endParaRPr sz="1050" b="0" dirty="0">
              <a:solidFill>
                <a:srgbClr val="5B6773"/>
              </a:solidFill>
              <a:latin typeface="微软雅黑 Light"/>
            </a:endParaRPr>
          </a:p>
        </p:txBody>
      </p:sp>
      <p:sp>
        <p:nvSpPr>
          <p:cNvPr id="61" name="TextBox 44">
            <a:extLst>
              <a:ext uri="{FF2B5EF4-FFF2-40B4-BE49-F238E27FC236}">
                <a16:creationId xmlns:a16="http://schemas.microsoft.com/office/drawing/2014/main" id="{4952BE08-63A5-746E-C1B5-8966F98F4867}"/>
              </a:ext>
            </a:extLst>
          </p:cNvPr>
          <p:cNvSpPr txBox="1"/>
          <p:nvPr/>
        </p:nvSpPr>
        <p:spPr>
          <a:xfrm>
            <a:off x="801622" y="5853662"/>
            <a:ext cx="10500361" cy="569195"/>
          </a:xfrm>
          <a:prstGeom prst="rect">
            <a:avLst/>
          </a:prstGeom>
          <a:noFill/>
        </p:spPr>
        <p:txBody>
          <a:bodyPr wrap="square" lIns="0" tIns="0" rIns="0" bIns="0" anchor="t">
            <a:spAutoFit/>
          </a:bodyPr>
          <a:lstStyle/>
          <a:p>
            <a:pPr>
              <a:lnSpc>
                <a:spcPct val="105000"/>
              </a:lnSpc>
            </a:pPr>
            <a:r>
              <a:rPr lang="zh-CN" altLang="en-US" b="1" dirty="0">
                <a:latin typeface="微软雅黑" panose="020B0503020204020204" pitchFamily="34" charset="-122"/>
                <a:ea typeface="微软雅黑" panose="020B0503020204020204" pitchFamily="34" charset="-122"/>
              </a:rPr>
              <a:t>不同模态从</a:t>
            </a:r>
            <a:r>
              <a:rPr lang="zh-CN" altLang="en-US" b="1" dirty="0">
                <a:solidFill>
                  <a:srgbClr val="004E98"/>
                </a:solidFill>
                <a:latin typeface="微软雅黑" panose="020B0503020204020204" pitchFamily="34" charset="-122"/>
                <a:ea typeface="微软雅黑" panose="020B0503020204020204" pitchFamily="34" charset="-122"/>
              </a:rPr>
              <a:t>结构、序列、统计特征和语义知识</a:t>
            </a:r>
            <a:r>
              <a:rPr lang="zh-CN" altLang="en-US" b="1" dirty="0">
                <a:latin typeface="微软雅黑" panose="020B0503020204020204" pitchFamily="34" charset="-122"/>
                <a:ea typeface="微软雅黑" panose="020B0503020204020204" pitchFamily="34" charset="-122"/>
              </a:rPr>
              <a:t>等角度提供互补信息，多模态学习有助于构建更全面、鲁棒的分子表示。</a:t>
            </a:r>
            <a:endParaRPr sz="165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928DD-BE75-EFC2-1AE2-948A532598B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863EC4F-60A3-AF78-0865-22AB4B788698}"/>
              </a:ext>
            </a:extLst>
          </p:cNvPr>
          <p:cNvSpPr/>
          <p:nvPr/>
        </p:nvSpPr>
        <p:spPr>
          <a:xfrm>
            <a:off x="-18288" y="0"/>
            <a:ext cx="3383280" cy="6858000"/>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a:extLst>
              <a:ext uri="{FF2B5EF4-FFF2-40B4-BE49-F238E27FC236}">
                <a16:creationId xmlns:a16="http://schemas.microsoft.com/office/drawing/2014/main" id="{571B11B8-9ACD-2CB2-A2B7-365C17500753}"/>
              </a:ext>
            </a:extLst>
          </p:cNvPr>
          <p:cNvSpPr/>
          <p:nvPr/>
        </p:nvSpPr>
        <p:spPr>
          <a:xfrm>
            <a:off x="2560320" y="0"/>
            <a:ext cx="1325880" cy="6858000"/>
          </a:xfrm>
          <a:prstGeom prst="rtTriangle">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B25C1CA-FA50-B307-79BD-FBCCC81A1379}"/>
              </a:ext>
            </a:extLst>
          </p:cNvPr>
          <p:cNvSpPr txBox="1"/>
          <p:nvPr/>
        </p:nvSpPr>
        <p:spPr>
          <a:xfrm>
            <a:off x="438912" y="1005840"/>
            <a:ext cx="822960" cy="822960"/>
          </a:xfrm>
          <a:prstGeom prst="rect">
            <a:avLst/>
          </a:prstGeom>
          <a:noFill/>
        </p:spPr>
        <p:txBody>
          <a:bodyPr wrap="square" lIns="0" tIns="0" rIns="0" bIns="0" anchor="t">
            <a:spAutoFit/>
          </a:bodyPr>
          <a:lstStyle/>
          <a:p>
            <a:pPr algn="ctr">
              <a:lnSpc>
                <a:spcPct val="105000"/>
              </a:lnSpc>
            </a:pPr>
            <a:r>
              <a:rPr sz="4200" b="1">
                <a:solidFill>
                  <a:srgbClr val="FFFFFF"/>
                </a:solidFill>
                <a:latin typeface="方正正中黑简体"/>
              </a:rPr>
              <a:t>目</a:t>
            </a:r>
          </a:p>
        </p:txBody>
      </p:sp>
      <p:sp>
        <p:nvSpPr>
          <p:cNvPr id="5" name="TextBox 4">
            <a:extLst>
              <a:ext uri="{FF2B5EF4-FFF2-40B4-BE49-F238E27FC236}">
                <a16:creationId xmlns:a16="http://schemas.microsoft.com/office/drawing/2014/main" id="{6744BEF3-0DE3-3682-5688-EB5670BCDBEC}"/>
              </a:ext>
            </a:extLst>
          </p:cNvPr>
          <p:cNvSpPr txBox="1"/>
          <p:nvPr/>
        </p:nvSpPr>
        <p:spPr>
          <a:xfrm>
            <a:off x="1243584" y="1810512"/>
            <a:ext cx="822960" cy="822960"/>
          </a:xfrm>
          <a:prstGeom prst="rect">
            <a:avLst/>
          </a:prstGeom>
          <a:noFill/>
        </p:spPr>
        <p:txBody>
          <a:bodyPr wrap="square" lIns="0" tIns="0" rIns="0" bIns="0" anchor="t">
            <a:spAutoFit/>
          </a:bodyPr>
          <a:lstStyle/>
          <a:p>
            <a:pPr algn="ctr">
              <a:lnSpc>
                <a:spcPct val="105000"/>
              </a:lnSpc>
            </a:pPr>
            <a:r>
              <a:rPr sz="4200" b="1">
                <a:solidFill>
                  <a:srgbClr val="FFFFFF"/>
                </a:solidFill>
                <a:latin typeface="方正正中黑简体"/>
              </a:rPr>
              <a:t>录</a:t>
            </a:r>
          </a:p>
        </p:txBody>
      </p:sp>
      <p:sp>
        <p:nvSpPr>
          <p:cNvPr id="6" name="TextBox 5">
            <a:extLst>
              <a:ext uri="{FF2B5EF4-FFF2-40B4-BE49-F238E27FC236}">
                <a16:creationId xmlns:a16="http://schemas.microsoft.com/office/drawing/2014/main" id="{42A88C70-B170-90CC-191C-B7C347B4DFE6}"/>
              </a:ext>
            </a:extLst>
          </p:cNvPr>
          <p:cNvSpPr txBox="1"/>
          <p:nvPr/>
        </p:nvSpPr>
        <p:spPr>
          <a:xfrm>
            <a:off x="365760" y="3246120"/>
            <a:ext cx="2148840" cy="310896"/>
          </a:xfrm>
          <a:prstGeom prst="rect">
            <a:avLst/>
          </a:prstGeom>
          <a:noFill/>
        </p:spPr>
        <p:txBody>
          <a:bodyPr wrap="square" lIns="0" tIns="0" rIns="0" bIns="0" anchor="t">
            <a:spAutoFit/>
          </a:bodyPr>
          <a:lstStyle/>
          <a:p>
            <a:pPr algn="l">
              <a:lnSpc>
                <a:spcPct val="105000"/>
              </a:lnSpc>
            </a:pPr>
            <a:r>
              <a:rPr sz="1700" b="0">
                <a:solidFill>
                  <a:srgbClr val="D9EAF7"/>
                </a:solidFill>
                <a:latin typeface="Aptos"/>
              </a:rPr>
              <a:t>CONTENTS</a:t>
            </a:r>
          </a:p>
        </p:txBody>
      </p:sp>
      <p:pic>
        <p:nvPicPr>
          <p:cNvPr id="7" name="Picture 6" descr="logo.png">
            <a:extLst>
              <a:ext uri="{FF2B5EF4-FFF2-40B4-BE49-F238E27FC236}">
                <a16:creationId xmlns:a16="http://schemas.microsoft.com/office/drawing/2014/main" id="{2002BE87-EDFC-5E7B-05F2-D04693242382}"/>
              </a:ext>
            </a:extLst>
          </p:cNvPr>
          <p:cNvPicPr>
            <a:picLocks noChangeAspect="1"/>
          </p:cNvPicPr>
          <p:nvPr/>
        </p:nvPicPr>
        <p:blipFill>
          <a:blip r:embed="rId2"/>
          <a:stretch>
            <a:fillRect/>
          </a:stretch>
        </p:blipFill>
        <p:spPr>
          <a:xfrm>
            <a:off x="11301984" y="310896"/>
            <a:ext cx="402336" cy="457200"/>
          </a:xfrm>
          <a:prstGeom prst="rect">
            <a:avLst/>
          </a:prstGeom>
        </p:spPr>
      </p:pic>
      <p:sp>
        <p:nvSpPr>
          <p:cNvPr id="8" name="TextBox 7">
            <a:extLst>
              <a:ext uri="{FF2B5EF4-FFF2-40B4-BE49-F238E27FC236}">
                <a16:creationId xmlns:a16="http://schemas.microsoft.com/office/drawing/2014/main" id="{CE6F3B5B-764D-1AE7-92E7-C4CECAF8AA85}"/>
              </a:ext>
            </a:extLst>
          </p:cNvPr>
          <p:cNvSpPr txBox="1"/>
          <p:nvPr/>
        </p:nvSpPr>
        <p:spPr>
          <a:xfrm>
            <a:off x="4617720" y="1078992"/>
            <a:ext cx="713232" cy="424796"/>
          </a:xfrm>
          <a:prstGeom prst="rect">
            <a:avLst/>
          </a:prstGeom>
          <a:noFill/>
        </p:spPr>
        <p:txBody>
          <a:bodyPr wrap="square" lIns="0" tIns="0" rIns="0" bIns="0" anchor="t">
            <a:spAutoFit/>
          </a:bodyPr>
          <a:lstStyle/>
          <a:p>
            <a:pPr algn="l">
              <a:lnSpc>
                <a:spcPct val="105000"/>
              </a:lnSpc>
            </a:pPr>
            <a:r>
              <a:rPr sz="2800" b="1" dirty="0">
                <a:solidFill>
                  <a:srgbClr val="004E98"/>
                </a:solidFill>
                <a:latin typeface="Microsoft YaHei"/>
              </a:rPr>
              <a:t>01 /</a:t>
            </a:r>
          </a:p>
        </p:txBody>
      </p:sp>
      <p:sp>
        <p:nvSpPr>
          <p:cNvPr id="9" name="TextBox 8">
            <a:extLst>
              <a:ext uri="{FF2B5EF4-FFF2-40B4-BE49-F238E27FC236}">
                <a16:creationId xmlns:a16="http://schemas.microsoft.com/office/drawing/2014/main" id="{6EDBC640-73AF-6032-4341-5EA165A09E06}"/>
              </a:ext>
            </a:extLst>
          </p:cNvPr>
          <p:cNvSpPr txBox="1"/>
          <p:nvPr/>
        </p:nvSpPr>
        <p:spPr>
          <a:xfrm>
            <a:off x="5376672" y="1060704"/>
            <a:ext cx="2560320" cy="424796"/>
          </a:xfrm>
          <a:prstGeom prst="rect">
            <a:avLst/>
          </a:prstGeom>
          <a:noFill/>
        </p:spPr>
        <p:txBody>
          <a:bodyPr wrap="square" lIns="0" tIns="0" rIns="0" bIns="0" anchor="t">
            <a:spAutoFit/>
          </a:bodyPr>
          <a:lstStyle/>
          <a:p>
            <a:pPr algn="l">
              <a:lnSpc>
                <a:spcPct val="105000"/>
              </a:lnSpc>
            </a:pPr>
            <a:r>
              <a:rPr sz="2800" b="1" dirty="0" err="1">
                <a:solidFill>
                  <a:srgbClr val="16324F"/>
                </a:solidFill>
                <a:latin typeface="Microsoft YaHei"/>
              </a:rPr>
              <a:t>研究背景与意义</a:t>
            </a:r>
            <a:endParaRPr sz="2800" b="1" dirty="0">
              <a:solidFill>
                <a:srgbClr val="16324F"/>
              </a:solidFill>
              <a:latin typeface="Microsoft YaHei"/>
            </a:endParaRPr>
          </a:p>
        </p:txBody>
      </p:sp>
      <p:sp>
        <p:nvSpPr>
          <p:cNvPr id="10" name="TextBox 9">
            <a:extLst>
              <a:ext uri="{FF2B5EF4-FFF2-40B4-BE49-F238E27FC236}">
                <a16:creationId xmlns:a16="http://schemas.microsoft.com/office/drawing/2014/main" id="{81A8B807-50EC-B0AD-3E51-2277DE95AA2A}"/>
              </a:ext>
            </a:extLst>
          </p:cNvPr>
          <p:cNvSpPr txBox="1"/>
          <p:nvPr/>
        </p:nvSpPr>
        <p:spPr>
          <a:xfrm>
            <a:off x="5376672" y="1586103"/>
            <a:ext cx="4297680" cy="219456"/>
          </a:xfrm>
          <a:prstGeom prst="rect">
            <a:avLst/>
          </a:prstGeom>
          <a:noFill/>
        </p:spPr>
        <p:txBody>
          <a:bodyPr wrap="square" lIns="0" tIns="0" rIns="0" bIns="0" anchor="t">
            <a:spAutoFit/>
          </a:bodyPr>
          <a:lstStyle/>
          <a:p>
            <a:pPr algn="l">
              <a:lnSpc>
                <a:spcPct val="105000"/>
              </a:lnSpc>
            </a:pPr>
            <a:r>
              <a:rPr sz="1040" b="0" dirty="0" err="1">
                <a:solidFill>
                  <a:srgbClr val="5B6773"/>
                </a:solidFill>
                <a:latin typeface="微软雅黑 Light"/>
              </a:rPr>
              <a:t>药物发现早筛需求与多模态分子性质预测价值</a:t>
            </a:r>
            <a:endParaRPr sz="1040" b="0" dirty="0">
              <a:solidFill>
                <a:srgbClr val="5B6773"/>
              </a:solidFill>
              <a:latin typeface="微软雅黑 Light"/>
            </a:endParaRPr>
          </a:p>
        </p:txBody>
      </p:sp>
      <p:sp>
        <p:nvSpPr>
          <p:cNvPr id="11" name="Rectangle 10">
            <a:extLst>
              <a:ext uri="{FF2B5EF4-FFF2-40B4-BE49-F238E27FC236}">
                <a16:creationId xmlns:a16="http://schemas.microsoft.com/office/drawing/2014/main" id="{102974B3-43F7-1F9D-55BE-5B22D29FD5F6}"/>
              </a:ext>
            </a:extLst>
          </p:cNvPr>
          <p:cNvSpPr/>
          <p:nvPr/>
        </p:nvSpPr>
        <p:spPr>
          <a:xfrm>
            <a:off x="5376672" y="1494663"/>
            <a:ext cx="4160520" cy="10972"/>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A80DB27F-4064-2541-79F0-E7D30B46D55F}"/>
              </a:ext>
            </a:extLst>
          </p:cNvPr>
          <p:cNvSpPr txBox="1"/>
          <p:nvPr/>
        </p:nvSpPr>
        <p:spPr>
          <a:xfrm>
            <a:off x="4617720" y="2249424"/>
            <a:ext cx="713232" cy="424796"/>
          </a:xfrm>
          <a:prstGeom prst="rect">
            <a:avLst/>
          </a:prstGeom>
          <a:noFill/>
        </p:spPr>
        <p:txBody>
          <a:bodyPr wrap="square" lIns="0" tIns="0" rIns="0" bIns="0" anchor="t">
            <a:spAutoFit/>
          </a:bodyPr>
          <a:lstStyle/>
          <a:p>
            <a:pPr algn="l">
              <a:lnSpc>
                <a:spcPct val="105000"/>
              </a:lnSpc>
            </a:pPr>
            <a:r>
              <a:rPr sz="2800" b="1">
                <a:solidFill>
                  <a:srgbClr val="004E98"/>
                </a:solidFill>
                <a:latin typeface="Microsoft YaHei"/>
              </a:rPr>
              <a:t>02 /</a:t>
            </a:r>
          </a:p>
        </p:txBody>
      </p:sp>
      <p:sp>
        <p:nvSpPr>
          <p:cNvPr id="13" name="TextBox 12">
            <a:extLst>
              <a:ext uri="{FF2B5EF4-FFF2-40B4-BE49-F238E27FC236}">
                <a16:creationId xmlns:a16="http://schemas.microsoft.com/office/drawing/2014/main" id="{A073CFB6-5812-5F71-A019-80366C87883B}"/>
              </a:ext>
            </a:extLst>
          </p:cNvPr>
          <p:cNvSpPr txBox="1"/>
          <p:nvPr/>
        </p:nvSpPr>
        <p:spPr>
          <a:xfrm>
            <a:off x="5376672" y="2231136"/>
            <a:ext cx="2560320" cy="424796"/>
          </a:xfrm>
          <a:prstGeom prst="rect">
            <a:avLst/>
          </a:prstGeom>
          <a:noFill/>
        </p:spPr>
        <p:txBody>
          <a:bodyPr wrap="square" lIns="0" tIns="0" rIns="0" bIns="0" anchor="t">
            <a:spAutoFit/>
          </a:bodyPr>
          <a:lstStyle/>
          <a:p>
            <a:pPr algn="l">
              <a:lnSpc>
                <a:spcPct val="105000"/>
              </a:lnSpc>
            </a:pPr>
            <a:r>
              <a:rPr sz="2800" b="1" dirty="0" err="1">
                <a:solidFill>
                  <a:srgbClr val="004E98"/>
                </a:solidFill>
                <a:latin typeface="Microsoft YaHei"/>
              </a:rPr>
              <a:t>研究现状</a:t>
            </a:r>
            <a:endParaRPr sz="2800" b="1" dirty="0">
              <a:solidFill>
                <a:srgbClr val="004E98"/>
              </a:solidFill>
              <a:latin typeface="Microsoft YaHei"/>
            </a:endParaRPr>
          </a:p>
        </p:txBody>
      </p:sp>
      <p:sp>
        <p:nvSpPr>
          <p:cNvPr id="14" name="TextBox 13">
            <a:extLst>
              <a:ext uri="{FF2B5EF4-FFF2-40B4-BE49-F238E27FC236}">
                <a16:creationId xmlns:a16="http://schemas.microsoft.com/office/drawing/2014/main" id="{0FD570AA-5E9B-8108-8C39-82B10D4262A6}"/>
              </a:ext>
            </a:extLst>
          </p:cNvPr>
          <p:cNvSpPr txBox="1"/>
          <p:nvPr/>
        </p:nvSpPr>
        <p:spPr>
          <a:xfrm>
            <a:off x="5376672" y="2779395"/>
            <a:ext cx="4297680" cy="219456"/>
          </a:xfrm>
          <a:prstGeom prst="rect">
            <a:avLst/>
          </a:prstGeom>
          <a:noFill/>
        </p:spPr>
        <p:txBody>
          <a:bodyPr wrap="square" lIns="0" tIns="0" rIns="0" bIns="0" anchor="t">
            <a:spAutoFit/>
          </a:bodyPr>
          <a:lstStyle/>
          <a:p>
            <a:pPr algn="l">
              <a:lnSpc>
                <a:spcPct val="105000"/>
              </a:lnSpc>
            </a:pPr>
            <a:r>
              <a:rPr sz="1040" b="0">
                <a:solidFill>
                  <a:srgbClr val="5B6773"/>
                </a:solidFill>
                <a:latin typeface="微软雅黑 Light"/>
              </a:rPr>
              <a:t>单模态、多模态方法进展及其主要不足</a:t>
            </a:r>
          </a:p>
        </p:txBody>
      </p:sp>
      <p:sp>
        <p:nvSpPr>
          <p:cNvPr id="15" name="Rectangle 14">
            <a:extLst>
              <a:ext uri="{FF2B5EF4-FFF2-40B4-BE49-F238E27FC236}">
                <a16:creationId xmlns:a16="http://schemas.microsoft.com/office/drawing/2014/main" id="{B3C5CD4D-F714-14D9-D8CE-AC45DB6D0820}"/>
              </a:ext>
            </a:extLst>
          </p:cNvPr>
          <p:cNvSpPr/>
          <p:nvPr/>
        </p:nvSpPr>
        <p:spPr>
          <a:xfrm>
            <a:off x="5376672" y="2665095"/>
            <a:ext cx="4160520" cy="10972"/>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6E4EE83B-3A03-DAC3-7878-43C740560C31}"/>
              </a:ext>
            </a:extLst>
          </p:cNvPr>
          <p:cNvSpPr txBox="1"/>
          <p:nvPr/>
        </p:nvSpPr>
        <p:spPr>
          <a:xfrm>
            <a:off x="4617720" y="3419856"/>
            <a:ext cx="713232" cy="424796"/>
          </a:xfrm>
          <a:prstGeom prst="rect">
            <a:avLst/>
          </a:prstGeom>
          <a:noFill/>
        </p:spPr>
        <p:txBody>
          <a:bodyPr wrap="square" lIns="0" tIns="0" rIns="0" bIns="0" anchor="t">
            <a:spAutoFit/>
          </a:bodyPr>
          <a:lstStyle/>
          <a:p>
            <a:pPr algn="l">
              <a:lnSpc>
                <a:spcPct val="105000"/>
              </a:lnSpc>
            </a:pPr>
            <a:r>
              <a:rPr sz="2800" b="1">
                <a:solidFill>
                  <a:srgbClr val="004E98"/>
                </a:solidFill>
                <a:latin typeface="Microsoft YaHei"/>
              </a:rPr>
              <a:t>03 /</a:t>
            </a:r>
          </a:p>
        </p:txBody>
      </p:sp>
      <p:sp>
        <p:nvSpPr>
          <p:cNvPr id="17" name="TextBox 16">
            <a:extLst>
              <a:ext uri="{FF2B5EF4-FFF2-40B4-BE49-F238E27FC236}">
                <a16:creationId xmlns:a16="http://schemas.microsoft.com/office/drawing/2014/main" id="{00D770E2-996E-EB01-F217-78BEF81E66DF}"/>
              </a:ext>
            </a:extLst>
          </p:cNvPr>
          <p:cNvSpPr txBox="1"/>
          <p:nvPr/>
        </p:nvSpPr>
        <p:spPr>
          <a:xfrm>
            <a:off x="5376672" y="3401568"/>
            <a:ext cx="2560320" cy="424796"/>
          </a:xfrm>
          <a:prstGeom prst="rect">
            <a:avLst/>
          </a:prstGeom>
          <a:noFill/>
        </p:spPr>
        <p:txBody>
          <a:bodyPr wrap="square" lIns="0" tIns="0" rIns="0" bIns="0" anchor="t">
            <a:spAutoFit/>
          </a:bodyPr>
          <a:lstStyle/>
          <a:p>
            <a:pPr algn="l">
              <a:lnSpc>
                <a:spcPct val="105000"/>
              </a:lnSpc>
            </a:pPr>
            <a:r>
              <a:rPr sz="2800" b="1">
                <a:solidFill>
                  <a:srgbClr val="16324F"/>
                </a:solidFill>
                <a:latin typeface="Microsoft YaHei"/>
              </a:rPr>
              <a:t>研究内容</a:t>
            </a:r>
          </a:p>
        </p:txBody>
      </p:sp>
      <p:sp>
        <p:nvSpPr>
          <p:cNvPr id="18" name="TextBox 17">
            <a:extLst>
              <a:ext uri="{FF2B5EF4-FFF2-40B4-BE49-F238E27FC236}">
                <a16:creationId xmlns:a16="http://schemas.microsoft.com/office/drawing/2014/main" id="{F62BE0EE-3D2E-379C-0A60-A475CDF27C5E}"/>
              </a:ext>
            </a:extLst>
          </p:cNvPr>
          <p:cNvSpPr txBox="1"/>
          <p:nvPr/>
        </p:nvSpPr>
        <p:spPr>
          <a:xfrm>
            <a:off x="5376672" y="3907917"/>
            <a:ext cx="4297680" cy="219456"/>
          </a:xfrm>
          <a:prstGeom prst="rect">
            <a:avLst/>
          </a:prstGeom>
          <a:noFill/>
        </p:spPr>
        <p:txBody>
          <a:bodyPr wrap="square" lIns="0" tIns="0" rIns="0" bIns="0" anchor="t">
            <a:spAutoFit/>
          </a:bodyPr>
          <a:lstStyle/>
          <a:p>
            <a:pPr algn="l">
              <a:lnSpc>
                <a:spcPct val="105000"/>
              </a:lnSpc>
            </a:pPr>
            <a:r>
              <a:rPr sz="1040" b="0">
                <a:solidFill>
                  <a:srgbClr val="5B6773"/>
                </a:solidFill>
                <a:latin typeface="微软雅黑 Light"/>
              </a:rPr>
              <a:t>CoT-CMP 与 KGAMA 两项核心方法及实验验证</a:t>
            </a:r>
          </a:p>
        </p:txBody>
      </p:sp>
      <p:sp>
        <p:nvSpPr>
          <p:cNvPr id="19" name="Rectangle 18">
            <a:extLst>
              <a:ext uri="{FF2B5EF4-FFF2-40B4-BE49-F238E27FC236}">
                <a16:creationId xmlns:a16="http://schemas.microsoft.com/office/drawing/2014/main" id="{44D5E721-919F-70E0-FDEE-38BA74D51B80}"/>
              </a:ext>
            </a:extLst>
          </p:cNvPr>
          <p:cNvSpPr/>
          <p:nvPr/>
        </p:nvSpPr>
        <p:spPr>
          <a:xfrm>
            <a:off x="5376672" y="3816477"/>
            <a:ext cx="4160520" cy="10972"/>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FA8F8F19-697C-D092-53E7-DF8B5B4F7CC8}"/>
              </a:ext>
            </a:extLst>
          </p:cNvPr>
          <p:cNvSpPr txBox="1"/>
          <p:nvPr/>
        </p:nvSpPr>
        <p:spPr>
          <a:xfrm>
            <a:off x="4617720" y="4590288"/>
            <a:ext cx="713232" cy="424796"/>
          </a:xfrm>
          <a:prstGeom prst="rect">
            <a:avLst/>
          </a:prstGeom>
          <a:noFill/>
        </p:spPr>
        <p:txBody>
          <a:bodyPr wrap="square" lIns="0" tIns="0" rIns="0" bIns="0" anchor="t">
            <a:spAutoFit/>
          </a:bodyPr>
          <a:lstStyle/>
          <a:p>
            <a:pPr algn="l">
              <a:lnSpc>
                <a:spcPct val="105000"/>
              </a:lnSpc>
            </a:pPr>
            <a:r>
              <a:rPr sz="2800" b="1">
                <a:solidFill>
                  <a:srgbClr val="004E98"/>
                </a:solidFill>
                <a:latin typeface="Microsoft YaHei"/>
              </a:rPr>
              <a:t>04 /</a:t>
            </a:r>
          </a:p>
        </p:txBody>
      </p:sp>
      <p:sp>
        <p:nvSpPr>
          <p:cNvPr id="21" name="TextBox 20">
            <a:extLst>
              <a:ext uri="{FF2B5EF4-FFF2-40B4-BE49-F238E27FC236}">
                <a16:creationId xmlns:a16="http://schemas.microsoft.com/office/drawing/2014/main" id="{69D2AFDA-5DD4-CB9A-93CB-0325EA7E61DE}"/>
              </a:ext>
            </a:extLst>
          </p:cNvPr>
          <p:cNvSpPr txBox="1"/>
          <p:nvPr/>
        </p:nvSpPr>
        <p:spPr>
          <a:xfrm>
            <a:off x="5376672" y="4572000"/>
            <a:ext cx="2560320" cy="424796"/>
          </a:xfrm>
          <a:prstGeom prst="rect">
            <a:avLst/>
          </a:prstGeom>
          <a:noFill/>
        </p:spPr>
        <p:txBody>
          <a:bodyPr wrap="square" lIns="0" tIns="0" rIns="0" bIns="0" anchor="t">
            <a:spAutoFit/>
          </a:bodyPr>
          <a:lstStyle/>
          <a:p>
            <a:pPr algn="l">
              <a:lnSpc>
                <a:spcPct val="105000"/>
              </a:lnSpc>
            </a:pPr>
            <a:r>
              <a:rPr sz="2800" b="1">
                <a:solidFill>
                  <a:srgbClr val="16324F"/>
                </a:solidFill>
                <a:latin typeface="Microsoft YaHei"/>
              </a:rPr>
              <a:t>结论与展望</a:t>
            </a:r>
          </a:p>
        </p:txBody>
      </p:sp>
      <p:sp>
        <p:nvSpPr>
          <p:cNvPr id="22" name="TextBox 21">
            <a:extLst>
              <a:ext uri="{FF2B5EF4-FFF2-40B4-BE49-F238E27FC236}">
                <a16:creationId xmlns:a16="http://schemas.microsoft.com/office/drawing/2014/main" id="{0819E360-0B0F-DF9E-DFD2-A013224AE60A}"/>
              </a:ext>
            </a:extLst>
          </p:cNvPr>
          <p:cNvSpPr txBox="1"/>
          <p:nvPr/>
        </p:nvSpPr>
        <p:spPr>
          <a:xfrm>
            <a:off x="5376672" y="5087874"/>
            <a:ext cx="4297680" cy="219456"/>
          </a:xfrm>
          <a:prstGeom prst="rect">
            <a:avLst/>
          </a:prstGeom>
          <a:noFill/>
        </p:spPr>
        <p:txBody>
          <a:bodyPr wrap="square" lIns="0" tIns="0" rIns="0" bIns="0" anchor="t">
            <a:spAutoFit/>
          </a:bodyPr>
          <a:lstStyle/>
          <a:p>
            <a:pPr algn="l">
              <a:lnSpc>
                <a:spcPct val="105000"/>
              </a:lnSpc>
            </a:pPr>
            <a:r>
              <a:rPr sz="1040" b="0">
                <a:solidFill>
                  <a:srgbClr val="5B6773"/>
                </a:solidFill>
                <a:latin typeface="微软雅黑 Light"/>
              </a:rPr>
              <a:t>研究贡献、局限性与未来工作方向</a:t>
            </a:r>
          </a:p>
        </p:txBody>
      </p:sp>
      <p:sp>
        <p:nvSpPr>
          <p:cNvPr id="23" name="Rectangle 22">
            <a:extLst>
              <a:ext uri="{FF2B5EF4-FFF2-40B4-BE49-F238E27FC236}">
                <a16:creationId xmlns:a16="http://schemas.microsoft.com/office/drawing/2014/main" id="{C0373EEE-CA2B-E05D-B288-DEC9E2453E81}"/>
              </a:ext>
            </a:extLst>
          </p:cNvPr>
          <p:cNvSpPr/>
          <p:nvPr/>
        </p:nvSpPr>
        <p:spPr>
          <a:xfrm>
            <a:off x="5376672" y="4996433"/>
            <a:ext cx="4160520" cy="10972"/>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661081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80160" y="329974"/>
            <a:ext cx="5669280" cy="309315"/>
          </a:xfrm>
          <a:prstGeom prst="rect">
            <a:avLst/>
          </a:prstGeom>
          <a:noFill/>
        </p:spPr>
        <p:txBody>
          <a:bodyPr wrap="square" lIns="0" tIns="0" rIns="0" bIns="0" anchor="t">
            <a:spAutoFit/>
          </a:bodyPr>
          <a:lstStyle/>
          <a:p>
            <a:pPr>
              <a:lnSpc>
                <a:spcPct val="105000"/>
              </a:lnSpc>
            </a:pPr>
            <a:r>
              <a:rPr lang="zh-CN" altLang="en-US" sz="2000" b="1" dirty="0">
                <a:solidFill>
                  <a:srgbClr val="004E98"/>
                </a:solidFill>
                <a:latin typeface="微软雅黑" panose="020B0503020204020204" pitchFamily="34" charset="-122"/>
                <a:ea typeface="微软雅黑" panose="020B0503020204020204" pitchFamily="34" charset="-122"/>
              </a:rPr>
              <a:t>研究现状：从单模态建模到多模态融合</a:t>
            </a:r>
            <a:endParaRPr sz="2000" b="1" dirty="0">
              <a:solidFill>
                <a:srgbClr val="004E98"/>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7178040" y="338328"/>
            <a:ext cx="2880360" cy="274320"/>
          </a:xfrm>
          <a:prstGeom prst="rect">
            <a:avLst/>
          </a:prstGeom>
          <a:noFill/>
        </p:spPr>
        <p:txBody>
          <a:bodyPr wrap="square" lIns="0" tIns="0" rIns="0" bIns="0" anchor="t">
            <a:spAutoFit/>
          </a:bodyPr>
          <a:lstStyle/>
          <a:p>
            <a:pPr algn="r">
              <a:lnSpc>
                <a:spcPct val="105000"/>
              </a:lnSpc>
            </a:pPr>
            <a:r>
              <a:rPr sz="950" b="0">
                <a:solidFill>
                  <a:srgbClr val="347AA7"/>
                </a:solidFill>
                <a:latin typeface="微软雅黑 Light"/>
              </a:rPr>
              <a:t>第二部分 研究现状</a:t>
            </a:r>
          </a:p>
        </p:txBody>
      </p:sp>
      <p:pic>
        <p:nvPicPr>
          <p:cNvPr id="7" name="Picture 6" descr="logo.png"/>
          <p:cNvPicPr>
            <a:picLocks noChangeAspect="1"/>
          </p:cNvPicPr>
          <p:nvPr/>
        </p:nvPicPr>
        <p:blipFill>
          <a:blip r:embed="rId2"/>
          <a:stretch>
            <a:fillRect/>
          </a:stretch>
        </p:blipFill>
        <p:spPr>
          <a:xfrm>
            <a:off x="11301984" y="310896"/>
            <a:ext cx="402336" cy="457200"/>
          </a:xfrm>
          <a:prstGeom prst="rect">
            <a:avLst/>
          </a:prstGeom>
        </p:spPr>
      </p:pic>
      <p:sp>
        <p:nvSpPr>
          <p:cNvPr id="8" name="Rectangle 7"/>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sp>
        <p:nvSpPr>
          <p:cNvPr id="10" name="TextBox 9"/>
          <p:cNvSpPr txBox="1"/>
          <p:nvPr/>
        </p:nvSpPr>
        <p:spPr>
          <a:xfrm>
            <a:off x="11384280" y="6565392"/>
            <a:ext cx="384048" cy="256032"/>
          </a:xfrm>
          <a:prstGeom prst="rect">
            <a:avLst/>
          </a:prstGeom>
          <a:noFill/>
        </p:spPr>
        <p:txBody>
          <a:bodyPr wrap="square" lIns="0" tIns="0" rIns="0" bIns="0" anchor="ctr">
            <a:spAutoFit/>
          </a:bodyPr>
          <a:lstStyle/>
          <a:p>
            <a:pPr algn="r">
              <a:lnSpc>
                <a:spcPct val="105000"/>
              </a:lnSpc>
            </a:pPr>
            <a:r>
              <a:rPr sz="900" b="0">
                <a:solidFill>
                  <a:srgbClr val="FFFFFF"/>
                </a:solidFill>
                <a:latin typeface="微软雅黑 Light"/>
              </a:rPr>
              <a:t>08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FE69D-9F0C-8115-2DC3-918972437C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758923-A593-BE3A-79AF-3F53561ED228}"/>
              </a:ext>
            </a:extLst>
          </p:cNvPr>
          <p:cNvSpPr/>
          <p:nvPr/>
        </p:nvSpPr>
        <p:spPr>
          <a:xfrm>
            <a:off x="-18288" y="0"/>
            <a:ext cx="3383280" cy="6858000"/>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a:extLst>
              <a:ext uri="{FF2B5EF4-FFF2-40B4-BE49-F238E27FC236}">
                <a16:creationId xmlns:a16="http://schemas.microsoft.com/office/drawing/2014/main" id="{E7CCADB3-9F8A-C223-B821-82D605F35095}"/>
              </a:ext>
            </a:extLst>
          </p:cNvPr>
          <p:cNvSpPr/>
          <p:nvPr/>
        </p:nvSpPr>
        <p:spPr>
          <a:xfrm>
            <a:off x="2560320" y="0"/>
            <a:ext cx="1325880" cy="6858000"/>
          </a:xfrm>
          <a:prstGeom prst="rtTriangle">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5A41145-433B-3DEF-5EE9-66FFF05A817F}"/>
              </a:ext>
            </a:extLst>
          </p:cNvPr>
          <p:cNvSpPr txBox="1"/>
          <p:nvPr/>
        </p:nvSpPr>
        <p:spPr>
          <a:xfrm>
            <a:off x="438912" y="1005840"/>
            <a:ext cx="822960" cy="822960"/>
          </a:xfrm>
          <a:prstGeom prst="rect">
            <a:avLst/>
          </a:prstGeom>
          <a:noFill/>
        </p:spPr>
        <p:txBody>
          <a:bodyPr wrap="square" lIns="0" tIns="0" rIns="0" bIns="0" anchor="t">
            <a:spAutoFit/>
          </a:bodyPr>
          <a:lstStyle/>
          <a:p>
            <a:pPr algn="ctr">
              <a:lnSpc>
                <a:spcPct val="105000"/>
              </a:lnSpc>
            </a:pPr>
            <a:r>
              <a:rPr sz="4200" b="1">
                <a:solidFill>
                  <a:srgbClr val="FFFFFF"/>
                </a:solidFill>
                <a:latin typeface="方正正中黑简体"/>
              </a:rPr>
              <a:t>目</a:t>
            </a:r>
          </a:p>
        </p:txBody>
      </p:sp>
      <p:sp>
        <p:nvSpPr>
          <p:cNvPr id="5" name="TextBox 4">
            <a:extLst>
              <a:ext uri="{FF2B5EF4-FFF2-40B4-BE49-F238E27FC236}">
                <a16:creationId xmlns:a16="http://schemas.microsoft.com/office/drawing/2014/main" id="{50359B34-24D2-C60C-586F-B998168852DF}"/>
              </a:ext>
            </a:extLst>
          </p:cNvPr>
          <p:cNvSpPr txBox="1"/>
          <p:nvPr/>
        </p:nvSpPr>
        <p:spPr>
          <a:xfrm>
            <a:off x="1243584" y="1810512"/>
            <a:ext cx="822960" cy="822960"/>
          </a:xfrm>
          <a:prstGeom prst="rect">
            <a:avLst/>
          </a:prstGeom>
          <a:noFill/>
        </p:spPr>
        <p:txBody>
          <a:bodyPr wrap="square" lIns="0" tIns="0" rIns="0" bIns="0" anchor="t">
            <a:spAutoFit/>
          </a:bodyPr>
          <a:lstStyle/>
          <a:p>
            <a:pPr algn="ctr">
              <a:lnSpc>
                <a:spcPct val="105000"/>
              </a:lnSpc>
            </a:pPr>
            <a:r>
              <a:rPr sz="4200" b="1">
                <a:solidFill>
                  <a:srgbClr val="FFFFFF"/>
                </a:solidFill>
                <a:latin typeface="方正正中黑简体"/>
              </a:rPr>
              <a:t>录</a:t>
            </a:r>
          </a:p>
        </p:txBody>
      </p:sp>
      <p:sp>
        <p:nvSpPr>
          <p:cNvPr id="6" name="TextBox 5">
            <a:extLst>
              <a:ext uri="{FF2B5EF4-FFF2-40B4-BE49-F238E27FC236}">
                <a16:creationId xmlns:a16="http://schemas.microsoft.com/office/drawing/2014/main" id="{6EB461A2-77B2-8761-C135-3285B0056846}"/>
              </a:ext>
            </a:extLst>
          </p:cNvPr>
          <p:cNvSpPr txBox="1"/>
          <p:nvPr/>
        </p:nvSpPr>
        <p:spPr>
          <a:xfrm>
            <a:off x="365760" y="3246120"/>
            <a:ext cx="2148840" cy="310896"/>
          </a:xfrm>
          <a:prstGeom prst="rect">
            <a:avLst/>
          </a:prstGeom>
          <a:noFill/>
        </p:spPr>
        <p:txBody>
          <a:bodyPr wrap="square" lIns="0" tIns="0" rIns="0" bIns="0" anchor="t">
            <a:spAutoFit/>
          </a:bodyPr>
          <a:lstStyle/>
          <a:p>
            <a:pPr algn="l">
              <a:lnSpc>
                <a:spcPct val="105000"/>
              </a:lnSpc>
            </a:pPr>
            <a:r>
              <a:rPr sz="1700" b="0">
                <a:solidFill>
                  <a:srgbClr val="D9EAF7"/>
                </a:solidFill>
                <a:latin typeface="Aptos"/>
              </a:rPr>
              <a:t>CONTENTS</a:t>
            </a:r>
          </a:p>
        </p:txBody>
      </p:sp>
      <p:pic>
        <p:nvPicPr>
          <p:cNvPr id="7" name="Picture 6" descr="logo.png">
            <a:extLst>
              <a:ext uri="{FF2B5EF4-FFF2-40B4-BE49-F238E27FC236}">
                <a16:creationId xmlns:a16="http://schemas.microsoft.com/office/drawing/2014/main" id="{D3E13178-8343-CF89-B204-04BDE382A6BA}"/>
              </a:ext>
            </a:extLst>
          </p:cNvPr>
          <p:cNvPicPr>
            <a:picLocks noChangeAspect="1"/>
          </p:cNvPicPr>
          <p:nvPr/>
        </p:nvPicPr>
        <p:blipFill>
          <a:blip r:embed="rId2"/>
          <a:stretch>
            <a:fillRect/>
          </a:stretch>
        </p:blipFill>
        <p:spPr>
          <a:xfrm>
            <a:off x="11301984" y="310896"/>
            <a:ext cx="402336" cy="457200"/>
          </a:xfrm>
          <a:prstGeom prst="rect">
            <a:avLst/>
          </a:prstGeom>
        </p:spPr>
      </p:pic>
      <p:sp>
        <p:nvSpPr>
          <p:cNvPr id="8" name="TextBox 7">
            <a:extLst>
              <a:ext uri="{FF2B5EF4-FFF2-40B4-BE49-F238E27FC236}">
                <a16:creationId xmlns:a16="http://schemas.microsoft.com/office/drawing/2014/main" id="{AE1E0ABE-AD16-1763-CFFE-31BFBC835572}"/>
              </a:ext>
            </a:extLst>
          </p:cNvPr>
          <p:cNvSpPr txBox="1"/>
          <p:nvPr/>
        </p:nvSpPr>
        <p:spPr>
          <a:xfrm>
            <a:off x="4617720" y="1078992"/>
            <a:ext cx="713232" cy="424796"/>
          </a:xfrm>
          <a:prstGeom prst="rect">
            <a:avLst/>
          </a:prstGeom>
          <a:noFill/>
        </p:spPr>
        <p:txBody>
          <a:bodyPr wrap="square" lIns="0" tIns="0" rIns="0" bIns="0" anchor="t">
            <a:spAutoFit/>
          </a:bodyPr>
          <a:lstStyle/>
          <a:p>
            <a:pPr algn="l">
              <a:lnSpc>
                <a:spcPct val="105000"/>
              </a:lnSpc>
            </a:pPr>
            <a:r>
              <a:rPr sz="2800" b="1" dirty="0">
                <a:solidFill>
                  <a:srgbClr val="004E98"/>
                </a:solidFill>
                <a:latin typeface="Microsoft YaHei"/>
              </a:rPr>
              <a:t>01 /</a:t>
            </a:r>
          </a:p>
        </p:txBody>
      </p:sp>
      <p:sp>
        <p:nvSpPr>
          <p:cNvPr id="9" name="TextBox 8">
            <a:extLst>
              <a:ext uri="{FF2B5EF4-FFF2-40B4-BE49-F238E27FC236}">
                <a16:creationId xmlns:a16="http://schemas.microsoft.com/office/drawing/2014/main" id="{D928A39B-A1C9-3921-B325-3F56B909DADB}"/>
              </a:ext>
            </a:extLst>
          </p:cNvPr>
          <p:cNvSpPr txBox="1"/>
          <p:nvPr/>
        </p:nvSpPr>
        <p:spPr>
          <a:xfrm>
            <a:off x="5376672" y="1060704"/>
            <a:ext cx="2560320" cy="424796"/>
          </a:xfrm>
          <a:prstGeom prst="rect">
            <a:avLst/>
          </a:prstGeom>
          <a:noFill/>
        </p:spPr>
        <p:txBody>
          <a:bodyPr wrap="square" lIns="0" tIns="0" rIns="0" bIns="0" anchor="t">
            <a:spAutoFit/>
          </a:bodyPr>
          <a:lstStyle/>
          <a:p>
            <a:pPr algn="l">
              <a:lnSpc>
                <a:spcPct val="105000"/>
              </a:lnSpc>
            </a:pPr>
            <a:r>
              <a:rPr sz="2800" b="1" dirty="0" err="1">
                <a:solidFill>
                  <a:srgbClr val="16324F"/>
                </a:solidFill>
                <a:latin typeface="Microsoft YaHei"/>
              </a:rPr>
              <a:t>研究背景与意义</a:t>
            </a:r>
            <a:endParaRPr sz="2800" b="1" dirty="0">
              <a:solidFill>
                <a:srgbClr val="16324F"/>
              </a:solidFill>
              <a:latin typeface="Microsoft YaHei"/>
            </a:endParaRPr>
          </a:p>
        </p:txBody>
      </p:sp>
      <p:sp>
        <p:nvSpPr>
          <p:cNvPr id="10" name="TextBox 9">
            <a:extLst>
              <a:ext uri="{FF2B5EF4-FFF2-40B4-BE49-F238E27FC236}">
                <a16:creationId xmlns:a16="http://schemas.microsoft.com/office/drawing/2014/main" id="{4EC4BDE6-7F8D-7C53-ECCA-53D2D4848935}"/>
              </a:ext>
            </a:extLst>
          </p:cNvPr>
          <p:cNvSpPr txBox="1"/>
          <p:nvPr/>
        </p:nvSpPr>
        <p:spPr>
          <a:xfrm>
            <a:off x="5376672" y="1586103"/>
            <a:ext cx="4297680" cy="219456"/>
          </a:xfrm>
          <a:prstGeom prst="rect">
            <a:avLst/>
          </a:prstGeom>
          <a:noFill/>
        </p:spPr>
        <p:txBody>
          <a:bodyPr wrap="square" lIns="0" tIns="0" rIns="0" bIns="0" anchor="t">
            <a:spAutoFit/>
          </a:bodyPr>
          <a:lstStyle/>
          <a:p>
            <a:pPr algn="l">
              <a:lnSpc>
                <a:spcPct val="105000"/>
              </a:lnSpc>
            </a:pPr>
            <a:r>
              <a:rPr sz="1040" b="0" dirty="0" err="1">
                <a:solidFill>
                  <a:srgbClr val="5B6773"/>
                </a:solidFill>
                <a:latin typeface="微软雅黑 Light"/>
              </a:rPr>
              <a:t>药物发现早筛需求与多模态分子性质预测价值</a:t>
            </a:r>
            <a:endParaRPr sz="1040" b="0" dirty="0">
              <a:solidFill>
                <a:srgbClr val="5B6773"/>
              </a:solidFill>
              <a:latin typeface="微软雅黑 Light"/>
            </a:endParaRPr>
          </a:p>
        </p:txBody>
      </p:sp>
      <p:sp>
        <p:nvSpPr>
          <p:cNvPr id="11" name="Rectangle 10">
            <a:extLst>
              <a:ext uri="{FF2B5EF4-FFF2-40B4-BE49-F238E27FC236}">
                <a16:creationId xmlns:a16="http://schemas.microsoft.com/office/drawing/2014/main" id="{48881B05-476B-B9FB-6E6D-F0993C17A590}"/>
              </a:ext>
            </a:extLst>
          </p:cNvPr>
          <p:cNvSpPr/>
          <p:nvPr/>
        </p:nvSpPr>
        <p:spPr>
          <a:xfrm>
            <a:off x="5376672" y="1494663"/>
            <a:ext cx="4160520" cy="10972"/>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0EF1933C-15D3-93EB-D102-A8770BE2723F}"/>
              </a:ext>
            </a:extLst>
          </p:cNvPr>
          <p:cNvSpPr txBox="1"/>
          <p:nvPr/>
        </p:nvSpPr>
        <p:spPr>
          <a:xfrm>
            <a:off x="4617720" y="2249424"/>
            <a:ext cx="713232" cy="424796"/>
          </a:xfrm>
          <a:prstGeom prst="rect">
            <a:avLst/>
          </a:prstGeom>
          <a:noFill/>
        </p:spPr>
        <p:txBody>
          <a:bodyPr wrap="square" lIns="0" tIns="0" rIns="0" bIns="0" anchor="t">
            <a:spAutoFit/>
          </a:bodyPr>
          <a:lstStyle/>
          <a:p>
            <a:pPr algn="l">
              <a:lnSpc>
                <a:spcPct val="105000"/>
              </a:lnSpc>
            </a:pPr>
            <a:r>
              <a:rPr sz="2800" b="1">
                <a:solidFill>
                  <a:srgbClr val="004E98"/>
                </a:solidFill>
                <a:latin typeface="Microsoft YaHei"/>
              </a:rPr>
              <a:t>02 /</a:t>
            </a:r>
          </a:p>
        </p:txBody>
      </p:sp>
      <p:sp>
        <p:nvSpPr>
          <p:cNvPr id="13" name="TextBox 12">
            <a:extLst>
              <a:ext uri="{FF2B5EF4-FFF2-40B4-BE49-F238E27FC236}">
                <a16:creationId xmlns:a16="http://schemas.microsoft.com/office/drawing/2014/main" id="{67657B70-CE06-FB66-BE01-77675D7BA2AA}"/>
              </a:ext>
            </a:extLst>
          </p:cNvPr>
          <p:cNvSpPr txBox="1"/>
          <p:nvPr/>
        </p:nvSpPr>
        <p:spPr>
          <a:xfrm>
            <a:off x="5376672" y="2231136"/>
            <a:ext cx="2560320" cy="424796"/>
          </a:xfrm>
          <a:prstGeom prst="rect">
            <a:avLst/>
          </a:prstGeom>
          <a:noFill/>
        </p:spPr>
        <p:txBody>
          <a:bodyPr wrap="square" lIns="0" tIns="0" rIns="0" bIns="0" anchor="t">
            <a:spAutoFit/>
          </a:bodyPr>
          <a:lstStyle/>
          <a:p>
            <a:pPr algn="l">
              <a:lnSpc>
                <a:spcPct val="105000"/>
              </a:lnSpc>
            </a:pPr>
            <a:r>
              <a:rPr sz="2800" b="1">
                <a:solidFill>
                  <a:srgbClr val="16324F"/>
                </a:solidFill>
                <a:latin typeface="Microsoft YaHei"/>
              </a:rPr>
              <a:t>研究现状</a:t>
            </a:r>
          </a:p>
        </p:txBody>
      </p:sp>
      <p:sp>
        <p:nvSpPr>
          <p:cNvPr id="14" name="TextBox 13">
            <a:extLst>
              <a:ext uri="{FF2B5EF4-FFF2-40B4-BE49-F238E27FC236}">
                <a16:creationId xmlns:a16="http://schemas.microsoft.com/office/drawing/2014/main" id="{5943F8F7-F8F4-11D2-442E-67A42C7F3020}"/>
              </a:ext>
            </a:extLst>
          </p:cNvPr>
          <p:cNvSpPr txBox="1"/>
          <p:nvPr/>
        </p:nvSpPr>
        <p:spPr>
          <a:xfrm>
            <a:off x="5376672" y="2756535"/>
            <a:ext cx="4297680" cy="219456"/>
          </a:xfrm>
          <a:prstGeom prst="rect">
            <a:avLst/>
          </a:prstGeom>
          <a:noFill/>
        </p:spPr>
        <p:txBody>
          <a:bodyPr wrap="square" lIns="0" tIns="0" rIns="0" bIns="0" anchor="t">
            <a:spAutoFit/>
          </a:bodyPr>
          <a:lstStyle/>
          <a:p>
            <a:pPr algn="l">
              <a:lnSpc>
                <a:spcPct val="105000"/>
              </a:lnSpc>
            </a:pPr>
            <a:r>
              <a:rPr sz="1040" b="0">
                <a:solidFill>
                  <a:srgbClr val="5B6773"/>
                </a:solidFill>
                <a:latin typeface="微软雅黑 Light"/>
              </a:rPr>
              <a:t>单模态、多模态方法进展及其主要不足</a:t>
            </a:r>
          </a:p>
        </p:txBody>
      </p:sp>
      <p:sp>
        <p:nvSpPr>
          <p:cNvPr id="15" name="Rectangle 14">
            <a:extLst>
              <a:ext uri="{FF2B5EF4-FFF2-40B4-BE49-F238E27FC236}">
                <a16:creationId xmlns:a16="http://schemas.microsoft.com/office/drawing/2014/main" id="{CFB6DAA9-31BB-A5D0-B02B-B60ED67FDD0D}"/>
              </a:ext>
            </a:extLst>
          </p:cNvPr>
          <p:cNvSpPr/>
          <p:nvPr/>
        </p:nvSpPr>
        <p:spPr>
          <a:xfrm>
            <a:off x="5376672" y="2665095"/>
            <a:ext cx="4160520" cy="10972"/>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277C9399-1131-988E-3690-B23C16BB73F4}"/>
              </a:ext>
            </a:extLst>
          </p:cNvPr>
          <p:cNvSpPr txBox="1"/>
          <p:nvPr/>
        </p:nvSpPr>
        <p:spPr>
          <a:xfrm>
            <a:off x="4617720" y="3419856"/>
            <a:ext cx="713232" cy="424796"/>
          </a:xfrm>
          <a:prstGeom prst="rect">
            <a:avLst/>
          </a:prstGeom>
          <a:noFill/>
        </p:spPr>
        <p:txBody>
          <a:bodyPr wrap="square" lIns="0" tIns="0" rIns="0" bIns="0" anchor="t">
            <a:spAutoFit/>
          </a:bodyPr>
          <a:lstStyle/>
          <a:p>
            <a:pPr algn="l">
              <a:lnSpc>
                <a:spcPct val="105000"/>
              </a:lnSpc>
            </a:pPr>
            <a:r>
              <a:rPr sz="2800" b="1">
                <a:solidFill>
                  <a:srgbClr val="004E98"/>
                </a:solidFill>
                <a:latin typeface="Microsoft YaHei"/>
              </a:rPr>
              <a:t>03 /</a:t>
            </a:r>
          </a:p>
        </p:txBody>
      </p:sp>
      <p:sp>
        <p:nvSpPr>
          <p:cNvPr id="17" name="TextBox 16">
            <a:extLst>
              <a:ext uri="{FF2B5EF4-FFF2-40B4-BE49-F238E27FC236}">
                <a16:creationId xmlns:a16="http://schemas.microsoft.com/office/drawing/2014/main" id="{26AC19B2-7B67-296A-7957-CF60205217EE}"/>
              </a:ext>
            </a:extLst>
          </p:cNvPr>
          <p:cNvSpPr txBox="1"/>
          <p:nvPr/>
        </p:nvSpPr>
        <p:spPr>
          <a:xfrm>
            <a:off x="5376672" y="3401568"/>
            <a:ext cx="2560320" cy="424796"/>
          </a:xfrm>
          <a:prstGeom prst="rect">
            <a:avLst/>
          </a:prstGeom>
          <a:noFill/>
        </p:spPr>
        <p:txBody>
          <a:bodyPr wrap="square" lIns="0" tIns="0" rIns="0" bIns="0" anchor="t">
            <a:spAutoFit/>
          </a:bodyPr>
          <a:lstStyle/>
          <a:p>
            <a:pPr algn="l">
              <a:lnSpc>
                <a:spcPct val="105000"/>
              </a:lnSpc>
            </a:pPr>
            <a:r>
              <a:rPr sz="2800" b="1" dirty="0" err="1">
                <a:solidFill>
                  <a:srgbClr val="004E98"/>
                </a:solidFill>
                <a:latin typeface="Microsoft YaHei"/>
              </a:rPr>
              <a:t>研究内容</a:t>
            </a:r>
            <a:endParaRPr sz="2800" b="1" dirty="0">
              <a:solidFill>
                <a:srgbClr val="004E98"/>
              </a:solidFill>
              <a:latin typeface="Microsoft YaHei"/>
            </a:endParaRPr>
          </a:p>
        </p:txBody>
      </p:sp>
      <p:sp>
        <p:nvSpPr>
          <p:cNvPr id="18" name="TextBox 17">
            <a:extLst>
              <a:ext uri="{FF2B5EF4-FFF2-40B4-BE49-F238E27FC236}">
                <a16:creationId xmlns:a16="http://schemas.microsoft.com/office/drawing/2014/main" id="{5447403A-5E6D-B76F-FACD-D569CF253701}"/>
              </a:ext>
            </a:extLst>
          </p:cNvPr>
          <p:cNvSpPr txBox="1"/>
          <p:nvPr/>
        </p:nvSpPr>
        <p:spPr>
          <a:xfrm>
            <a:off x="5376672" y="3907917"/>
            <a:ext cx="4297680" cy="219456"/>
          </a:xfrm>
          <a:prstGeom prst="rect">
            <a:avLst/>
          </a:prstGeom>
          <a:noFill/>
        </p:spPr>
        <p:txBody>
          <a:bodyPr wrap="square" lIns="0" tIns="0" rIns="0" bIns="0" anchor="t">
            <a:spAutoFit/>
          </a:bodyPr>
          <a:lstStyle/>
          <a:p>
            <a:pPr algn="l">
              <a:lnSpc>
                <a:spcPct val="105000"/>
              </a:lnSpc>
            </a:pPr>
            <a:r>
              <a:rPr sz="1040" b="0">
                <a:solidFill>
                  <a:srgbClr val="5B6773"/>
                </a:solidFill>
                <a:latin typeface="微软雅黑 Light"/>
              </a:rPr>
              <a:t>CoT-CMP 与 KGAMA 两项核心方法及实验验证</a:t>
            </a:r>
          </a:p>
        </p:txBody>
      </p:sp>
      <p:sp>
        <p:nvSpPr>
          <p:cNvPr id="19" name="Rectangle 18">
            <a:extLst>
              <a:ext uri="{FF2B5EF4-FFF2-40B4-BE49-F238E27FC236}">
                <a16:creationId xmlns:a16="http://schemas.microsoft.com/office/drawing/2014/main" id="{37CC9385-2520-8DEB-37A6-41486DEA2BB6}"/>
              </a:ext>
            </a:extLst>
          </p:cNvPr>
          <p:cNvSpPr/>
          <p:nvPr/>
        </p:nvSpPr>
        <p:spPr>
          <a:xfrm>
            <a:off x="5376672" y="3816477"/>
            <a:ext cx="4160520" cy="10972"/>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9AA9E77A-0963-BAE9-7B10-3E6B25C92865}"/>
              </a:ext>
            </a:extLst>
          </p:cNvPr>
          <p:cNvSpPr txBox="1"/>
          <p:nvPr/>
        </p:nvSpPr>
        <p:spPr>
          <a:xfrm>
            <a:off x="4617720" y="4590288"/>
            <a:ext cx="713232" cy="424796"/>
          </a:xfrm>
          <a:prstGeom prst="rect">
            <a:avLst/>
          </a:prstGeom>
          <a:noFill/>
        </p:spPr>
        <p:txBody>
          <a:bodyPr wrap="square" lIns="0" tIns="0" rIns="0" bIns="0" anchor="t">
            <a:spAutoFit/>
          </a:bodyPr>
          <a:lstStyle/>
          <a:p>
            <a:pPr algn="l">
              <a:lnSpc>
                <a:spcPct val="105000"/>
              </a:lnSpc>
            </a:pPr>
            <a:r>
              <a:rPr sz="2800" b="1">
                <a:solidFill>
                  <a:srgbClr val="004E98"/>
                </a:solidFill>
                <a:latin typeface="Microsoft YaHei"/>
              </a:rPr>
              <a:t>04 /</a:t>
            </a:r>
          </a:p>
        </p:txBody>
      </p:sp>
      <p:sp>
        <p:nvSpPr>
          <p:cNvPr id="21" name="TextBox 20">
            <a:extLst>
              <a:ext uri="{FF2B5EF4-FFF2-40B4-BE49-F238E27FC236}">
                <a16:creationId xmlns:a16="http://schemas.microsoft.com/office/drawing/2014/main" id="{347DAB9F-EED1-DFDD-2F2A-6301683CF69B}"/>
              </a:ext>
            </a:extLst>
          </p:cNvPr>
          <p:cNvSpPr txBox="1"/>
          <p:nvPr/>
        </p:nvSpPr>
        <p:spPr>
          <a:xfrm>
            <a:off x="5376672" y="4572000"/>
            <a:ext cx="2560320" cy="424796"/>
          </a:xfrm>
          <a:prstGeom prst="rect">
            <a:avLst/>
          </a:prstGeom>
          <a:noFill/>
        </p:spPr>
        <p:txBody>
          <a:bodyPr wrap="square" lIns="0" tIns="0" rIns="0" bIns="0" anchor="t">
            <a:spAutoFit/>
          </a:bodyPr>
          <a:lstStyle/>
          <a:p>
            <a:pPr algn="l">
              <a:lnSpc>
                <a:spcPct val="105000"/>
              </a:lnSpc>
            </a:pPr>
            <a:r>
              <a:rPr sz="2800" b="1">
                <a:solidFill>
                  <a:srgbClr val="16324F"/>
                </a:solidFill>
                <a:latin typeface="Microsoft YaHei"/>
              </a:rPr>
              <a:t>结论与展望</a:t>
            </a:r>
          </a:p>
        </p:txBody>
      </p:sp>
      <p:sp>
        <p:nvSpPr>
          <p:cNvPr id="22" name="TextBox 21">
            <a:extLst>
              <a:ext uri="{FF2B5EF4-FFF2-40B4-BE49-F238E27FC236}">
                <a16:creationId xmlns:a16="http://schemas.microsoft.com/office/drawing/2014/main" id="{538CB55E-E265-0BAE-7B63-051272AAB793}"/>
              </a:ext>
            </a:extLst>
          </p:cNvPr>
          <p:cNvSpPr txBox="1"/>
          <p:nvPr/>
        </p:nvSpPr>
        <p:spPr>
          <a:xfrm>
            <a:off x="5376672" y="5087874"/>
            <a:ext cx="4297680" cy="219456"/>
          </a:xfrm>
          <a:prstGeom prst="rect">
            <a:avLst/>
          </a:prstGeom>
          <a:noFill/>
        </p:spPr>
        <p:txBody>
          <a:bodyPr wrap="square" lIns="0" tIns="0" rIns="0" bIns="0" anchor="t">
            <a:spAutoFit/>
          </a:bodyPr>
          <a:lstStyle/>
          <a:p>
            <a:pPr algn="l">
              <a:lnSpc>
                <a:spcPct val="105000"/>
              </a:lnSpc>
            </a:pPr>
            <a:r>
              <a:rPr sz="1040" b="0">
                <a:solidFill>
                  <a:srgbClr val="5B6773"/>
                </a:solidFill>
                <a:latin typeface="微软雅黑 Light"/>
              </a:rPr>
              <a:t>研究贡献、局限性与未来工作方向</a:t>
            </a:r>
          </a:p>
        </p:txBody>
      </p:sp>
      <p:sp>
        <p:nvSpPr>
          <p:cNvPr id="23" name="Rectangle 22">
            <a:extLst>
              <a:ext uri="{FF2B5EF4-FFF2-40B4-BE49-F238E27FC236}">
                <a16:creationId xmlns:a16="http://schemas.microsoft.com/office/drawing/2014/main" id="{92656483-649A-EEA0-3277-587305F5EB86}"/>
              </a:ext>
            </a:extLst>
          </p:cNvPr>
          <p:cNvSpPr/>
          <p:nvPr/>
        </p:nvSpPr>
        <p:spPr>
          <a:xfrm>
            <a:off x="5376672" y="4996433"/>
            <a:ext cx="4160520" cy="10972"/>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205080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10640" y="310896"/>
            <a:ext cx="4785360" cy="309315"/>
          </a:xfrm>
          <a:prstGeom prst="rect">
            <a:avLst/>
          </a:prstGeom>
          <a:noFill/>
        </p:spPr>
        <p:txBody>
          <a:bodyPr wrap="square" lIns="0" tIns="0" rIns="0" bIns="0" anchor="t">
            <a:spAutoFit/>
          </a:bodyPr>
          <a:lstStyle/>
          <a:p>
            <a:pPr>
              <a:lnSpc>
                <a:spcPct val="105000"/>
              </a:lnSpc>
            </a:pPr>
            <a:r>
              <a:rPr sz="2000" b="1" dirty="0" err="1">
                <a:solidFill>
                  <a:srgbClr val="004E98"/>
                </a:solidFill>
                <a:latin typeface="微软雅黑" panose="020B0503020204020204" pitchFamily="34" charset="-122"/>
                <a:ea typeface="微软雅黑" panose="020B0503020204020204" pitchFamily="34" charset="-122"/>
              </a:rPr>
              <a:t>研究内容</a:t>
            </a:r>
            <a:r>
              <a:rPr lang="zh-CN" altLang="en-US" sz="2000" b="1" dirty="0">
                <a:solidFill>
                  <a:srgbClr val="004E98"/>
                </a:solidFill>
                <a:latin typeface="微软雅黑" panose="020B0503020204020204" pitchFamily="34" charset="-122"/>
                <a:ea typeface="微软雅黑" panose="020B0503020204020204" pitchFamily="34" charset="-122"/>
              </a:rPr>
              <a:t>：</a:t>
            </a:r>
            <a:r>
              <a:rPr lang="en-US" altLang="zh-CN" sz="2000" b="1" dirty="0">
                <a:solidFill>
                  <a:srgbClr val="004E98"/>
                </a:solidFill>
                <a:latin typeface="微软雅黑" panose="020B0503020204020204" pitchFamily="34" charset="-122"/>
                <a:ea typeface="微软雅黑" panose="020B0503020204020204" pitchFamily="34" charset="-122"/>
              </a:rPr>
              <a:t>CoT-CMP </a:t>
            </a:r>
            <a:r>
              <a:rPr lang="zh-CN" altLang="en-US" sz="2000" b="1" dirty="0">
                <a:solidFill>
                  <a:srgbClr val="004E98"/>
                </a:solidFill>
                <a:latin typeface="微软雅黑" panose="020B0503020204020204" pitchFamily="34" charset="-122"/>
                <a:ea typeface="微软雅黑" panose="020B0503020204020204" pitchFamily="34" charset="-122"/>
              </a:rPr>
              <a:t>图文双塔预测框架</a:t>
            </a:r>
            <a:endParaRPr lang="zh-CN" altLang="zh-CN" b="1" dirty="0">
              <a:solidFill>
                <a:srgbClr val="004E98"/>
              </a:solidFill>
              <a:latin typeface="微软雅黑" panose="020B0503020204020204" pitchFamily="34" charset="-122"/>
              <a:ea typeface="微软雅黑" panose="020B0503020204020204" pitchFamily="34" charset="-122"/>
            </a:endParaRPr>
          </a:p>
        </p:txBody>
      </p:sp>
      <p:pic>
        <p:nvPicPr>
          <p:cNvPr id="7" name="Picture 6" descr="logo.png"/>
          <p:cNvPicPr>
            <a:picLocks noChangeAspect="1"/>
          </p:cNvPicPr>
          <p:nvPr/>
        </p:nvPicPr>
        <p:blipFill>
          <a:blip r:embed="rId3"/>
          <a:stretch>
            <a:fillRect/>
          </a:stretch>
        </p:blipFill>
        <p:spPr>
          <a:xfrm>
            <a:off x="11301984" y="310896"/>
            <a:ext cx="402336" cy="457200"/>
          </a:xfrm>
          <a:prstGeom prst="rect">
            <a:avLst/>
          </a:prstGeom>
        </p:spPr>
      </p:pic>
      <p:sp>
        <p:nvSpPr>
          <p:cNvPr id="8" name="Rectangle 7"/>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sp>
        <p:nvSpPr>
          <p:cNvPr id="15" name="TextBox 14"/>
          <p:cNvSpPr txBox="1"/>
          <p:nvPr/>
        </p:nvSpPr>
        <p:spPr>
          <a:xfrm>
            <a:off x="960121" y="960119"/>
            <a:ext cx="925830" cy="273088"/>
          </a:xfrm>
          <a:prstGeom prst="rect">
            <a:avLst/>
          </a:prstGeom>
          <a:noFill/>
        </p:spPr>
        <p:txBody>
          <a:bodyPr wrap="square" lIns="0" tIns="0" rIns="0" bIns="0" anchor="t">
            <a:spAutoFit/>
          </a:bodyPr>
          <a:lstStyle/>
          <a:p>
            <a:pPr algn="l">
              <a:lnSpc>
                <a:spcPct val="105000"/>
              </a:lnSpc>
            </a:pPr>
            <a:r>
              <a:rPr lang="zh-CN" altLang="en-US" b="1" dirty="0">
                <a:solidFill>
                  <a:srgbClr val="004E98"/>
                </a:solidFill>
                <a:latin typeface="微软雅黑" panose="020B0503020204020204" pitchFamily="34" charset="-122"/>
                <a:ea typeface="微软雅黑" panose="020B0503020204020204" pitchFamily="34" charset="-122"/>
              </a:rPr>
              <a:t>模型设计</a:t>
            </a:r>
            <a:endParaRPr b="1" dirty="0">
              <a:solidFill>
                <a:srgbClr val="004E98"/>
              </a:solidFill>
              <a:latin typeface="微软雅黑" panose="020B0503020204020204" pitchFamily="34" charset="-122"/>
              <a:ea typeface="微软雅黑" panose="020B0503020204020204" pitchFamily="34" charset="-122"/>
            </a:endParaRPr>
          </a:p>
        </p:txBody>
      </p:sp>
      <p:pic>
        <p:nvPicPr>
          <p:cNvPr id="24" name="Picture 23" descr="图3-1CoTCMP架构图.png"/>
          <p:cNvPicPr>
            <a:picLocks noChangeAspect="1"/>
          </p:cNvPicPr>
          <p:nvPr/>
        </p:nvPicPr>
        <p:blipFill>
          <a:blip r:embed="rId4"/>
          <a:srcRect r="6943"/>
          <a:stretch>
            <a:fillRect/>
          </a:stretch>
        </p:blipFill>
        <p:spPr>
          <a:xfrm>
            <a:off x="137364" y="2217713"/>
            <a:ext cx="8511336" cy="3311218"/>
          </a:xfrm>
          <a:prstGeom prst="rect">
            <a:avLst/>
          </a:prstGeom>
        </p:spPr>
      </p:pic>
      <p:sp>
        <p:nvSpPr>
          <p:cNvPr id="29" name="TextBox 28"/>
          <p:cNvSpPr txBox="1"/>
          <p:nvPr/>
        </p:nvSpPr>
        <p:spPr>
          <a:xfrm>
            <a:off x="960121" y="1370366"/>
            <a:ext cx="7494270" cy="506292"/>
          </a:xfrm>
          <a:prstGeom prst="rect">
            <a:avLst/>
          </a:prstGeom>
          <a:noFill/>
        </p:spPr>
        <p:txBody>
          <a:bodyPr wrap="square" lIns="0" tIns="0" rIns="0" bIns="0" anchor="t">
            <a:spAutoFit/>
          </a:bodyPr>
          <a:lstStyle/>
          <a:p>
            <a:pPr>
              <a:lnSpc>
                <a:spcPct val="105000"/>
              </a:lnSpc>
            </a:pPr>
            <a:r>
              <a:rPr lang="zh-CN" altLang="en-US" sz="1600" dirty="0">
                <a:latin typeface="微软雅黑" panose="020B0503020204020204" pitchFamily="34" charset="-122"/>
                <a:ea typeface="微软雅黑" panose="020B0503020204020204" pitchFamily="34" charset="-122"/>
              </a:rPr>
              <a:t>针对传统</a:t>
            </a:r>
            <a:r>
              <a:rPr lang="zh-CN" altLang="en-US" sz="1600" b="1" dirty="0">
                <a:latin typeface="微软雅黑" panose="020B0503020204020204" pitchFamily="34" charset="-122"/>
                <a:ea typeface="微软雅黑" panose="020B0503020204020204" pitchFamily="34" charset="-122"/>
              </a:rPr>
              <a:t>图神经网络原子与化学键交互不足，以及大语言模型直接预测缺少药理推理过程的问题</a:t>
            </a:r>
            <a:r>
              <a:rPr lang="zh-CN" altLang="en-US" sz="1600" dirty="0">
                <a:latin typeface="微软雅黑" panose="020B0503020204020204" pitchFamily="34" charset="-122"/>
                <a:ea typeface="微软雅黑" panose="020B0503020204020204" pitchFamily="34" charset="-122"/>
              </a:rPr>
              <a:t>，本研究提出 </a:t>
            </a:r>
            <a:r>
              <a:rPr lang="en-US" altLang="zh-CN" sz="1600" dirty="0">
                <a:latin typeface="微软雅黑" panose="020B0503020204020204" pitchFamily="34" charset="-122"/>
                <a:ea typeface="微软雅黑" panose="020B0503020204020204" pitchFamily="34" charset="-122"/>
              </a:rPr>
              <a:t>CoT-CMP </a:t>
            </a:r>
            <a:r>
              <a:rPr lang="zh-CN" altLang="en-US" sz="1600" dirty="0">
                <a:latin typeface="微软雅黑" panose="020B0503020204020204" pitchFamily="34" charset="-122"/>
                <a:ea typeface="微软雅黑" panose="020B0503020204020204" pitchFamily="34" charset="-122"/>
              </a:rPr>
              <a:t>图文双塔预测框架。</a:t>
            </a:r>
            <a:endParaRPr sz="1500" dirty="0">
              <a:latin typeface="微软雅黑" panose="020B0503020204020204" pitchFamily="34" charset="-122"/>
              <a:ea typeface="微软雅黑" panose="020B0503020204020204" pitchFamily="34" charset="-122"/>
            </a:endParaRPr>
          </a:p>
        </p:txBody>
      </p:sp>
      <p:sp>
        <p:nvSpPr>
          <p:cNvPr id="32" name="Rounded Rectangle 13"/>
          <p:cNvSpPr/>
          <p:nvPr/>
        </p:nvSpPr>
        <p:spPr>
          <a:xfrm>
            <a:off x="8648700" y="1986153"/>
            <a:ext cx="3401568" cy="111556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14"/>
          <p:cNvSpPr/>
          <p:nvPr/>
        </p:nvSpPr>
        <p:spPr>
          <a:xfrm>
            <a:off x="8648700" y="1986153"/>
            <a:ext cx="91440" cy="111556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15"/>
          <p:cNvSpPr txBox="1"/>
          <p:nvPr/>
        </p:nvSpPr>
        <p:spPr>
          <a:xfrm>
            <a:off x="8941308" y="2187321"/>
            <a:ext cx="2871216"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文本编码端</a:t>
            </a:r>
          </a:p>
        </p:txBody>
      </p:sp>
      <p:sp>
        <p:nvSpPr>
          <p:cNvPr id="35" name="TextBox 16"/>
          <p:cNvSpPr txBox="1"/>
          <p:nvPr/>
        </p:nvSpPr>
        <p:spPr>
          <a:xfrm>
            <a:off x="8923020" y="2513076"/>
            <a:ext cx="2852928" cy="402335"/>
          </a:xfrm>
          <a:prstGeom prst="rect">
            <a:avLst/>
          </a:prstGeom>
          <a:noFill/>
        </p:spPr>
        <p:txBody>
          <a:bodyPr wrap="square" lIns="0" tIns="0" rIns="0" bIns="0" anchor="t">
            <a:spAutoFit/>
          </a:bodyPr>
          <a:lstStyle/>
          <a:p>
            <a:pPr algn="l">
              <a:lnSpc>
                <a:spcPct val="108000"/>
              </a:lnSpc>
            </a:pPr>
            <a:r>
              <a:rPr sz="1050" b="0" dirty="0">
                <a:solidFill>
                  <a:srgbClr val="5B6773"/>
                </a:solidFill>
                <a:latin typeface="微软雅黑 Light"/>
              </a:rPr>
              <a:t>LLaMA-3.1-8B + LoRA + CoT </a:t>
            </a:r>
            <a:r>
              <a:rPr sz="1050" b="0" dirty="0" err="1">
                <a:solidFill>
                  <a:srgbClr val="5B6773"/>
                </a:solidFill>
                <a:latin typeface="微软雅黑 Light"/>
              </a:rPr>
              <a:t>提示，生成结构识别、理化分析、性质推断的显式推理文本</a:t>
            </a:r>
            <a:r>
              <a:rPr sz="1050" b="0" dirty="0">
                <a:solidFill>
                  <a:srgbClr val="5B6773"/>
                </a:solidFill>
                <a:latin typeface="微软雅黑 Light"/>
              </a:rPr>
              <a:t>。</a:t>
            </a:r>
          </a:p>
        </p:txBody>
      </p:sp>
      <p:sp>
        <p:nvSpPr>
          <p:cNvPr id="36" name="Rounded Rectangle 17"/>
          <p:cNvSpPr/>
          <p:nvPr/>
        </p:nvSpPr>
        <p:spPr>
          <a:xfrm>
            <a:off x="8648700" y="3385185"/>
            <a:ext cx="3401568" cy="111556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18"/>
          <p:cNvSpPr/>
          <p:nvPr/>
        </p:nvSpPr>
        <p:spPr>
          <a:xfrm>
            <a:off x="8648700" y="3385185"/>
            <a:ext cx="91440" cy="1115568"/>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19"/>
          <p:cNvSpPr txBox="1"/>
          <p:nvPr/>
        </p:nvSpPr>
        <p:spPr>
          <a:xfrm>
            <a:off x="8941308" y="3586353"/>
            <a:ext cx="2871216"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图结构编码端</a:t>
            </a:r>
          </a:p>
        </p:txBody>
      </p:sp>
      <p:sp>
        <p:nvSpPr>
          <p:cNvPr id="39" name="TextBox 20"/>
          <p:cNvSpPr txBox="1"/>
          <p:nvPr/>
        </p:nvSpPr>
        <p:spPr>
          <a:xfrm>
            <a:off x="8959596" y="3919111"/>
            <a:ext cx="2852928" cy="402335"/>
          </a:xfrm>
          <a:prstGeom prst="rect">
            <a:avLst/>
          </a:prstGeom>
          <a:noFill/>
        </p:spPr>
        <p:txBody>
          <a:bodyPr wrap="square" lIns="0" tIns="0" rIns="0" bIns="0" anchor="t">
            <a:spAutoFit/>
          </a:bodyPr>
          <a:lstStyle/>
          <a:p>
            <a:pPr algn="l">
              <a:lnSpc>
                <a:spcPct val="108000"/>
              </a:lnSpc>
            </a:pPr>
            <a:r>
              <a:rPr sz="1050" b="0" dirty="0" err="1">
                <a:solidFill>
                  <a:srgbClr val="5B6773"/>
                </a:solidFill>
                <a:latin typeface="微软雅黑 Light"/>
              </a:rPr>
              <a:t>采用</a:t>
            </a:r>
            <a:r>
              <a:rPr sz="1050" b="0" dirty="0">
                <a:solidFill>
                  <a:srgbClr val="5B6773"/>
                </a:solidFill>
                <a:latin typeface="微软雅黑 Light"/>
              </a:rPr>
              <a:t> CMPNN </a:t>
            </a:r>
            <a:r>
              <a:rPr sz="1050" b="0" dirty="0" err="1">
                <a:solidFill>
                  <a:srgbClr val="5B6773"/>
                </a:solidFill>
                <a:latin typeface="微软雅黑 Light"/>
              </a:rPr>
              <a:t>建模原子与化学键之间的通信关系，增强局部官能团与长程依赖表征</a:t>
            </a:r>
            <a:r>
              <a:rPr sz="1050" b="0" dirty="0">
                <a:solidFill>
                  <a:srgbClr val="5B6773"/>
                </a:solidFill>
                <a:latin typeface="微软雅黑 Light"/>
              </a:rPr>
              <a:t>。</a:t>
            </a:r>
          </a:p>
        </p:txBody>
      </p:sp>
      <p:sp>
        <p:nvSpPr>
          <p:cNvPr id="40" name="Rounded Rectangle 21"/>
          <p:cNvSpPr/>
          <p:nvPr/>
        </p:nvSpPr>
        <p:spPr>
          <a:xfrm>
            <a:off x="8648700" y="4784217"/>
            <a:ext cx="3401568" cy="96012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22"/>
          <p:cNvSpPr/>
          <p:nvPr/>
        </p:nvSpPr>
        <p:spPr>
          <a:xfrm>
            <a:off x="8648700" y="4784217"/>
            <a:ext cx="91440" cy="960120"/>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23"/>
          <p:cNvSpPr txBox="1"/>
          <p:nvPr/>
        </p:nvSpPr>
        <p:spPr>
          <a:xfrm>
            <a:off x="8941308" y="4985384"/>
            <a:ext cx="2871216"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融合预测端</a:t>
            </a:r>
          </a:p>
        </p:txBody>
      </p:sp>
      <p:sp>
        <p:nvSpPr>
          <p:cNvPr id="43" name="TextBox 24"/>
          <p:cNvSpPr txBox="1"/>
          <p:nvPr/>
        </p:nvSpPr>
        <p:spPr>
          <a:xfrm>
            <a:off x="8959596" y="5316854"/>
            <a:ext cx="2852928" cy="246888"/>
          </a:xfrm>
          <a:prstGeom prst="rect">
            <a:avLst/>
          </a:prstGeom>
          <a:noFill/>
        </p:spPr>
        <p:txBody>
          <a:bodyPr wrap="square" lIns="0" tIns="0" rIns="0" bIns="0" anchor="t">
            <a:spAutoFit/>
          </a:bodyPr>
          <a:lstStyle/>
          <a:p>
            <a:pPr algn="l">
              <a:lnSpc>
                <a:spcPct val="108000"/>
              </a:lnSpc>
            </a:pPr>
            <a:r>
              <a:rPr sz="1050" b="0" dirty="0" err="1">
                <a:solidFill>
                  <a:srgbClr val="5B6773"/>
                </a:solidFill>
                <a:latin typeface="微软雅黑 Light"/>
              </a:rPr>
              <a:t>通过交叉注意力实现图特征与文本特征的自适应融合，服务分类与回归任务</a:t>
            </a:r>
            <a:r>
              <a:rPr sz="1050" b="0" dirty="0">
                <a:solidFill>
                  <a:srgbClr val="5B6773"/>
                </a:solidFill>
                <a:latin typeface="微软雅黑 Light"/>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ogo.png"/>
          <p:cNvPicPr>
            <a:picLocks noChangeAspect="1"/>
          </p:cNvPicPr>
          <p:nvPr/>
        </p:nvPicPr>
        <p:blipFill>
          <a:blip r:embed="rId3"/>
          <a:stretch>
            <a:fillRect/>
          </a:stretch>
        </p:blipFill>
        <p:spPr>
          <a:xfrm>
            <a:off x="11301984" y="310896"/>
            <a:ext cx="402336" cy="457200"/>
          </a:xfrm>
          <a:prstGeom prst="rect">
            <a:avLst/>
          </a:prstGeom>
        </p:spPr>
      </p:pic>
      <p:sp>
        <p:nvSpPr>
          <p:cNvPr id="8" name="Rectangle 7"/>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pic>
        <p:nvPicPr>
          <p:cNvPr id="30" name="Picture 29" descr="图2-6 输入-输出提示与思维链提示对比示意图.png"/>
          <p:cNvPicPr>
            <a:picLocks noChangeAspect="1"/>
          </p:cNvPicPr>
          <p:nvPr/>
        </p:nvPicPr>
        <p:blipFill>
          <a:blip r:embed="rId4"/>
          <a:stretch>
            <a:fillRect/>
          </a:stretch>
        </p:blipFill>
        <p:spPr>
          <a:xfrm>
            <a:off x="332688" y="2031123"/>
            <a:ext cx="3760319" cy="4282809"/>
          </a:xfrm>
          <a:prstGeom prst="rect">
            <a:avLst/>
          </a:prstGeom>
        </p:spPr>
      </p:pic>
      <p:pic>
        <p:nvPicPr>
          <p:cNvPr id="33" name="Picture 26" descr="提示词模板.png"/>
          <p:cNvPicPr>
            <a:picLocks noChangeAspect="1"/>
          </p:cNvPicPr>
          <p:nvPr/>
        </p:nvPicPr>
        <p:blipFill>
          <a:blip r:embed="rId5"/>
          <a:stretch>
            <a:fillRect/>
          </a:stretch>
        </p:blipFill>
        <p:spPr>
          <a:xfrm>
            <a:off x="4217272" y="2031123"/>
            <a:ext cx="4266074" cy="4189604"/>
          </a:xfrm>
          <a:prstGeom prst="rect">
            <a:avLst/>
          </a:prstGeom>
        </p:spPr>
      </p:pic>
      <p:sp>
        <p:nvSpPr>
          <p:cNvPr id="34" name="TextBox 28">
            <a:extLst>
              <a:ext uri="{FF2B5EF4-FFF2-40B4-BE49-F238E27FC236}">
                <a16:creationId xmlns:a16="http://schemas.microsoft.com/office/drawing/2014/main" id="{62023C32-AAA9-30C7-48FE-206A5C5C11A9}"/>
              </a:ext>
            </a:extLst>
          </p:cNvPr>
          <p:cNvSpPr txBox="1"/>
          <p:nvPr/>
        </p:nvSpPr>
        <p:spPr>
          <a:xfrm>
            <a:off x="868680" y="1038260"/>
            <a:ext cx="9925812" cy="505972"/>
          </a:xfrm>
          <a:prstGeom prst="rect">
            <a:avLst/>
          </a:prstGeom>
          <a:noFill/>
        </p:spPr>
        <p:txBody>
          <a:bodyPr wrap="square" lIns="0" tIns="0" rIns="0" bIns="0" anchor="t">
            <a:spAutoFit/>
          </a:bodyPr>
          <a:lstStyle/>
          <a:p>
            <a:pPr>
              <a:lnSpc>
                <a:spcPct val="105000"/>
              </a:lnSpc>
            </a:pPr>
            <a:r>
              <a:rPr lang="en-US" altLang="zh-CN" sz="1600" b="1" dirty="0">
                <a:latin typeface="微软雅黑" panose="020B0503020204020204" pitchFamily="34" charset="-122"/>
                <a:ea typeface="微软雅黑" panose="020B0503020204020204" pitchFamily="34" charset="-122"/>
              </a:rPr>
              <a:t>CoT </a:t>
            </a:r>
            <a:r>
              <a:rPr lang="zh-CN" altLang="en-US" sz="1600" b="1" dirty="0">
                <a:latin typeface="微软雅黑" panose="020B0503020204020204" pitchFamily="34" charset="-122"/>
                <a:ea typeface="微软雅黑" panose="020B0503020204020204" pitchFamily="34" charset="-122"/>
              </a:rPr>
              <a:t>提示并非直接要求大语言模型给出预测标签，而是引导其生成“结构识别</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理化分析</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性质推断”的分步推理文本，为后续图文融合提供可解释语义特征。</a:t>
            </a:r>
            <a:endParaRPr sz="1500" b="1" dirty="0">
              <a:latin typeface="微软雅黑" panose="020B0503020204020204" pitchFamily="34" charset="-122"/>
              <a:ea typeface="微软雅黑" panose="020B0503020204020204" pitchFamily="34" charset="-122"/>
            </a:endParaRPr>
          </a:p>
        </p:txBody>
      </p:sp>
      <p:sp>
        <p:nvSpPr>
          <p:cNvPr id="35" name="Rounded Rectangle 13">
            <a:extLst>
              <a:ext uri="{FF2B5EF4-FFF2-40B4-BE49-F238E27FC236}">
                <a16:creationId xmlns:a16="http://schemas.microsoft.com/office/drawing/2014/main" id="{B52F9506-EDA9-0454-23EB-0E4294BACEA1}"/>
              </a:ext>
            </a:extLst>
          </p:cNvPr>
          <p:cNvSpPr/>
          <p:nvPr/>
        </p:nvSpPr>
        <p:spPr>
          <a:xfrm>
            <a:off x="8730234" y="2058957"/>
            <a:ext cx="3401568" cy="659617"/>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14">
            <a:extLst>
              <a:ext uri="{FF2B5EF4-FFF2-40B4-BE49-F238E27FC236}">
                <a16:creationId xmlns:a16="http://schemas.microsoft.com/office/drawing/2014/main" id="{66C61357-EC62-D3C0-2845-ADF0050AD536}"/>
              </a:ext>
            </a:extLst>
          </p:cNvPr>
          <p:cNvSpPr/>
          <p:nvPr/>
        </p:nvSpPr>
        <p:spPr>
          <a:xfrm>
            <a:off x="8730234" y="2058957"/>
            <a:ext cx="91440" cy="659617"/>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15">
            <a:extLst>
              <a:ext uri="{FF2B5EF4-FFF2-40B4-BE49-F238E27FC236}">
                <a16:creationId xmlns:a16="http://schemas.microsoft.com/office/drawing/2014/main" id="{3EA50D38-714A-67BB-C86E-840C5E8493AB}"/>
              </a:ext>
            </a:extLst>
          </p:cNvPr>
          <p:cNvSpPr txBox="1"/>
          <p:nvPr/>
        </p:nvSpPr>
        <p:spPr>
          <a:xfrm>
            <a:off x="9022842" y="2117250"/>
            <a:ext cx="1134110" cy="224292"/>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微软雅黑" panose="020B0503020204020204" pitchFamily="34" charset="-122"/>
                <a:ea typeface="微软雅黑" panose="020B0503020204020204" pitchFamily="34" charset="-122"/>
              </a:rPr>
              <a:t>系统指令</a:t>
            </a:r>
            <a:endParaRPr sz="1450" b="1" dirty="0">
              <a:solidFill>
                <a:srgbClr val="16324F"/>
              </a:solidFill>
              <a:latin typeface="微软雅黑" panose="020B0503020204020204" pitchFamily="34" charset="-122"/>
              <a:ea typeface="微软雅黑" panose="020B0503020204020204" pitchFamily="34" charset="-122"/>
            </a:endParaRPr>
          </a:p>
        </p:txBody>
      </p:sp>
      <p:sp>
        <p:nvSpPr>
          <p:cNvPr id="38" name="TextBox 16">
            <a:extLst>
              <a:ext uri="{FF2B5EF4-FFF2-40B4-BE49-F238E27FC236}">
                <a16:creationId xmlns:a16="http://schemas.microsoft.com/office/drawing/2014/main" id="{095EC7A8-37C4-D4A5-E96A-F423EE4DA2AB}"/>
              </a:ext>
            </a:extLst>
          </p:cNvPr>
          <p:cNvSpPr txBox="1"/>
          <p:nvPr/>
        </p:nvSpPr>
        <p:spPr>
          <a:xfrm>
            <a:off x="9031986" y="2423838"/>
            <a:ext cx="2852928" cy="166264"/>
          </a:xfrm>
          <a:prstGeom prst="rect">
            <a:avLst/>
          </a:prstGeom>
          <a:noFill/>
        </p:spPr>
        <p:txBody>
          <a:bodyPr wrap="square" lIns="0" tIns="0" rIns="0" bIns="0" anchor="t">
            <a:spAutoFit/>
          </a:bodyPr>
          <a:lstStyle/>
          <a:p>
            <a:pPr>
              <a:lnSpc>
                <a:spcPct val="108000"/>
              </a:lnSpc>
            </a:pPr>
            <a:r>
              <a:rPr lang="zh-CN" altLang="en-US" sz="1050" dirty="0"/>
              <a:t>设定模型为药物化学与毒理学专家</a:t>
            </a:r>
            <a:endParaRPr sz="1050" b="0" dirty="0">
              <a:solidFill>
                <a:srgbClr val="5B6773"/>
              </a:solidFill>
              <a:latin typeface="微软雅黑 Light"/>
            </a:endParaRPr>
          </a:p>
        </p:txBody>
      </p:sp>
      <p:sp>
        <p:nvSpPr>
          <p:cNvPr id="39" name="Rounded Rectangle 13">
            <a:extLst>
              <a:ext uri="{FF2B5EF4-FFF2-40B4-BE49-F238E27FC236}">
                <a16:creationId xmlns:a16="http://schemas.microsoft.com/office/drawing/2014/main" id="{8697B65B-68FC-047A-866B-BD2CA91F56A6}"/>
              </a:ext>
            </a:extLst>
          </p:cNvPr>
          <p:cNvSpPr/>
          <p:nvPr/>
        </p:nvSpPr>
        <p:spPr>
          <a:xfrm>
            <a:off x="8730234" y="3085971"/>
            <a:ext cx="3401568" cy="644526"/>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14">
            <a:extLst>
              <a:ext uri="{FF2B5EF4-FFF2-40B4-BE49-F238E27FC236}">
                <a16:creationId xmlns:a16="http://schemas.microsoft.com/office/drawing/2014/main" id="{B9D23B22-55F5-7CF7-B29D-D556FBD0ED76}"/>
              </a:ext>
            </a:extLst>
          </p:cNvPr>
          <p:cNvSpPr/>
          <p:nvPr/>
        </p:nvSpPr>
        <p:spPr>
          <a:xfrm>
            <a:off x="8730234" y="3085971"/>
            <a:ext cx="91440" cy="644526"/>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15">
            <a:extLst>
              <a:ext uri="{FF2B5EF4-FFF2-40B4-BE49-F238E27FC236}">
                <a16:creationId xmlns:a16="http://schemas.microsoft.com/office/drawing/2014/main" id="{371AA31B-ECA4-02B4-B1B5-4B1EC161F819}"/>
              </a:ext>
            </a:extLst>
          </p:cNvPr>
          <p:cNvSpPr txBox="1"/>
          <p:nvPr/>
        </p:nvSpPr>
        <p:spPr>
          <a:xfrm>
            <a:off x="9022842" y="3144263"/>
            <a:ext cx="1134110" cy="219997"/>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Microsoft YaHei"/>
                <a:ea typeface="微软雅黑" panose="020B0503020204020204" pitchFamily="34" charset="-122"/>
              </a:rPr>
              <a:t>上下文输入</a:t>
            </a:r>
            <a:endParaRPr sz="1450" b="1" dirty="0">
              <a:solidFill>
                <a:srgbClr val="16324F"/>
              </a:solidFill>
              <a:latin typeface="微软雅黑" panose="020B0503020204020204" pitchFamily="34" charset="-122"/>
              <a:ea typeface="微软雅黑" panose="020B0503020204020204" pitchFamily="34" charset="-122"/>
            </a:endParaRPr>
          </a:p>
        </p:txBody>
      </p:sp>
      <p:sp>
        <p:nvSpPr>
          <p:cNvPr id="42" name="TextBox 16">
            <a:extLst>
              <a:ext uri="{FF2B5EF4-FFF2-40B4-BE49-F238E27FC236}">
                <a16:creationId xmlns:a16="http://schemas.microsoft.com/office/drawing/2014/main" id="{209C9B33-C311-2B29-3C60-8AFE74821792}"/>
              </a:ext>
            </a:extLst>
          </p:cNvPr>
          <p:cNvSpPr txBox="1"/>
          <p:nvPr/>
        </p:nvSpPr>
        <p:spPr>
          <a:xfrm>
            <a:off x="9031986" y="3450851"/>
            <a:ext cx="2852928" cy="166264"/>
          </a:xfrm>
          <a:prstGeom prst="rect">
            <a:avLst/>
          </a:prstGeom>
          <a:noFill/>
        </p:spPr>
        <p:txBody>
          <a:bodyPr wrap="square" lIns="0" tIns="0" rIns="0" bIns="0" anchor="t">
            <a:spAutoFit/>
          </a:bodyPr>
          <a:lstStyle/>
          <a:p>
            <a:pPr>
              <a:lnSpc>
                <a:spcPct val="108000"/>
              </a:lnSpc>
            </a:pPr>
            <a:r>
              <a:rPr lang="zh-CN" altLang="en-US" sz="1050" dirty="0"/>
              <a:t>输入分子 </a:t>
            </a:r>
            <a:r>
              <a:rPr lang="en-US" altLang="zh-CN" sz="1050" dirty="0"/>
              <a:t>SMILES </a:t>
            </a:r>
            <a:r>
              <a:rPr lang="zh-CN" altLang="en-US" sz="1050" dirty="0"/>
              <a:t>与理化性质</a:t>
            </a:r>
            <a:endParaRPr sz="1050" b="0" dirty="0">
              <a:solidFill>
                <a:srgbClr val="5B6773"/>
              </a:solidFill>
              <a:latin typeface="微软雅黑 Light"/>
            </a:endParaRPr>
          </a:p>
        </p:txBody>
      </p:sp>
      <p:sp>
        <p:nvSpPr>
          <p:cNvPr id="43" name="Rounded Rectangle 13">
            <a:extLst>
              <a:ext uri="{FF2B5EF4-FFF2-40B4-BE49-F238E27FC236}">
                <a16:creationId xmlns:a16="http://schemas.microsoft.com/office/drawing/2014/main" id="{866A7F8C-8BDA-D673-31EF-3CB5F1FD4273}"/>
              </a:ext>
            </a:extLst>
          </p:cNvPr>
          <p:cNvSpPr/>
          <p:nvPr/>
        </p:nvSpPr>
        <p:spPr>
          <a:xfrm>
            <a:off x="8730234" y="3983592"/>
            <a:ext cx="3401568" cy="1158159"/>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14">
            <a:extLst>
              <a:ext uri="{FF2B5EF4-FFF2-40B4-BE49-F238E27FC236}">
                <a16:creationId xmlns:a16="http://schemas.microsoft.com/office/drawing/2014/main" id="{1062D4C3-3063-F8AA-7890-FF91EC646014}"/>
              </a:ext>
            </a:extLst>
          </p:cNvPr>
          <p:cNvSpPr/>
          <p:nvPr/>
        </p:nvSpPr>
        <p:spPr>
          <a:xfrm>
            <a:off x="8730234" y="3983592"/>
            <a:ext cx="91440" cy="1158159"/>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15">
            <a:extLst>
              <a:ext uri="{FF2B5EF4-FFF2-40B4-BE49-F238E27FC236}">
                <a16:creationId xmlns:a16="http://schemas.microsoft.com/office/drawing/2014/main" id="{3FF2D19B-D7BA-2502-C705-43DEC28576D1}"/>
              </a:ext>
            </a:extLst>
          </p:cNvPr>
          <p:cNvSpPr txBox="1"/>
          <p:nvPr/>
        </p:nvSpPr>
        <p:spPr>
          <a:xfrm>
            <a:off x="9022842" y="4041885"/>
            <a:ext cx="1134110" cy="219997"/>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微软雅黑" panose="020B0503020204020204" pitchFamily="34" charset="-122"/>
                <a:ea typeface="微软雅黑" panose="020B0503020204020204" pitchFamily="34" charset="-122"/>
              </a:rPr>
              <a:t>推理任务</a:t>
            </a:r>
            <a:endParaRPr sz="1450" b="1" dirty="0">
              <a:solidFill>
                <a:srgbClr val="16324F"/>
              </a:solidFill>
              <a:latin typeface="微软雅黑" panose="020B0503020204020204" pitchFamily="34" charset="-122"/>
              <a:ea typeface="微软雅黑" panose="020B0503020204020204" pitchFamily="34" charset="-122"/>
            </a:endParaRPr>
          </a:p>
        </p:txBody>
      </p:sp>
      <p:sp>
        <p:nvSpPr>
          <p:cNvPr id="46" name="TextBox 16">
            <a:extLst>
              <a:ext uri="{FF2B5EF4-FFF2-40B4-BE49-F238E27FC236}">
                <a16:creationId xmlns:a16="http://schemas.microsoft.com/office/drawing/2014/main" id="{F641DA53-AAE7-1377-A470-A6AE349522A4}"/>
              </a:ext>
            </a:extLst>
          </p:cNvPr>
          <p:cNvSpPr txBox="1"/>
          <p:nvPr/>
        </p:nvSpPr>
        <p:spPr>
          <a:xfrm>
            <a:off x="9022842" y="4356882"/>
            <a:ext cx="2852928" cy="689869"/>
          </a:xfrm>
          <a:prstGeom prst="rect">
            <a:avLst/>
          </a:prstGeom>
          <a:noFill/>
        </p:spPr>
        <p:txBody>
          <a:bodyPr wrap="square" lIns="0" tIns="0" rIns="0" bIns="0" anchor="t">
            <a:spAutoFit/>
          </a:bodyPr>
          <a:lstStyle/>
          <a:p>
            <a:pPr>
              <a:lnSpc>
                <a:spcPct val="108000"/>
              </a:lnSpc>
            </a:pPr>
            <a:r>
              <a:rPr lang="zh-CN" altLang="en-US" sz="1050" dirty="0"/>
              <a:t>按照三阶段生成推理文本：</a:t>
            </a:r>
            <a:br>
              <a:rPr lang="zh-CN" altLang="en-US" sz="1050" dirty="0"/>
            </a:br>
            <a:r>
              <a:rPr lang="zh-CN" altLang="en-US" sz="1050" dirty="0">
                <a:latin typeface="Times New Roman" panose="02020603050405020304" pitchFamily="18" charset="0"/>
                <a:cs typeface="Times New Roman" panose="02020603050405020304" pitchFamily="18" charset="0"/>
              </a:rPr>
              <a:t>① 关键子结构识别</a:t>
            </a:r>
            <a:br>
              <a:rPr lang="en-US" altLang="zh-CN" sz="1050" dirty="0">
                <a:latin typeface="Times New Roman" panose="02020603050405020304" pitchFamily="18" charset="0"/>
                <a:cs typeface="Times New Roman" panose="02020603050405020304" pitchFamily="18" charset="0"/>
              </a:rPr>
            </a:br>
            <a:r>
              <a:rPr lang="en-US" altLang="zh-CN" sz="1050" dirty="0">
                <a:latin typeface="Times New Roman" panose="02020603050405020304" pitchFamily="18" charset="0"/>
                <a:cs typeface="Times New Roman" panose="02020603050405020304" pitchFamily="18" charset="0"/>
              </a:rPr>
              <a:t>② </a:t>
            </a:r>
            <a:r>
              <a:rPr lang="zh-CN" altLang="en-US" sz="1050" dirty="0">
                <a:latin typeface="Times New Roman" panose="02020603050405020304" pitchFamily="18" charset="0"/>
                <a:cs typeface="Times New Roman" panose="02020603050405020304" pitchFamily="18" charset="0"/>
              </a:rPr>
              <a:t>理化性质解释</a:t>
            </a:r>
            <a:br>
              <a:rPr lang="en-US" altLang="zh-CN" sz="1050" dirty="0">
                <a:latin typeface="Times New Roman" panose="02020603050405020304" pitchFamily="18" charset="0"/>
                <a:cs typeface="Times New Roman" panose="02020603050405020304" pitchFamily="18" charset="0"/>
              </a:rPr>
            </a:br>
            <a:r>
              <a:rPr lang="en-US" altLang="zh-CN" sz="1050" dirty="0">
                <a:latin typeface="Times New Roman" panose="02020603050405020304" pitchFamily="18" charset="0"/>
                <a:cs typeface="Times New Roman" panose="02020603050405020304" pitchFamily="18" charset="0"/>
              </a:rPr>
              <a:t>③ </a:t>
            </a:r>
            <a:r>
              <a:rPr lang="zh-CN" altLang="en-US" sz="1050" dirty="0">
                <a:latin typeface="Times New Roman" panose="02020603050405020304" pitchFamily="18" charset="0"/>
                <a:cs typeface="Times New Roman" panose="02020603050405020304" pitchFamily="18" charset="0"/>
              </a:rPr>
              <a:t>目标性质推断</a:t>
            </a:r>
            <a:endParaRPr sz="1050" b="0" dirty="0">
              <a:solidFill>
                <a:srgbClr val="5B6773"/>
              </a:solidFill>
              <a:latin typeface="Times New Roman" panose="02020603050405020304" pitchFamily="18" charset="0"/>
              <a:cs typeface="Times New Roman" panose="02020603050405020304" pitchFamily="18" charset="0"/>
            </a:endParaRPr>
          </a:p>
        </p:txBody>
      </p:sp>
      <p:sp>
        <p:nvSpPr>
          <p:cNvPr id="47" name="Rounded Rectangle 13">
            <a:extLst>
              <a:ext uri="{FF2B5EF4-FFF2-40B4-BE49-F238E27FC236}">
                <a16:creationId xmlns:a16="http://schemas.microsoft.com/office/drawing/2014/main" id="{B2C5BE59-7B9C-5A1F-3E0B-A3EBD564760C}"/>
              </a:ext>
            </a:extLst>
          </p:cNvPr>
          <p:cNvSpPr/>
          <p:nvPr/>
        </p:nvSpPr>
        <p:spPr>
          <a:xfrm>
            <a:off x="8730234" y="5403349"/>
            <a:ext cx="3401568" cy="64998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14">
            <a:extLst>
              <a:ext uri="{FF2B5EF4-FFF2-40B4-BE49-F238E27FC236}">
                <a16:creationId xmlns:a16="http://schemas.microsoft.com/office/drawing/2014/main" id="{DE95742F-1464-788D-4F57-3ABE8DB861B1}"/>
              </a:ext>
            </a:extLst>
          </p:cNvPr>
          <p:cNvSpPr/>
          <p:nvPr/>
        </p:nvSpPr>
        <p:spPr>
          <a:xfrm>
            <a:off x="8730234" y="5403349"/>
            <a:ext cx="91440" cy="649980"/>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15">
            <a:extLst>
              <a:ext uri="{FF2B5EF4-FFF2-40B4-BE49-F238E27FC236}">
                <a16:creationId xmlns:a16="http://schemas.microsoft.com/office/drawing/2014/main" id="{93110514-9E36-B94F-9198-8DF62F64B75C}"/>
              </a:ext>
            </a:extLst>
          </p:cNvPr>
          <p:cNvSpPr txBox="1"/>
          <p:nvPr/>
        </p:nvSpPr>
        <p:spPr>
          <a:xfrm>
            <a:off x="9022842" y="5461641"/>
            <a:ext cx="1134110" cy="224292"/>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微软雅黑" panose="020B0503020204020204" pitchFamily="34" charset="-122"/>
                <a:ea typeface="微软雅黑" panose="020B0503020204020204" pitchFamily="34" charset="-122"/>
              </a:rPr>
              <a:t>文本语义</a:t>
            </a:r>
            <a:endParaRPr sz="1450" b="1" dirty="0">
              <a:solidFill>
                <a:srgbClr val="16324F"/>
              </a:solidFill>
              <a:latin typeface="微软雅黑" panose="020B0503020204020204" pitchFamily="34" charset="-122"/>
              <a:ea typeface="微软雅黑" panose="020B0503020204020204" pitchFamily="34" charset="-122"/>
            </a:endParaRPr>
          </a:p>
        </p:txBody>
      </p:sp>
      <p:sp>
        <p:nvSpPr>
          <p:cNvPr id="50" name="TextBox 16">
            <a:extLst>
              <a:ext uri="{FF2B5EF4-FFF2-40B4-BE49-F238E27FC236}">
                <a16:creationId xmlns:a16="http://schemas.microsoft.com/office/drawing/2014/main" id="{96830448-D1A5-E10D-4074-CB9E42FB2951}"/>
              </a:ext>
            </a:extLst>
          </p:cNvPr>
          <p:cNvSpPr txBox="1"/>
          <p:nvPr/>
        </p:nvSpPr>
        <p:spPr>
          <a:xfrm>
            <a:off x="9031986" y="5768229"/>
            <a:ext cx="2852928" cy="166264"/>
          </a:xfrm>
          <a:prstGeom prst="rect">
            <a:avLst/>
          </a:prstGeom>
          <a:noFill/>
        </p:spPr>
        <p:txBody>
          <a:bodyPr wrap="square" lIns="0" tIns="0" rIns="0" bIns="0" anchor="t">
            <a:spAutoFit/>
          </a:bodyPr>
          <a:lstStyle/>
          <a:p>
            <a:pPr>
              <a:lnSpc>
                <a:spcPct val="108000"/>
              </a:lnSpc>
            </a:pPr>
            <a:r>
              <a:rPr lang="zh-CN" altLang="en-US" sz="1050" dirty="0"/>
              <a:t>输出结构化文本</a:t>
            </a:r>
            <a:endParaRPr sz="1050" b="0" dirty="0">
              <a:solidFill>
                <a:srgbClr val="5B6773"/>
              </a:solidFill>
              <a:latin typeface="微软雅黑 Light"/>
            </a:endParaRPr>
          </a:p>
        </p:txBody>
      </p:sp>
      <p:sp>
        <p:nvSpPr>
          <p:cNvPr id="51" name="TextBox 4">
            <a:extLst>
              <a:ext uri="{FF2B5EF4-FFF2-40B4-BE49-F238E27FC236}">
                <a16:creationId xmlns:a16="http://schemas.microsoft.com/office/drawing/2014/main" id="{C023D916-FB9F-7ACA-1BBD-03C821668E2C}"/>
              </a:ext>
            </a:extLst>
          </p:cNvPr>
          <p:cNvSpPr txBox="1"/>
          <p:nvPr/>
        </p:nvSpPr>
        <p:spPr>
          <a:xfrm>
            <a:off x="1310640" y="280057"/>
            <a:ext cx="4785360" cy="309315"/>
          </a:xfrm>
          <a:prstGeom prst="rect">
            <a:avLst/>
          </a:prstGeom>
          <a:noFill/>
        </p:spPr>
        <p:txBody>
          <a:bodyPr wrap="square" lIns="0" tIns="0" rIns="0" bIns="0" anchor="t">
            <a:spAutoFit/>
          </a:bodyPr>
          <a:lstStyle/>
          <a:p>
            <a:pPr>
              <a:lnSpc>
                <a:spcPct val="105000"/>
              </a:lnSpc>
            </a:pPr>
            <a:r>
              <a:rPr sz="2000" b="1" dirty="0" err="1">
                <a:solidFill>
                  <a:srgbClr val="004E98"/>
                </a:solidFill>
                <a:latin typeface="微软雅黑" panose="020B0503020204020204" pitchFamily="34" charset="-122"/>
                <a:ea typeface="微软雅黑" panose="020B0503020204020204" pitchFamily="34" charset="-122"/>
              </a:rPr>
              <a:t>研究内容</a:t>
            </a:r>
            <a:r>
              <a:rPr lang="zh-CN" altLang="en-US" sz="2000" b="1" dirty="0">
                <a:solidFill>
                  <a:srgbClr val="004E98"/>
                </a:solidFill>
                <a:latin typeface="微软雅黑" panose="020B0503020204020204" pitchFamily="34" charset="-122"/>
                <a:ea typeface="微软雅黑" panose="020B0503020204020204" pitchFamily="34" charset="-122"/>
              </a:rPr>
              <a:t>：思维链增强文本编码</a:t>
            </a:r>
            <a:endParaRPr lang="zh-CN" altLang="zh-CN" b="1" dirty="0">
              <a:solidFill>
                <a:srgbClr val="004E98"/>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948AF-5E05-1422-D932-A52018D8D56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F720D06-E457-30CE-1D71-932789F2594B}"/>
              </a:ext>
            </a:extLst>
          </p:cNvPr>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7B1F7DC-E065-DF2C-3C8F-A7E3D122467B}"/>
              </a:ext>
            </a:extLst>
          </p:cNvPr>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CF915042-B48E-6C6F-CD4E-E79E3AA5B166}"/>
              </a:ext>
            </a:extLst>
          </p:cNvPr>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ogo.png">
            <a:extLst>
              <a:ext uri="{FF2B5EF4-FFF2-40B4-BE49-F238E27FC236}">
                <a16:creationId xmlns:a16="http://schemas.microsoft.com/office/drawing/2014/main" id="{4CC2C836-7D4B-FB61-37B1-445470B0F59D}"/>
              </a:ext>
            </a:extLst>
          </p:cNvPr>
          <p:cNvPicPr>
            <a:picLocks noChangeAspect="1"/>
          </p:cNvPicPr>
          <p:nvPr/>
        </p:nvPicPr>
        <p:blipFill>
          <a:blip r:embed="rId3"/>
          <a:stretch>
            <a:fillRect/>
          </a:stretch>
        </p:blipFill>
        <p:spPr>
          <a:xfrm>
            <a:off x="11301984" y="310896"/>
            <a:ext cx="402336" cy="457200"/>
          </a:xfrm>
          <a:prstGeom prst="rect">
            <a:avLst/>
          </a:prstGeom>
        </p:spPr>
      </p:pic>
      <p:sp>
        <p:nvSpPr>
          <p:cNvPr id="8" name="Rectangle 7">
            <a:extLst>
              <a:ext uri="{FF2B5EF4-FFF2-40B4-BE49-F238E27FC236}">
                <a16:creationId xmlns:a16="http://schemas.microsoft.com/office/drawing/2014/main" id="{9453F6A8-F9D1-1034-398D-1D4037A9659A}"/>
              </a:ext>
            </a:extLst>
          </p:cNvPr>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D92410D1-BF24-EACF-22E8-9C3A54184F59}"/>
              </a:ext>
            </a:extLst>
          </p:cNvPr>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sp>
        <p:nvSpPr>
          <p:cNvPr id="34" name="TextBox 28">
            <a:extLst>
              <a:ext uri="{FF2B5EF4-FFF2-40B4-BE49-F238E27FC236}">
                <a16:creationId xmlns:a16="http://schemas.microsoft.com/office/drawing/2014/main" id="{BD9040CC-AC68-97C0-1C52-9C67B2925267}"/>
              </a:ext>
            </a:extLst>
          </p:cNvPr>
          <p:cNvSpPr txBox="1"/>
          <p:nvPr/>
        </p:nvSpPr>
        <p:spPr>
          <a:xfrm>
            <a:off x="868680" y="1038260"/>
            <a:ext cx="9925812" cy="505972"/>
          </a:xfrm>
          <a:prstGeom prst="rect">
            <a:avLst/>
          </a:prstGeom>
          <a:noFill/>
        </p:spPr>
        <p:txBody>
          <a:bodyPr wrap="square" lIns="0" tIns="0" rIns="0" bIns="0" anchor="t">
            <a:spAutoFit/>
          </a:bodyPr>
          <a:lstStyle/>
          <a:p>
            <a:pPr>
              <a:lnSpc>
                <a:spcPct val="105000"/>
              </a:lnSpc>
            </a:pPr>
            <a:r>
              <a:rPr lang="zh-CN" altLang="en-US" sz="1600" b="1" dirty="0">
                <a:latin typeface="微软雅黑" panose="020B0503020204020204" pitchFamily="34" charset="-122"/>
                <a:ea typeface="微软雅黑" panose="020B0503020204020204" pitchFamily="34" charset="-122"/>
              </a:rPr>
              <a:t>为验证 </a:t>
            </a:r>
            <a:r>
              <a:rPr lang="en-US" altLang="zh-CN" sz="1600" b="1" dirty="0">
                <a:latin typeface="微软雅黑" panose="020B0503020204020204" pitchFamily="34" charset="-122"/>
                <a:ea typeface="微软雅黑" panose="020B0503020204020204" pitchFamily="34" charset="-122"/>
              </a:rPr>
              <a:t>CoT-CMP </a:t>
            </a:r>
            <a:r>
              <a:rPr lang="zh-CN" altLang="en-US" sz="1600" b="1" dirty="0">
                <a:latin typeface="微软雅黑" panose="020B0503020204020204" pitchFamily="34" charset="-122"/>
                <a:ea typeface="微软雅黑" panose="020B0503020204020204" pitchFamily="34" charset="-122"/>
              </a:rPr>
              <a:t>在复杂药物分子性质预测中的有效性，本文采用 </a:t>
            </a:r>
            <a:r>
              <a:rPr lang="en-US" altLang="zh-CN" sz="1600" b="1" dirty="0">
                <a:latin typeface="微软雅黑" panose="020B0503020204020204" pitchFamily="34" charset="-122"/>
                <a:ea typeface="微软雅黑" panose="020B0503020204020204" pitchFamily="34" charset="-122"/>
              </a:rPr>
              <a:t>TDC </a:t>
            </a:r>
            <a:r>
              <a:rPr lang="zh-CN" altLang="en-US" sz="1600" b="1" dirty="0">
                <a:latin typeface="微软雅黑" panose="020B0503020204020204" pitchFamily="34" charset="-122"/>
                <a:ea typeface="微软雅黑" panose="020B0503020204020204" pitchFamily="34" charset="-122"/>
              </a:rPr>
              <a:t>平台 </a:t>
            </a:r>
            <a:r>
              <a:rPr lang="en-US" altLang="zh-CN" sz="1600" b="1" dirty="0">
                <a:latin typeface="微软雅黑" panose="020B0503020204020204" pitchFamily="34" charset="-122"/>
                <a:ea typeface="微软雅黑" panose="020B0503020204020204" pitchFamily="34" charset="-122"/>
              </a:rPr>
              <a:t>ADMET Benchmark Group </a:t>
            </a:r>
            <a:r>
              <a:rPr lang="zh-CN" altLang="en-US" sz="1600" b="1" dirty="0">
                <a:latin typeface="微软雅黑" panose="020B0503020204020204" pitchFamily="34" charset="-122"/>
                <a:ea typeface="微软雅黑" panose="020B0503020204020204" pitchFamily="34" charset="-122"/>
              </a:rPr>
              <a:t>的 </a:t>
            </a:r>
            <a:r>
              <a:rPr lang="en-US" altLang="zh-CN" sz="1600" b="1" dirty="0">
                <a:latin typeface="微软雅黑" panose="020B0503020204020204" pitchFamily="34" charset="-122"/>
                <a:ea typeface="微软雅黑" panose="020B0503020204020204" pitchFamily="34" charset="-122"/>
              </a:rPr>
              <a:t>22 </a:t>
            </a:r>
            <a:r>
              <a:rPr lang="zh-CN" altLang="en-US" sz="1600" b="1" dirty="0">
                <a:latin typeface="微软雅黑" panose="020B0503020204020204" pitchFamily="34" charset="-122"/>
                <a:ea typeface="微软雅黑" panose="020B0503020204020204" pitchFamily="34" charset="-122"/>
              </a:rPr>
              <a:t>个任务进行系统评估。</a:t>
            </a:r>
            <a:endParaRPr sz="1500" b="1" dirty="0">
              <a:latin typeface="微软雅黑" panose="020B0503020204020204" pitchFamily="34" charset="-122"/>
              <a:ea typeface="微软雅黑" panose="020B0503020204020204" pitchFamily="34" charset="-122"/>
            </a:endParaRPr>
          </a:p>
        </p:txBody>
      </p:sp>
      <p:sp>
        <p:nvSpPr>
          <p:cNvPr id="5" name="TextBox 4">
            <a:extLst>
              <a:ext uri="{FF2B5EF4-FFF2-40B4-BE49-F238E27FC236}">
                <a16:creationId xmlns:a16="http://schemas.microsoft.com/office/drawing/2014/main" id="{FA51BA5E-D6DA-CCEB-D51E-CC4636F6D8FC}"/>
              </a:ext>
            </a:extLst>
          </p:cNvPr>
          <p:cNvSpPr txBox="1"/>
          <p:nvPr/>
        </p:nvSpPr>
        <p:spPr>
          <a:xfrm>
            <a:off x="1310639" y="304360"/>
            <a:ext cx="4785360" cy="309315"/>
          </a:xfrm>
          <a:prstGeom prst="rect">
            <a:avLst/>
          </a:prstGeom>
          <a:noFill/>
        </p:spPr>
        <p:txBody>
          <a:bodyPr wrap="square" lIns="0" tIns="0" rIns="0" bIns="0" anchor="t">
            <a:spAutoFit/>
          </a:bodyPr>
          <a:lstStyle/>
          <a:p>
            <a:pPr>
              <a:lnSpc>
                <a:spcPct val="105000"/>
              </a:lnSpc>
            </a:pPr>
            <a:r>
              <a:rPr sz="2000" b="1" dirty="0" err="1">
                <a:solidFill>
                  <a:srgbClr val="004E98"/>
                </a:solidFill>
                <a:latin typeface="微软雅黑" panose="020B0503020204020204" pitchFamily="34" charset="-122"/>
                <a:ea typeface="微软雅黑" panose="020B0503020204020204" pitchFamily="34" charset="-122"/>
              </a:rPr>
              <a:t>研究内容</a:t>
            </a:r>
            <a:r>
              <a:rPr lang="zh-CN" altLang="en-US" sz="2000" b="1" dirty="0">
                <a:solidFill>
                  <a:srgbClr val="004E98"/>
                </a:solidFill>
                <a:latin typeface="微软雅黑" panose="020B0503020204020204" pitchFamily="34" charset="-122"/>
                <a:ea typeface="微软雅黑" panose="020B0503020204020204" pitchFamily="34" charset="-122"/>
              </a:rPr>
              <a:t>：</a:t>
            </a:r>
            <a:r>
              <a:rPr lang="en-US" altLang="zh-CN" sz="2000" b="1" dirty="0">
                <a:solidFill>
                  <a:srgbClr val="004E98"/>
                </a:solidFill>
                <a:latin typeface="微软雅黑" panose="020B0503020204020204" pitchFamily="34" charset="-122"/>
                <a:ea typeface="微软雅黑" panose="020B0503020204020204" pitchFamily="34" charset="-122"/>
              </a:rPr>
              <a:t>CoT-CMP</a:t>
            </a:r>
            <a:r>
              <a:rPr lang="zh-CN" altLang="en-US" sz="2000" b="1" dirty="0">
                <a:solidFill>
                  <a:srgbClr val="004E98"/>
                </a:solidFill>
                <a:latin typeface="微软雅黑" panose="020B0503020204020204" pitchFamily="34" charset="-122"/>
                <a:ea typeface="微软雅黑" panose="020B0503020204020204" pitchFamily="34" charset="-122"/>
              </a:rPr>
              <a:t>实验设计</a:t>
            </a:r>
            <a:endParaRPr lang="zh-CN" altLang="zh-CN" b="1" dirty="0">
              <a:solidFill>
                <a:srgbClr val="004E98"/>
              </a:solidFill>
              <a:latin typeface="微软雅黑" panose="020B0503020204020204" pitchFamily="34" charset="-122"/>
              <a:ea typeface="微软雅黑" panose="020B0503020204020204" pitchFamily="34" charset="-122"/>
            </a:endParaRPr>
          </a:p>
        </p:txBody>
      </p:sp>
      <p:sp>
        <p:nvSpPr>
          <p:cNvPr id="6" name="Rounded Rectangle 10">
            <a:extLst>
              <a:ext uri="{FF2B5EF4-FFF2-40B4-BE49-F238E27FC236}">
                <a16:creationId xmlns:a16="http://schemas.microsoft.com/office/drawing/2014/main" id="{3ED2BD5E-A772-9181-6A67-96C994CC48EB}"/>
              </a:ext>
            </a:extLst>
          </p:cNvPr>
          <p:cNvSpPr/>
          <p:nvPr/>
        </p:nvSpPr>
        <p:spPr>
          <a:xfrm>
            <a:off x="378903" y="1688591"/>
            <a:ext cx="3534538" cy="4329685"/>
          </a:xfrm>
          <a:prstGeom prst="round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4">
            <a:extLst>
              <a:ext uri="{FF2B5EF4-FFF2-40B4-BE49-F238E27FC236}">
                <a16:creationId xmlns:a16="http://schemas.microsoft.com/office/drawing/2014/main" id="{10B8BD99-5DDB-3426-06AB-251E8D9D878D}"/>
              </a:ext>
            </a:extLst>
          </p:cNvPr>
          <p:cNvSpPr/>
          <p:nvPr/>
        </p:nvSpPr>
        <p:spPr>
          <a:xfrm>
            <a:off x="4352537" y="1688591"/>
            <a:ext cx="3547306" cy="4273678"/>
          </a:xfrm>
          <a:prstGeom prst="round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8">
            <a:extLst>
              <a:ext uri="{FF2B5EF4-FFF2-40B4-BE49-F238E27FC236}">
                <a16:creationId xmlns:a16="http://schemas.microsoft.com/office/drawing/2014/main" id="{87FCADC5-6E5A-0A59-601A-7D47912B02A8}"/>
              </a:ext>
            </a:extLst>
          </p:cNvPr>
          <p:cNvSpPr/>
          <p:nvPr/>
        </p:nvSpPr>
        <p:spPr>
          <a:xfrm>
            <a:off x="8278561" y="1658002"/>
            <a:ext cx="3547306" cy="4304267"/>
          </a:xfrm>
          <a:prstGeom prst="round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文本框 21">
            <a:extLst>
              <a:ext uri="{FF2B5EF4-FFF2-40B4-BE49-F238E27FC236}">
                <a16:creationId xmlns:a16="http://schemas.microsoft.com/office/drawing/2014/main" id="{BC29E709-D0A3-49D5-1517-E22ADBFBA17F}"/>
              </a:ext>
            </a:extLst>
          </p:cNvPr>
          <p:cNvSpPr txBox="1"/>
          <p:nvPr/>
        </p:nvSpPr>
        <p:spPr>
          <a:xfrm>
            <a:off x="602352" y="1893644"/>
            <a:ext cx="3100967" cy="307777"/>
          </a:xfrm>
          <a:prstGeom prst="rect">
            <a:avLst/>
          </a:prstGeom>
          <a:noFill/>
        </p:spPr>
        <p:txBody>
          <a:bodyPr wrap="square">
            <a:spAutoFit/>
          </a:bodyPr>
          <a:lstStyle/>
          <a:p>
            <a:r>
              <a:rPr lang="zh-CN" altLang="en-US" sz="1400" b="1" dirty="0">
                <a:solidFill>
                  <a:schemeClr val="bg1"/>
                </a:solidFill>
              </a:rPr>
              <a:t>数据集</a:t>
            </a:r>
            <a:r>
              <a:rPr lang="en-US" altLang="zh-CN" sz="1400" b="1" dirty="0">
                <a:solidFill>
                  <a:schemeClr val="bg1"/>
                </a:solidFill>
              </a:rPr>
              <a:t>:TDC ADMET Benchmark Group</a:t>
            </a:r>
            <a:endParaRPr lang="zh-CN" altLang="en-US" sz="1400" b="1" dirty="0">
              <a:solidFill>
                <a:schemeClr val="bg1"/>
              </a:solidFill>
            </a:endParaRPr>
          </a:p>
        </p:txBody>
      </p:sp>
      <p:sp>
        <p:nvSpPr>
          <p:cNvPr id="23" name="文本框 22">
            <a:extLst>
              <a:ext uri="{FF2B5EF4-FFF2-40B4-BE49-F238E27FC236}">
                <a16:creationId xmlns:a16="http://schemas.microsoft.com/office/drawing/2014/main" id="{16D74979-8943-4B9D-6DD0-E192C6955503}"/>
              </a:ext>
            </a:extLst>
          </p:cNvPr>
          <p:cNvSpPr txBox="1"/>
          <p:nvPr/>
        </p:nvSpPr>
        <p:spPr>
          <a:xfrm>
            <a:off x="5619369" y="1876915"/>
            <a:ext cx="953263" cy="307777"/>
          </a:xfrm>
          <a:prstGeom prst="rect">
            <a:avLst/>
          </a:prstGeom>
          <a:noFill/>
        </p:spPr>
        <p:txBody>
          <a:bodyPr wrap="square">
            <a:spAutoFit/>
          </a:bodyPr>
          <a:lstStyle/>
          <a:p>
            <a:r>
              <a:rPr lang="zh-CN" altLang="en-US" sz="1400" b="1" dirty="0">
                <a:solidFill>
                  <a:schemeClr val="bg1"/>
                </a:solidFill>
              </a:rPr>
              <a:t>对比模型</a:t>
            </a:r>
          </a:p>
        </p:txBody>
      </p:sp>
      <p:sp>
        <p:nvSpPr>
          <p:cNvPr id="24" name="文本框 23">
            <a:extLst>
              <a:ext uri="{FF2B5EF4-FFF2-40B4-BE49-F238E27FC236}">
                <a16:creationId xmlns:a16="http://schemas.microsoft.com/office/drawing/2014/main" id="{65917CC4-CCA6-F2CF-BED7-1EFCA66CEF07}"/>
              </a:ext>
            </a:extLst>
          </p:cNvPr>
          <p:cNvSpPr txBox="1"/>
          <p:nvPr/>
        </p:nvSpPr>
        <p:spPr>
          <a:xfrm>
            <a:off x="9575582" y="1876915"/>
            <a:ext cx="953263" cy="307777"/>
          </a:xfrm>
          <a:prstGeom prst="rect">
            <a:avLst/>
          </a:prstGeom>
          <a:noFill/>
        </p:spPr>
        <p:txBody>
          <a:bodyPr wrap="square">
            <a:spAutoFit/>
          </a:bodyPr>
          <a:lstStyle/>
          <a:p>
            <a:r>
              <a:rPr lang="zh-CN" altLang="en-US" sz="1400" b="1" dirty="0">
                <a:solidFill>
                  <a:schemeClr val="bg1"/>
                </a:solidFill>
              </a:rPr>
              <a:t>评价指标</a:t>
            </a:r>
          </a:p>
        </p:txBody>
      </p:sp>
      <p:grpSp>
        <p:nvGrpSpPr>
          <p:cNvPr id="31" name="组合 30">
            <a:extLst>
              <a:ext uri="{FF2B5EF4-FFF2-40B4-BE49-F238E27FC236}">
                <a16:creationId xmlns:a16="http://schemas.microsoft.com/office/drawing/2014/main" id="{0C8C3017-4598-AFCC-1E68-31AAF3DC83DC}"/>
              </a:ext>
            </a:extLst>
          </p:cNvPr>
          <p:cNvGrpSpPr/>
          <p:nvPr/>
        </p:nvGrpSpPr>
        <p:grpSpPr>
          <a:xfrm>
            <a:off x="754752" y="3828117"/>
            <a:ext cx="3040760" cy="634447"/>
            <a:chOff x="602352" y="2270584"/>
            <a:chExt cx="3040760" cy="634447"/>
          </a:xfrm>
        </p:grpSpPr>
        <p:sp>
          <p:nvSpPr>
            <p:cNvPr id="28" name="TextBox 15">
              <a:extLst>
                <a:ext uri="{FF2B5EF4-FFF2-40B4-BE49-F238E27FC236}">
                  <a16:creationId xmlns:a16="http://schemas.microsoft.com/office/drawing/2014/main" id="{C143E531-278E-76B5-68E4-C51B618DBE24}"/>
                </a:ext>
              </a:extLst>
            </p:cNvPr>
            <p:cNvSpPr txBox="1"/>
            <p:nvPr/>
          </p:nvSpPr>
          <p:spPr>
            <a:xfrm>
              <a:off x="607304" y="2270584"/>
              <a:ext cx="3035808" cy="216021"/>
            </a:xfrm>
            <a:prstGeom prst="rect">
              <a:avLst/>
            </a:prstGeom>
            <a:noFill/>
          </p:spPr>
          <p:txBody>
            <a:bodyPr wrap="square" lIns="0" tIns="0" rIns="0" bIns="0" anchor="t">
              <a:spAutoFit/>
            </a:bodyPr>
            <a:lstStyle/>
            <a:p>
              <a:pPr>
                <a:lnSpc>
                  <a:spcPct val="105000"/>
                </a:lnSpc>
              </a:pPr>
              <a:r>
                <a:rPr lang="en-US" altLang="zh-CN" sz="1400" b="1" dirty="0">
                  <a:solidFill>
                    <a:schemeClr val="bg1"/>
                  </a:solidFill>
                  <a:latin typeface="微软雅黑" panose="020B0503020204020204" pitchFamily="34" charset="-122"/>
                  <a:ea typeface="微软雅黑" panose="020B0503020204020204" pitchFamily="34" charset="-122"/>
                </a:rPr>
                <a:t>3. </a:t>
              </a:r>
              <a:r>
                <a:rPr lang="zh-CN" altLang="en-US" sz="1400" b="1" dirty="0">
                  <a:solidFill>
                    <a:schemeClr val="bg1"/>
                  </a:solidFill>
                  <a:latin typeface="微软雅黑" panose="020B0503020204020204" pitchFamily="34" charset="-122"/>
                  <a:ea typeface="微软雅黑" panose="020B0503020204020204" pitchFamily="34" charset="-122"/>
                </a:rPr>
                <a:t>代谢 </a:t>
              </a:r>
              <a:r>
                <a:rPr lang="en-US" altLang="zh-CN" sz="1400" b="1" dirty="0">
                  <a:solidFill>
                    <a:schemeClr val="bg1"/>
                  </a:solidFill>
                  <a:latin typeface="微软雅黑" panose="020B0503020204020204" pitchFamily="34" charset="-122"/>
                  <a:ea typeface="微软雅黑" panose="020B0503020204020204" pitchFamily="34" charset="-122"/>
                </a:rPr>
                <a:t>Metabolism</a:t>
              </a:r>
              <a:r>
                <a:rPr lang="zh-CN" altLang="en-US" sz="1400" b="1" dirty="0">
                  <a:solidFill>
                    <a:schemeClr val="bg1"/>
                  </a:solidFill>
                  <a:latin typeface="微软雅黑" panose="020B0503020204020204" pitchFamily="34" charset="-122"/>
                  <a:ea typeface="微软雅黑" panose="020B0503020204020204" pitchFamily="34" charset="-122"/>
                </a:rPr>
                <a:t>：</a:t>
              </a:r>
              <a:r>
                <a:rPr lang="en-US" altLang="zh-CN" sz="1400" b="1" dirty="0">
                  <a:solidFill>
                    <a:schemeClr val="bg1"/>
                  </a:solidFill>
                  <a:latin typeface="微软雅黑" panose="020B0503020204020204" pitchFamily="34" charset="-122"/>
                  <a:ea typeface="微软雅黑" panose="020B0503020204020204" pitchFamily="34" charset="-122"/>
                </a:rPr>
                <a:t>6</a:t>
              </a:r>
              <a:r>
                <a:rPr lang="zh-CN" altLang="en-US" sz="1400" b="1" dirty="0">
                  <a:solidFill>
                    <a:schemeClr val="bg1"/>
                  </a:solidFill>
                  <a:latin typeface="微软雅黑" panose="020B0503020204020204" pitchFamily="34" charset="-122"/>
                  <a:ea typeface="微软雅黑" panose="020B0503020204020204" pitchFamily="34" charset="-122"/>
                </a:rPr>
                <a:t>个任务</a:t>
              </a:r>
              <a:endParaRPr sz="1450" b="1" dirty="0">
                <a:solidFill>
                  <a:schemeClr val="bg1"/>
                </a:solidFill>
                <a:latin typeface="微软雅黑" panose="020B0503020204020204" pitchFamily="34" charset="-122"/>
                <a:ea typeface="微软雅黑" panose="020B0503020204020204" pitchFamily="34" charset="-122"/>
              </a:endParaRPr>
            </a:p>
          </p:txBody>
        </p:sp>
        <p:sp>
          <p:nvSpPr>
            <p:cNvPr id="29" name="TextBox 16">
              <a:extLst>
                <a:ext uri="{FF2B5EF4-FFF2-40B4-BE49-F238E27FC236}">
                  <a16:creationId xmlns:a16="http://schemas.microsoft.com/office/drawing/2014/main" id="{FA2DB4D8-4B3B-50F7-138F-9055BC69BA9D}"/>
                </a:ext>
              </a:extLst>
            </p:cNvPr>
            <p:cNvSpPr txBox="1"/>
            <p:nvPr/>
          </p:nvSpPr>
          <p:spPr>
            <a:xfrm>
              <a:off x="602352" y="2564553"/>
              <a:ext cx="3017520" cy="340478"/>
            </a:xfrm>
            <a:prstGeom prst="rect">
              <a:avLst/>
            </a:prstGeom>
            <a:noFill/>
          </p:spPr>
          <p:txBody>
            <a:bodyPr wrap="square" lIns="0" tIns="0" rIns="0" bIns="0" anchor="t">
              <a:spAutoFit/>
            </a:bodyPr>
            <a:lstStyle/>
            <a:p>
              <a:pPr>
                <a:lnSpc>
                  <a:spcPct val="108000"/>
                </a:lnSpc>
              </a:pPr>
              <a:r>
                <a:rPr lang="en-US" altLang="zh-CN" sz="1050" dirty="0">
                  <a:solidFill>
                    <a:schemeClr val="bg1"/>
                  </a:solidFill>
                  <a:latin typeface="Calibri (正文)"/>
                  <a:ea typeface="微软雅黑" panose="020B0503020204020204" pitchFamily="34" charset="-122"/>
                </a:rPr>
                <a:t>CYP2C9 / CYP2D6 / CYP3A4 Inhibition</a:t>
              </a:r>
              <a:br>
                <a:rPr lang="en-US" altLang="zh-CN" sz="1050" dirty="0">
                  <a:solidFill>
                    <a:schemeClr val="bg1"/>
                  </a:solidFill>
                  <a:latin typeface="Calibri (正文)"/>
                  <a:ea typeface="微软雅黑" panose="020B0503020204020204" pitchFamily="34" charset="-122"/>
                </a:rPr>
              </a:br>
              <a:r>
                <a:rPr lang="en-US" altLang="zh-CN" sz="1050" dirty="0">
                  <a:solidFill>
                    <a:schemeClr val="bg1"/>
                  </a:solidFill>
                  <a:latin typeface="Calibri (正文)"/>
                  <a:ea typeface="微软雅黑" panose="020B0503020204020204" pitchFamily="34" charset="-122"/>
                </a:rPr>
                <a:t>CYP2C9 / CYP2D6 / CYP3A4 Substrate</a:t>
              </a:r>
              <a:endParaRPr sz="1050" dirty="0">
                <a:solidFill>
                  <a:schemeClr val="bg1"/>
                </a:solidFill>
                <a:latin typeface="Calibri (正文)"/>
                <a:ea typeface="微软雅黑" panose="020B0503020204020204" pitchFamily="34" charset="-122"/>
              </a:endParaRPr>
            </a:p>
          </p:txBody>
        </p:sp>
      </p:grpSp>
      <p:grpSp>
        <p:nvGrpSpPr>
          <p:cNvPr id="51" name="组合 50">
            <a:extLst>
              <a:ext uri="{FF2B5EF4-FFF2-40B4-BE49-F238E27FC236}">
                <a16:creationId xmlns:a16="http://schemas.microsoft.com/office/drawing/2014/main" id="{90D0CC30-E47E-94DB-6481-D84F44450B1A}"/>
              </a:ext>
            </a:extLst>
          </p:cNvPr>
          <p:cNvGrpSpPr/>
          <p:nvPr/>
        </p:nvGrpSpPr>
        <p:grpSpPr>
          <a:xfrm>
            <a:off x="754752" y="3170384"/>
            <a:ext cx="3035808" cy="454586"/>
            <a:chOff x="602352" y="2523318"/>
            <a:chExt cx="3035808" cy="454586"/>
          </a:xfrm>
        </p:grpSpPr>
        <p:sp>
          <p:nvSpPr>
            <p:cNvPr id="52" name="TextBox 15">
              <a:extLst>
                <a:ext uri="{FF2B5EF4-FFF2-40B4-BE49-F238E27FC236}">
                  <a16:creationId xmlns:a16="http://schemas.microsoft.com/office/drawing/2014/main" id="{A306D1E0-0BE5-A8CE-C33E-1987D4B0B2D7}"/>
                </a:ext>
              </a:extLst>
            </p:cNvPr>
            <p:cNvSpPr txBox="1"/>
            <p:nvPr/>
          </p:nvSpPr>
          <p:spPr>
            <a:xfrm>
              <a:off x="602352" y="2523318"/>
              <a:ext cx="3035808" cy="216470"/>
            </a:xfrm>
            <a:prstGeom prst="rect">
              <a:avLst/>
            </a:prstGeom>
            <a:noFill/>
          </p:spPr>
          <p:txBody>
            <a:bodyPr wrap="square" lIns="0" tIns="0" rIns="0" bIns="0" anchor="t">
              <a:spAutoFit/>
            </a:bodyPr>
            <a:lstStyle/>
            <a:p>
              <a:pPr>
                <a:lnSpc>
                  <a:spcPct val="105000"/>
                </a:lnSpc>
              </a:pPr>
              <a:r>
                <a:rPr lang="en-US" altLang="zh-CN" sz="1400" b="1" dirty="0">
                  <a:solidFill>
                    <a:schemeClr val="bg1"/>
                  </a:solidFill>
                  <a:latin typeface="微软雅黑" panose="020B0503020204020204" pitchFamily="34" charset="-122"/>
                  <a:ea typeface="微软雅黑" panose="020B0503020204020204" pitchFamily="34" charset="-122"/>
                </a:rPr>
                <a:t>2. </a:t>
              </a:r>
              <a:r>
                <a:rPr lang="zh-CN" altLang="en-US" sz="1400" b="1" dirty="0">
                  <a:solidFill>
                    <a:schemeClr val="bg1"/>
                  </a:solidFill>
                  <a:latin typeface="微软雅黑" panose="020B0503020204020204" pitchFamily="34" charset="-122"/>
                  <a:ea typeface="微软雅黑" panose="020B0503020204020204" pitchFamily="34" charset="-122"/>
                </a:rPr>
                <a:t>分布 </a:t>
              </a:r>
              <a:r>
                <a:rPr lang="en-US" altLang="zh-CN" sz="1400" b="1" dirty="0">
                  <a:solidFill>
                    <a:schemeClr val="bg1"/>
                  </a:solidFill>
                  <a:latin typeface="微软雅黑" panose="020B0503020204020204" pitchFamily="34" charset="-122"/>
                  <a:ea typeface="微软雅黑" panose="020B0503020204020204" pitchFamily="34" charset="-122"/>
                </a:rPr>
                <a:t>Distribution</a:t>
              </a:r>
              <a:r>
                <a:rPr lang="zh-CN" altLang="en-US" sz="1400" b="1" dirty="0">
                  <a:solidFill>
                    <a:schemeClr val="bg1"/>
                  </a:solidFill>
                  <a:latin typeface="微软雅黑" panose="020B0503020204020204" pitchFamily="34" charset="-122"/>
                  <a:ea typeface="微软雅黑" panose="020B0503020204020204" pitchFamily="34" charset="-122"/>
                </a:rPr>
                <a:t>：</a:t>
              </a:r>
              <a:r>
                <a:rPr lang="en-US" altLang="zh-CN" sz="1400" b="1" dirty="0">
                  <a:solidFill>
                    <a:schemeClr val="bg1"/>
                  </a:solidFill>
                  <a:latin typeface="微软雅黑" panose="020B0503020204020204" pitchFamily="34" charset="-122"/>
                  <a:ea typeface="微软雅黑" panose="020B0503020204020204" pitchFamily="34" charset="-122"/>
                </a:rPr>
                <a:t>3</a:t>
              </a:r>
              <a:r>
                <a:rPr lang="zh-CN" altLang="en-US" sz="1400" b="1" dirty="0">
                  <a:solidFill>
                    <a:schemeClr val="bg1"/>
                  </a:solidFill>
                  <a:latin typeface="微软雅黑" panose="020B0503020204020204" pitchFamily="34" charset="-122"/>
                  <a:ea typeface="微软雅黑" panose="020B0503020204020204" pitchFamily="34" charset="-122"/>
                </a:rPr>
                <a:t>个任务</a:t>
              </a:r>
              <a:endParaRPr sz="1450" b="1" dirty="0">
                <a:solidFill>
                  <a:schemeClr val="bg1"/>
                </a:solidFill>
                <a:latin typeface="微软雅黑" panose="020B0503020204020204" pitchFamily="34" charset="-122"/>
                <a:ea typeface="微软雅黑" panose="020B0503020204020204" pitchFamily="34" charset="-122"/>
              </a:endParaRPr>
            </a:p>
          </p:txBody>
        </p:sp>
        <p:sp>
          <p:nvSpPr>
            <p:cNvPr id="53" name="TextBox 16">
              <a:extLst>
                <a:ext uri="{FF2B5EF4-FFF2-40B4-BE49-F238E27FC236}">
                  <a16:creationId xmlns:a16="http://schemas.microsoft.com/office/drawing/2014/main" id="{110FDAB4-9614-DFE7-2BB5-FE146332730E}"/>
                </a:ext>
              </a:extLst>
            </p:cNvPr>
            <p:cNvSpPr txBox="1"/>
            <p:nvPr/>
          </p:nvSpPr>
          <p:spPr>
            <a:xfrm>
              <a:off x="607304" y="2816321"/>
              <a:ext cx="3017520" cy="161583"/>
            </a:xfrm>
            <a:prstGeom prst="rect">
              <a:avLst/>
            </a:prstGeom>
            <a:noFill/>
          </p:spPr>
          <p:txBody>
            <a:bodyPr wrap="square" lIns="0" tIns="0" rIns="0" bIns="0" anchor="t">
              <a:spAutoFit/>
            </a:bodyPr>
            <a:lstStyle/>
            <a:p>
              <a:r>
                <a:rPr lang="en-US" altLang="zh-CN" sz="1050" dirty="0">
                  <a:solidFill>
                    <a:schemeClr val="bg1"/>
                  </a:solidFill>
                </a:rPr>
                <a:t>BBB</a:t>
              </a:r>
              <a:r>
                <a:rPr lang="zh-CN" altLang="en-US" sz="1050" dirty="0">
                  <a:solidFill>
                    <a:schemeClr val="bg1"/>
                  </a:solidFill>
                </a:rPr>
                <a:t>、</a:t>
              </a:r>
              <a:r>
                <a:rPr lang="en-US" altLang="zh-CN" sz="1050" dirty="0">
                  <a:solidFill>
                    <a:schemeClr val="bg1"/>
                  </a:solidFill>
                </a:rPr>
                <a:t>PPBR</a:t>
              </a:r>
              <a:r>
                <a:rPr lang="zh-CN" altLang="en-US" sz="1050" dirty="0">
                  <a:solidFill>
                    <a:schemeClr val="bg1"/>
                  </a:solidFill>
                </a:rPr>
                <a:t>、</a:t>
              </a:r>
              <a:r>
                <a:rPr lang="en-US" altLang="zh-CN" sz="1050" dirty="0">
                  <a:solidFill>
                    <a:schemeClr val="bg1"/>
                  </a:solidFill>
                </a:rPr>
                <a:t>VDss</a:t>
              </a:r>
            </a:p>
          </p:txBody>
        </p:sp>
      </p:grpSp>
      <p:grpSp>
        <p:nvGrpSpPr>
          <p:cNvPr id="54" name="组合 53">
            <a:extLst>
              <a:ext uri="{FF2B5EF4-FFF2-40B4-BE49-F238E27FC236}">
                <a16:creationId xmlns:a16="http://schemas.microsoft.com/office/drawing/2014/main" id="{FEFC3A13-AD79-4EED-A17F-23A3B0B0827F}"/>
              </a:ext>
            </a:extLst>
          </p:cNvPr>
          <p:cNvGrpSpPr/>
          <p:nvPr/>
        </p:nvGrpSpPr>
        <p:grpSpPr>
          <a:xfrm>
            <a:off x="754752" y="2516295"/>
            <a:ext cx="3035808" cy="452514"/>
            <a:chOff x="602352" y="2668695"/>
            <a:chExt cx="3035808" cy="452514"/>
          </a:xfrm>
        </p:grpSpPr>
        <p:sp>
          <p:nvSpPr>
            <p:cNvPr id="55" name="TextBox 15">
              <a:extLst>
                <a:ext uri="{FF2B5EF4-FFF2-40B4-BE49-F238E27FC236}">
                  <a16:creationId xmlns:a16="http://schemas.microsoft.com/office/drawing/2014/main" id="{C5E34819-18A1-DD0C-2785-BE978EFB81A1}"/>
                </a:ext>
              </a:extLst>
            </p:cNvPr>
            <p:cNvSpPr txBox="1"/>
            <p:nvPr/>
          </p:nvSpPr>
          <p:spPr>
            <a:xfrm>
              <a:off x="602352" y="2668695"/>
              <a:ext cx="3035808" cy="219997"/>
            </a:xfrm>
            <a:prstGeom prst="rect">
              <a:avLst/>
            </a:prstGeom>
            <a:noFill/>
          </p:spPr>
          <p:txBody>
            <a:bodyPr wrap="square" lIns="0" tIns="0" rIns="0" bIns="0" anchor="t">
              <a:spAutoFit/>
            </a:bodyPr>
            <a:lstStyle/>
            <a:p>
              <a:pPr>
                <a:lnSpc>
                  <a:spcPct val="105000"/>
                </a:lnSpc>
              </a:pPr>
              <a:r>
                <a:rPr lang="en-US" altLang="zh-CN" sz="1400" b="1" dirty="0">
                  <a:solidFill>
                    <a:schemeClr val="bg1"/>
                  </a:solidFill>
                  <a:latin typeface="微软雅黑" panose="020B0503020204020204" pitchFamily="34" charset="-122"/>
                  <a:ea typeface="微软雅黑" panose="020B0503020204020204" pitchFamily="34" charset="-122"/>
                </a:rPr>
                <a:t>1. </a:t>
              </a:r>
              <a:r>
                <a:rPr lang="zh-CN" altLang="en-US" sz="1400" b="1" dirty="0">
                  <a:solidFill>
                    <a:schemeClr val="bg1"/>
                  </a:solidFill>
                  <a:latin typeface="微软雅黑" panose="020B0503020204020204" pitchFamily="34" charset="-122"/>
                  <a:ea typeface="微软雅黑" panose="020B0503020204020204" pitchFamily="34" charset="-122"/>
                </a:rPr>
                <a:t>吸收 </a:t>
              </a:r>
              <a:r>
                <a:rPr lang="en-US" altLang="zh-CN" sz="1400" b="1" dirty="0">
                  <a:solidFill>
                    <a:schemeClr val="bg1"/>
                  </a:solidFill>
                  <a:latin typeface="微软雅黑" panose="020B0503020204020204" pitchFamily="34" charset="-122"/>
                  <a:ea typeface="微软雅黑" panose="020B0503020204020204" pitchFamily="34" charset="-122"/>
                </a:rPr>
                <a:t>Absorption</a:t>
              </a:r>
              <a:r>
                <a:rPr lang="zh-CN" altLang="en-US" sz="1400" b="1" dirty="0">
                  <a:solidFill>
                    <a:schemeClr val="bg1"/>
                  </a:solidFill>
                  <a:latin typeface="微软雅黑" panose="020B0503020204020204" pitchFamily="34" charset="-122"/>
                  <a:ea typeface="微软雅黑" panose="020B0503020204020204" pitchFamily="34" charset="-122"/>
                </a:rPr>
                <a:t>：</a:t>
              </a:r>
              <a:r>
                <a:rPr lang="en-US" altLang="zh-CN" sz="1400" b="1" dirty="0">
                  <a:solidFill>
                    <a:schemeClr val="bg1"/>
                  </a:solidFill>
                  <a:latin typeface="微软雅黑" panose="020B0503020204020204" pitchFamily="34" charset="-122"/>
                  <a:ea typeface="微软雅黑" panose="020B0503020204020204" pitchFamily="34" charset="-122"/>
                </a:rPr>
                <a:t>6</a:t>
              </a:r>
              <a:r>
                <a:rPr lang="zh-CN" altLang="en-US" sz="1400" b="1" dirty="0">
                  <a:solidFill>
                    <a:schemeClr val="bg1"/>
                  </a:solidFill>
                  <a:latin typeface="微软雅黑" panose="020B0503020204020204" pitchFamily="34" charset="-122"/>
                  <a:ea typeface="微软雅黑" panose="020B0503020204020204" pitchFamily="34" charset="-122"/>
                </a:rPr>
                <a:t>个任务</a:t>
              </a:r>
              <a:endParaRPr sz="1450" b="1" dirty="0">
                <a:solidFill>
                  <a:schemeClr val="bg1"/>
                </a:solidFill>
                <a:latin typeface="微软雅黑" panose="020B0503020204020204" pitchFamily="34" charset="-122"/>
                <a:ea typeface="微软雅黑" panose="020B0503020204020204" pitchFamily="34" charset="-122"/>
              </a:endParaRPr>
            </a:p>
          </p:txBody>
        </p:sp>
        <p:sp>
          <p:nvSpPr>
            <p:cNvPr id="56" name="TextBox 16">
              <a:extLst>
                <a:ext uri="{FF2B5EF4-FFF2-40B4-BE49-F238E27FC236}">
                  <a16:creationId xmlns:a16="http://schemas.microsoft.com/office/drawing/2014/main" id="{BF35FB1F-06F3-C82B-EAD3-7C7C0CB32B0A}"/>
                </a:ext>
              </a:extLst>
            </p:cNvPr>
            <p:cNvSpPr txBox="1"/>
            <p:nvPr/>
          </p:nvSpPr>
          <p:spPr>
            <a:xfrm>
              <a:off x="602352" y="2954945"/>
              <a:ext cx="3017520" cy="166264"/>
            </a:xfrm>
            <a:prstGeom prst="rect">
              <a:avLst/>
            </a:prstGeom>
            <a:noFill/>
          </p:spPr>
          <p:txBody>
            <a:bodyPr wrap="square" lIns="0" tIns="0" rIns="0" bIns="0" anchor="t">
              <a:spAutoFit/>
            </a:bodyPr>
            <a:lstStyle/>
            <a:p>
              <a:pPr>
                <a:lnSpc>
                  <a:spcPct val="108000"/>
                </a:lnSpc>
              </a:pPr>
              <a:r>
                <a:rPr lang="en-US" altLang="zh-CN" sz="1050" dirty="0">
                  <a:solidFill>
                    <a:schemeClr val="bg1"/>
                  </a:solidFill>
                </a:rPr>
                <a:t>Caco2</a:t>
              </a:r>
              <a:r>
                <a:rPr lang="zh-CN" altLang="en-US" sz="1050" dirty="0">
                  <a:solidFill>
                    <a:schemeClr val="bg1"/>
                  </a:solidFill>
                </a:rPr>
                <a:t>、</a:t>
              </a:r>
              <a:r>
                <a:rPr lang="en-US" altLang="zh-CN" sz="1050" dirty="0">
                  <a:solidFill>
                    <a:schemeClr val="bg1"/>
                  </a:solidFill>
                </a:rPr>
                <a:t>HIA</a:t>
              </a:r>
              <a:r>
                <a:rPr lang="zh-CN" altLang="en-US" sz="1050" dirty="0">
                  <a:solidFill>
                    <a:schemeClr val="bg1"/>
                  </a:solidFill>
                </a:rPr>
                <a:t>、</a:t>
              </a:r>
              <a:r>
                <a:rPr lang="en-US" altLang="zh-CN" sz="1050" dirty="0">
                  <a:solidFill>
                    <a:schemeClr val="bg1"/>
                  </a:solidFill>
                </a:rPr>
                <a:t>Pgp</a:t>
              </a:r>
              <a:r>
                <a:rPr lang="zh-CN" altLang="en-US" sz="1050" dirty="0">
                  <a:solidFill>
                    <a:schemeClr val="bg1"/>
                  </a:solidFill>
                </a:rPr>
                <a:t>、</a:t>
              </a:r>
              <a:r>
                <a:rPr lang="en-US" altLang="zh-CN" sz="1050" dirty="0">
                  <a:solidFill>
                    <a:schemeClr val="bg1"/>
                  </a:solidFill>
                </a:rPr>
                <a:t>Bioav</a:t>
              </a:r>
              <a:r>
                <a:rPr lang="zh-CN" altLang="en-US" sz="1050" dirty="0">
                  <a:solidFill>
                    <a:schemeClr val="bg1"/>
                  </a:solidFill>
                </a:rPr>
                <a:t>、</a:t>
              </a:r>
              <a:r>
                <a:rPr lang="en-US" altLang="zh-CN" sz="1050" dirty="0">
                  <a:solidFill>
                    <a:schemeClr val="bg1"/>
                  </a:solidFill>
                </a:rPr>
                <a:t>Lipo</a:t>
              </a:r>
              <a:r>
                <a:rPr lang="zh-CN" altLang="en-US" sz="1050" dirty="0">
                  <a:solidFill>
                    <a:schemeClr val="bg1"/>
                  </a:solidFill>
                </a:rPr>
                <a:t>、</a:t>
              </a:r>
              <a:r>
                <a:rPr lang="en-US" altLang="zh-CN" sz="1050" dirty="0">
                  <a:solidFill>
                    <a:schemeClr val="bg1"/>
                  </a:solidFill>
                </a:rPr>
                <a:t>AqSol</a:t>
              </a:r>
              <a:endParaRPr sz="1050" b="0" dirty="0">
                <a:solidFill>
                  <a:schemeClr val="bg1"/>
                </a:solidFill>
                <a:latin typeface="微软雅黑 Light"/>
              </a:endParaRPr>
            </a:p>
          </p:txBody>
        </p:sp>
      </p:grpSp>
      <p:grpSp>
        <p:nvGrpSpPr>
          <p:cNvPr id="57" name="组合 56">
            <a:extLst>
              <a:ext uri="{FF2B5EF4-FFF2-40B4-BE49-F238E27FC236}">
                <a16:creationId xmlns:a16="http://schemas.microsoft.com/office/drawing/2014/main" id="{C93BFFDF-5E9D-2D81-3EDA-537A5B983C76}"/>
              </a:ext>
            </a:extLst>
          </p:cNvPr>
          <p:cNvGrpSpPr/>
          <p:nvPr/>
        </p:nvGrpSpPr>
        <p:grpSpPr>
          <a:xfrm>
            <a:off x="759704" y="4618345"/>
            <a:ext cx="3035808" cy="457620"/>
            <a:chOff x="607304" y="2182089"/>
            <a:chExt cx="3035808" cy="457620"/>
          </a:xfrm>
        </p:grpSpPr>
        <p:sp>
          <p:nvSpPr>
            <p:cNvPr id="58" name="TextBox 15">
              <a:extLst>
                <a:ext uri="{FF2B5EF4-FFF2-40B4-BE49-F238E27FC236}">
                  <a16:creationId xmlns:a16="http://schemas.microsoft.com/office/drawing/2014/main" id="{29C63479-2A2E-243D-472A-C6697661B62A}"/>
                </a:ext>
              </a:extLst>
            </p:cNvPr>
            <p:cNvSpPr txBox="1"/>
            <p:nvPr/>
          </p:nvSpPr>
          <p:spPr>
            <a:xfrm>
              <a:off x="607304" y="2182089"/>
              <a:ext cx="3035808" cy="216470"/>
            </a:xfrm>
            <a:prstGeom prst="rect">
              <a:avLst/>
            </a:prstGeom>
            <a:noFill/>
          </p:spPr>
          <p:txBody>
            <a:bodyPr wrap="square" lIns="0" tIns="0" rIns="0" bIns="0" anchor="t">
              <a:spAutoFit/>
            </a:bodyPr>
            <a:lstStyle/>
            <a:p>
              <a:pPr>
                <a:lnSpc>
                  <a:spcPct val="105000"/>
                </a:lnSpc>
              </a:pPr>
              <a:r>
                <a:rPr lang="en-US" altLang="zh-CN" sz="1400" b="1" dirty="0">
                  <a:solidFill>
                    <a:schemeClr val="bg1"/>
                  </a:solidFill>
                  <a:latin typeface="微软雅黑" panose="020B0503020204020204" pitchFamily="34" charset="-122"/>
                  <a:ea typeface="微软雅黑" panose="020B0503020204020204" pitchFamily="34" charset="-122"/>
                </a:rPr>
                <a:t>4. </a:t>
              </a:r>
              <a:r>
                <a:rPr lang="zh-CN" altLang="en-US" sz="1400" b="1" dirty="0">
                  <a:solidFill>
                    <a:schemeClr val="bg1"/>
                  </a:solidFill>
                  <a:latin typeface="微软雅黑" panose="020B0503020204020204" pitchFamily="34" charset="-122"/>
                  <a:ea typeface="微软雅黑" panose="020B0503020204020204" pitchFamily="34" charset="-122"/>
                </a:rPr>
                <a:t>排泄 </a:t>
              </a:r>
              <a:r>
                <a:rPr lang="en-US" altLang="zh-CN" sz="1400" b="1" dirty="0">
                  <a:solidFill>
                    <a:schemeClr val="bg1"/>
                  </a:solidFill>
                  <a:latin typeface="微软雅黑" panose="020B0503020204020204" pitchFamily="34" charset="-122"/>
                  <a:ea typeface="微软雅黑" panose="020B0503020204020204" pitchFamily="34" charset="-122"/>
                </a:rPr>
                <a:t>Excretion</a:t>
              </a:r>
              <a:r>
                <a:rPr lang="zh-CN" altLang="en-US" sz="1400" b="1" dirty="0">
                  <a:solidFill>
                    <a:schemeClr val="bg1"/>
                  </a:solidFill>
                  <a:latin typeface="微软雅黑" panose="020B0503020204020204" pitchFamily="34" charset="-122"/>
                  <a:ea typeface="微软雅黑" panose="020B0503020204020204" pitchFamily="34" charset="-122"/>
                </a:rPr>
                <a:t>：</a:t>
              </a:r>
              <a:r>
                <a:rPr lang="en-US" altLang="zh-CN" sz="1400" b="1" dirty="0">
                  <a:solidFill>
                    <a:schemeClr val="bg1"/>
                  </a:solidFill>
                  <a:latin typeface="微软雅黑" panose="020B0503020204020204" pitchFamily="34" charset="-122"/>
                  <a:ea typeface="微软雅黑" panose="020B0503020204020204" pitchFamily="34" charset="-122"/>
                </a:rPr>
                <a:t>3</a:t>
              </a:r>
              <a:r>
                <a:rPr lang="zh-CN" altLang="en-US" sz="1400" b="1" dirty="0">
                  <a:solidFill>
                    <a:schemeClr val="bg1"/>
                  </a:solidFill>
                  <a:latin typeface="微软雅黑" panose="020B0503020204020204" pitchFamily="34" charset="-122"/>
                  <a:ea typeface="微软雅黑" panose="020B0503020204020204" pitchFamily="34" charset="-122"/>
                </a:rPr>
                <a:t>个任务</a:t>
              </a:r>
              <a:endParaRPr sz="1450" b="1" dirty="0">
                <a:solidFill>
                  <a:schemeClr val="bg1"/>
                </a:solidFill>
                <a:latin typeface="微软雅黑" panose="020B0503020204020204" pitchFamily="34" charset="-122"/>
                <a:ea typeface="微软雅黑" panose="020B0503020204020204" pitchFamily="34" charset="-122"/>
              </a:endParaRPr>
            </a:p>
          </p:txBody>
        </p:sp>
        <p:sp>
          <p:nvSpPr>
            <p:cNvPr id="59" name="TextBox 16">
              <a:extLst>
                <a:ext uri="{FF2B5EF4-FFF2-40B4-BE49-F238E27FC236}">
                  <a16:creationId xmlns:a16="http://schemas.microsoft.com/office/drawing/2014/main" id="{08333980-7337-D6E6-B524-1AD61AE9C430}"/>
                </a:ext>
              </a:extLst>
            </p:cNvPr>
            <p:cNvSpPr txBox="1"/>
            <p:nvPr/>
          </p:nvSpPr>
          <p:spPr>
            <a:xfrm>
              <a:off x="607304" y="2473445"/>
              <a:ext cx="3017520" cy="166264"/>
            </a:xfrm>
            <a:prstGeom prst="rect">
              <a:avLst/>
            </a:prstGeom>
            <a:noFill/>
          </p:spPr>
          <p:txBody>
            <a:bodyPr wrap="square" lIns="0" tIns="0" rIns="0" bIns="0" anchor="t">
              <a:spAutoFit/>
            </a:bodyPr>
            <a:lstStyle/>
            <a:p>
              <a:pPr>
                <a:lnSpc>
                  <a:spcPct val="108000"/>
                </a:lnSpc>
              </a:pPr>
              <a:r>
                <a:rPr lang="en-US" altLang="zh-CN" sz="1050" dirty="0">
                  <a:solidFill>
                    <a:schemeClr val="bg1"/>
                  </a:solidFill>
                  <a:latin typeface="Calibri (正文)"/>
                  <a:ea typeface="微软雅黑" panose="020B0503020204020204" pitchFamily="34" charset="-122"/>
                </a:rPr>
                <a:t>Half-life</a:t>
              </a:r>
              <a:r>
                <a:rPr lang="zh-CN" altLang="en-US" sz="1050" dirty="0">
                  <a:solidFill>
                    <a:schemeClr val="bg1"/>
                  </a:solidFill>
                  <a:latin typeface="Calibri (正文)"/>
                  <a:ea typeface="微软雅黑" panose="020B0503020204020204" pitchFamily="34" charset="-122"/>
                </a:rPr>
                <a:t>、</a:t>
              </a:r>
              <a:r>
                <a:rPr lang="en-US" altLang="zh-CN" sz="1050" dirty="0">
                  <a:solidFill>
                    <a:schemeClr val="bg1"/>
                  </a:solidFill>
                  <a:latin typeface="Calibri (正文)"/>
                  <a:ea typeface="微软雅黑" panose="020B0503020204020204" pitchFamily="34" charset="-122"/>
                </a:rPr>
                <a:t>CL-Hepa</a:t>
              </a:r>
              <a:r>
                <a:rPr lang="zh-CN" altLang="en-US" sz="1050" dirty="0">
                  <a:solidFill>
                    <a:schemeClr val="bg1"/>
                  </a:solidFill>
                  <a:latin typeface="Calibri (正文)"/>
                  <a:ea typeface="微软雅黑" panose="020B0503020204020204" pitchFamily="34" charset="-122"/>
                </a:rPr>
                <a:t>、</a:t>
              </a:r>
              <a:r>
                <a:rPr lang="en-US" altLang="zh-CN" sz="1050" dirty="0">
                  <a:solidFill>
                    <a:schemeClr val="bg1"/>
                  </a:solidFill>
                  <a:latin typeface="Calibri (正文)"/>
                  <a:ea typeface="微软雅黑" panose="020B0503020204020204" pitchFamily="34" charset="-122"/>
                </a:rPr>
                <a:t>CL-Micro</a:t>
              </a:r>
              <a:endParaRPr sz="1050" dirty="0">
                <a:solidFill>
                  <a:schemeClr val="bg1"/>
                </a:solidFill>
                <a:latin typeface="Calibri (正文)"/>
                <a:ea typeface="微软雅黑" panose="020B0503020204020204" pitchFamily="34" charset="-122"/>
              </a:endParaRPr>
            </a:p>
          </p:txBody>
        </p:sp>
      </p:grpSp>
      <p:grpSp>
        <p:nvGrpSpPr>
          <p:cNvPr id="60" name="组合 59">
            <a:extLst>
              <a:ext uri="{FF2B5EF4-FFF2-40B4-BE49-F238E27FC236}">
                <a16:creationId xmlns:a16="http://schemas.microsoft.com/office/drawing/2014/main" id="{9E9B2A36-9B4E-EDEC-6EAA-BB1C841F5A02}"/>
              </a:ext>
            </a:extLst>
          </p:cNvPr>
          <p:cNvGrpSpPr/>
          <p:nvPr/>
        </p:nvGrpSpPr>
        <p:grpSpPr>
          <a:xfrm>
            <a:off x="759704" y="5242555"/>
            <a:ext cx="3035808" cy="452767"/>
            <a:chOff x="607304" y="1913202"/>
            <a:chExt cx="3035808" cy="452767"/>
          </a:xfrm>
        </p:grpSpPr>
        <p:sp>
          <p:nvSpPr>
            <p:cNvPr id="61" name="TextBox 15">
              <a:extLst>
                <a:ext uri="{FF2B5EF4-FFF2-40B4-BE49-F238E27FC236}">
                  <a16:creationId xmlns:a16="http://schemas.microsoft.com/office/drawing/2014/main" id="{968D9365-6C71-BBF4-6C06-9F3CBE1F85C6}"/>
                </a:ext>
              </a:extLst>
            </p:cNvPr>
            <p:cNvSpPr txBox="1"/>
            <p:nvPr/>
          </p:nvSpPr>
          <p:spPr>
            <a:xfrm>
              <a:off x="607304" y="1913202"/>
              <a:ext cx="3035808" cy="215444"/>
            </a:xfrm>
            <a:prstGeom prst="rect">
              <a:avLst/>
            </a:prstGeom>
            <a:noFill/>
          </p:spPr>
          <p:txBody>
            <a:bodyPr wrap="square" lIns="0" tIns="0" rIns="0" bIns="0" anchor="t">
              <a:spAutoFit/>
            </a:bodyPr>
            <a:lstStyle/>
            <a:p>
              <a:r>
                <a:rPr lang="en-US" altLang="zh-CN" sz="1400" b="1" dirty="0">
                  <a:solidFill>
                    <a:schemeClr val="bg1"/>
                  </a:solidFill>
                  <a:latin typeface="微软雅黑" panose="020B0503020204020204" pitchFamily="34" charset="-122"/>
                  <a:ea typeface="微软雅黑" panose="020B0503020204020204" pitchFamily="34" charset="-122"/>
                </a:rPr>
                <a:t>5. </a:t>
              </a:r>
              <a:r>
                <a:rPr lang="zh-CN" altLang="en-US" sz="1400" b="1" dirty="0">
                  <a:solidFill>
                    <a:schemeClr val="bg1"/>
                  </a:solidFill>
                  <a:latin typeface="微软雅黑" panose="020B0503020204020204" pitchFamily="34" charset="-122"/>
                  <a:ea typeface="微软雅黑" panose="020B0503020204020204" pitchFamily="34" charset="-122"/>
                </a:rPr>
                <a:t>毒性 </a:t>
              </a:r>
              <a:r>
                <a:rPr lang="en-US" altLang="zh-CN" sz="1400" b="1" dirty="0">
                  <a:solidFill>
                    <a:schemeClr val="bg1"/>
                  </a:solidFill>
                  <a:latin typeface="微软雅黑" panose="020B0503020204020204" pitchFamily="34" charset="-122"/>
                  <a:ea typeface="微软雅黑" panose="020B0503020204020204" pitchFamily="34" charset="-122"/>
                </a:rPr>
                <a:t>Toxicity</a:t>
              </a:r>
              <a:r>
                <a:rPr lang="zh-CN" altLang="en-US" sz="1400" b="1" dirty="0">
                  <a:solidFill>
                    <a:schemeClr val="bg1"/>
                  </a:solidFill>
                  <a:latin typeface="微软雅黑" panose="020B0503020204020204" pitchFamily="34" charset="-122"/>
                  <a:ea typeface="微软雅黑" panose="020B0503020204020204" pitchFamily="34" charset="-122"/>
                </a:rPr>
                <a:t>：</a:t>
              </a:r>
              <a:r>
                <a:rPr lang="en-US" altLang="zh-CN" sz="1400" b="1" dirty="0">
                  <a:solidFill>
                    <a:schemeClr val="bg1"/>
                  </a:solidFill>
                  <a:latin typeface="微软雅黑" panose="020B0503020204020204" pitchFamily="34" charset="-122"/>
                  <a:ea typeface="微软雅黑" panose="020B0503020204020204" pitchFamily="34" charset="-122"/>
                </a:rPr>
                <a:t>4</a:t>
              </a:r>
              <a:r>
                <a:rPr lang="zh-CN" altLang="en-US" sz="1400" b="1" dirty="0">
                  <a:solidFill>
                    <a:schemeClr val="bg1"/>
                  </a:solidFill>
                  <a:latin typeface="微软雅黑" panose="020B0503020204020204" pitchFamily="34" charset="-122"/>
                  <a:ea typeface="微软雅黑" panose="020B0503020204020204" pitchFamily="34" charset="-122"/>
                </a:rPr>
                <a:t>个任务</a:t>
              </a:r>
            </a:p>
          </p:txBody>
        </p:sp>
        <p:sp>
          <p:nvSpPr>
            <p:cNvPr id="62" name="TextBox 16">
              <a:extLst>
                <a:ext uri="{FF2B5EF4-FFF2-40B4-BE49-F238E27FC236}">
                  <a16:creationId xmlns:a16="http://schemas.microsoft.com/office/drawing/2014/main" id="{F99176BC-C90E-D596-FAAF-9516C6F0B722}"/>
                </a:ext>
              </a:extLst>
            </p:cNvPr>
            <p:cNvSpPr txBox="1"/>
            <p:nvPr/>
          </p:nvSpPr>
          <p:spPr>
            <a:xfrm>
              <a:off x="625592" y="2199705"/>
              <a:ext cx="3017520" cy="166264"/>
            </a:xfrm>
            <a:prstGeom prst="rect">
              <a:avLst/>
            </a:prstGeom>
            <a:noFill/>
          </p:spPr>
          <p:txBody>
            <a:bodyPr wrap="square" lIns="0" tIns="0" rIns="0" bIns="0" anchor="t">
              <a:spAutoFit/>
            </a:bodyPr>
            <a:lstStyle/>
            <a:p>
              <a:pPr>
                <a:lnSpc>
                  <a:spcPct val="108000"/>
                </a:lnSpc>
              </a:pPr>
              <a:r>
                <a:rPr lang="en-US" altLang="zh-CN" sz="1050" dirty="0">
                  <a:solidFill>
                    <a:schemeClr val="bg1"/>
                  </a:solidFill>
                  <a:latin typeface="Calibri (正文)"/>
                  <a:ea typeface="微软雅黑" panose="020B0503020204020204" pitchFamily="34" charset="-122"/>
                </a:rPr>
                <a:t>LD50</a:t>
              </a:r>
              <a:r>
                <a:rPr lang="zh-CN" altLang="en-US" sz="1050" dirty="0">
                  <a:solidFill>
                    <a:schemeClr val="bg1"/>
                  </a:solidFill>
                  <a:latin typeface="Calibri (正文)"/>
                  <a:ea typeface="微软雅黑" panose="020B0503020204020204" pitchFamily="34" charset="-122"/>
                </a:rPr>
                <a:t>、</a:t>
              </a:r>
              <a:r>
                <a:rPr lang="en-US" altLang="zh-CN" sz="1050" dirty="0">
                  <a:solidFill>
                    <a:schemeClr val="bg1"/>
                  </a:solidFill>
                  <a:latin typeface="Calibri (正文)"/>
                  <a:ea typeface="微软雅黑" panose="020B0503020204020204" pitchFamily="34" charset="-122"/>
                </a:rPr>
                <a:t>hERG</a:t>
              </a:r>
              <a:r>
                <a:rPr lang="zh-CN" altLang="en-US" sz="1050" dirty="0">
                  <a:solidFill>
                    <a:schemeClr val="bg1"/>
                  </a:solidFill>
                  <a:latin typeface="Calibri (正文)"/>
                  <a:ea typeface="微软雅黑" panose="020B0503020204020204" pitchFamily="34" charset="-122"/>
                </a:rPr>
                <a:t>、</a:t>
              </a:r>
              <a:r>
                <a:rPr lang="en-US" altLang="zh-CN" sz="1050" dirty="0">
                  <a:solidFill>
                    <a:schemeClr val="bg1"/>
                  </a:solidFill>
                  <a:latin typeface="Calibri (正文)"/>
                  <a:ea typeface="微软雅黑" panose="020B0503020204020204" pitchFamily="34" charset="-122"/>
                </a:rPr>
                <a:t>Ames</a:t>
              </a:r>
              <a:r>
                <a:rPr lang="zh-CN" altLang="en-US" sz="1050" dirty="0">
                  <a:solidFill>
                    <a:schemeClr val="bg1"/>
                  </a:solidFill>
                  <a:latin typeface="Calibri (正文)"/>
                  <a:ea typeface="微软雅黑" panose="020B0503020204020204" pitchFamily="34" charset="-122"/>
                </a:rPr>
                <a:t>、</a:t>
              </a:r>
              <a:r>
                <a:rPr lang="en-US" altLang="zh-CN" sz="1050" dirty="0">
                  <a:solidFill>
                    <a:schemeClr val="bg1"/>
                  </a:solidFill>
                  <a:latin typeface="Calibri (正文)"/>
                  <a:ea typeface="微软雅黑" panose="020B0503020204020204" pitchFamily="34" charset="-122"/>
                </a:rPr>
                <a:t>DILI</a:t>
              </a:r>
              <a:endParaRPr sz="1050" dirty="0">
                <a:solidFill>
                  <a:schemeClr val="bg1"/>
                </a:solidFill>
                <a:latin typeface="Calibri (正文)"/>
                <a:ea typeface="微软雅黑" panose="020B0503020204020204" pitchFamily="34" charset="-122"/>
              </a:endParaRPr>
            </a:p>
          </p:txBody>
        </p:sp>
      </p:grpSp>
      <p:sp>
        <p:nvSpPr>
          <p:cNvPr id="63" name="Rounded Rectangle 13">
            <a:extLst>
              <a:ext uri="{FF2B5EF4-FFF2-40B4-BE49-F238E27FC236}">
                <a16:creationId xmlns:a16="http://schemas.microsoft.com/office/drawing/2014/main" id="{727007B8-36FF-2FA3-BF0C-C51A636646E2}"/>
              </a:ext>
            </a:extLst>
          </p:cNvPr>
          <p:cNvSpPr/>
          <p:nvPr/>
        </p:nvSpPr>
        <p:spPr>
          <a:xfrm>
            <a:off x="8338939" y="2435101"/>
            <a:ext cx="3365381" cy="96012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14">
            <a:extLst>
              <a:ext uri="{FF2B5EF4-FFF2-40B4-BE49-F238E27FC236}">
                <a16:creationId xmlns:a16="http://schemas.microsoft.com/office/drawing/2014/main" id="{127F0993-4DBA-0B8C-0D4B-67F81825C952}"/>
              </a:ext>
            </a:extLst>
          </p:cNvPr>
          <p:cNvSpPr/>
          <p:nvPr/>
        </p:nvSpPr>
        <p:spPr>
          <a:xfrm>
            <a:off x="8338939" y="2446412"/>
            <a:ext cx="86292" cy="960120"/>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15">
            <a:extLst>
              <a:ext uri="{FF2B5EF4-FFF2-40B4-BE49-F238E27FC236}">
                <a16:creationId xmlns:a16="http://schemas.microsoft.com/office/drawing/2014/main" id="{8092BC69-7B84-822E-17D9-4C09EB3871B5}"/>
              </a:ext>
            </a:extLst>
          </p:cNvPr>
          <p:cNvSpPr txBox="1"/>
          <p:nvPr/>
        </p:nvSpPr>
        <p:spPr>
          <a:xfrm>
            <a:off x="8649835" y="2549137"/>
            <a:ext cx="2864888" cy="224292"/>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Microsoft YaHei"/>
              </a:rPr>
              <a:t>分类任务</a:t>
            </a:r>
            <a:endParaRPr sz="1450" b="1" dirty="0">
              <a:solidFill>
                <a:srgbClr val="16324F"/>
              </a:solidFill>
              <a:latin typeface="Microsoft YaHei"/>
            </a:endParaRPr>
          </a:p>
        </p:txBody>
      </p:sp>
      <p:sp>
        <p:nvSpPr>
          <p:cNvPr id="66" name="TextBox 16">
            <a:extLst>
              <a:ext uri="{FF2B5EF4-FFF2-40B4-BE49-F238E27FC236}">
                <a16:creationId xmlns:a16="http://schemas.microsoft.com/office/drawing/2014/main" id="{303111DA-C882-ADD8-28CD-508247E94400}"/>
              </a:ext>
            </a:extLst>
          </p:cNvPr>
          <p:cNvSpPr txBox="1"/>
          <p:nvPr/>
        </p:nvSpPr>
        <p:spPr>
          <a:xfrm>
            <a:off x="8649835" y="2913289"/>
            <a:ext cx="2847630" cy="389402"/>
          </a:xfrm>
          <a:prstGeom prst="rect">
            <a:avLst/>
          </a:prstGeom>
          <a:noFill/>
        </p:spPr>
        <p:txBody>
          <a:bodyPr wrap="square" lIns="0" tIns="0" rIns="0" bIns="0" anchor="t">
            <a:spAutoFit/>
          </a:bodyPr>
          <a:lstStyle/>
          <a:p>
            <a:pPr marL="171450" indent="-171450">
              <a:lnSpc>
                <a:spcPct val="108000"/>
              </a:lnSpc>
              <a:buFont typeface="Wingdings" panose="05000000000000000000" pitchFamily="2" charset="2"/>
              <a:buChar char="l"/>
            </a:pPr>
            <a:r>
              <a:rPr lang="en-US" altLang="zh-CN" sz="1200" b="1" dirty="0">
                <a:solidFill>
                  <a:srgbClr val="5B6773"/>
                </a:solidFill>
                <a:latin typeface="微软雅黑 Light"/>
              </a:rPr>
              <a:t>AUROC</a:t>
            </a:r>
            <a:r>
              <a:rPr lang="zh-CN" altLang="en-US" sz="1200" b="1" dirty="0">
                <a:solidFill>
                  <a:srgbClr val="5B6773"/>
                </a:solidFill>
                <a:latin typeface="微软雅黑 Light"/>
              </a:rPr>
              <a:t>：</a:t>
            </a:r>
            <a:r>
              <a:rPr lang="zh-CN" altLang="en-US" sz="1200" b="1" dirty="0"/>
              <a:t>正负样本排序能力</a:t>
            </a:r>
            <a:endParaRPr lang="en-US" altLang="zh-CN" sz="1200" b="1" dirty="0"/>
          </a:p>
          <a:p>
            <a:pPr marL="171450" indent="-171450">
              <a:lnSpc>
                <a:spcPct val="108000"/>
              </a:lnSpc>
              <a:buFont typeface="Wingdings" panose="05000000000000000000" pitchFamily="2" charset="2"/>
              <a:buChar char="l"/>
            </a:pPr>
            <a:r>
              <a:rPr lang="en-US" sz="1200" b="1" dirty="0">
                <a:solidFill>
                  <a:srgbClr val="5B6773"/>
                </a:solidFill>
                <a:latin typeface="微软雅黑 Light"/>
              </a:rPr>
              <a:t>AUPRC</a:t>
            </a:r>
            <a:r>
              <a:rPr lang="zh-CN" altLang="en-US" sz="1200" b="1" dirty="0">
                <a:solidFill>
                  <a:srgbClr val="5B6773"/>
                </a:solidFill>
                <a:latin typeface="微软雅黑 Light"/>
              </a:rPr>
              <a:t>：</a:t>
            </a:r>
            <a:r>
              <a:rPr lang="zh-CN" altLang="en-US" sz="1200" b="1" dirty="0"/>
              <a:t>类别不平衡下的正类识别能力</a:t>
            </a:r>
            <a:endParaRPr sz="1200" b="1" dirty="0">
              <a:solidFill>
                <a:srgbClr val="5B6773"/>
              </a:solidFill>
              <a:latin typeface="微软雅黑 Light"/>
            </a:endParaRPr>
          </a:p>
        </p:txBody>
      </p:sp>
      <p:sp>
        <p:nvSpPr>
          <p:cNvPr id="67" name="Rounded Rectangle 17">
            <a:extLst>
              <a:ext uri="{FF2B5EF4-FFF2-40B4-BE49-F238E27FC236}">
                <a16:creationId xmlns:a16="http://schemas.microsoft.com/office/drawing/2014/main" id="{8DCFEAA5-13D8-728F-F548-437FAA945D91}"/>
              </a:ext>
            </a:extLst>
          </p:cNvPr>
          <p:cNvSpPr/>
          <p:nvPr/>
        </p:nvSpPr>
        <p:spPr>
          <a:xfrm>
            <a:off x="8338939" y="3678685"/>
            <a:ext cx="3365381" cy="1276066"/>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18">
            <a:extLst>
              <a:ext uri="{FF2B5EF4-FFF2-40B4-BE49-F238E27FC236}">
                <a16:creationId xmlns:a16="http://schemas.microsoft.com/office/drawing/2014/main" id="{20E1AA82-2937-B681-6020-F5956CA5DB18}"/>
              </a:ext>
            </a:extLst>
          </p:cNvPr>
          <p:cNvSpPr/>
          <p:nvPr/>
        </p:nvSpPr>
        <p:spPr>
          <a:xfrm>
            <a:off x="8338939" y="3678684"/>
            <a:ext cx="86292" cy="1264665"/>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19">
            <a:extLst>
              <a:ext uri="{FF2B5EF4-FFF2-40B4-BE49-F238E27FC236}">
                <a16:creationId xmlns:a16="http://schemas.microsoft.com/office/drawing/2014/main" id="{3D977362-C176-4788-D01C-E967C09DC23F}"/>
              </a:ext>
            </a:extLst>
          </p:cNvPr>
          <p:cNvSpPr txBox="1"/>
          <p:nvPr/>
        </p:nvSpPr>
        <p:spPr>
          <a:xfrm>
            <a:off x="8619769" y="3801125"/>
            <a:ext cx="2864888" cy="224292"/>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Microsoft YaHei"/>
              </a:rPr>
              <a:t>回归任务</a:t>
            </a:r>
            <a:endParaRPr sz="1450" b="1" dirty="0">
              <a:solidFill>
                <a:srgbClr val="16324F"/>
              </a:solidFill>
              <a:latin typeface="Microsoft YaHei"/>
            </a:endParaRPr>
          </a:p>
        </p:txBody>
      </p:sp>
      <p:sp>
        <p:nvSpPr>
          <p:cNvPr id="71" name="TextBox 16">
            <a:extLst>
              <a:ext uri="{FF2B5EF4-FFF2-40B4-BE49-F238E27FC236}">
                <a16:creationId xmlns:a16="http://schemas.microsoft.com/office/drawing/2014/main" id="{62F8206F-7AC1-EB89-DCEB-96503ECAF6A2}"/>
              </a:ext>
            </a:extLst>
          </p:cNvPr>
          <p:cNvSpPr txBox="1"/>
          <p:nvPr/>
        </p:nvSpPr>
        <p:spPr>
          <a:xfrm>
            <a:off x="8628398" y="4166522"/>
            <a:ext cx="2847630" cy="788229"/>
          </a:xfrm>
          <a:prstGeom prst="rect">
            <a:avLst/>
          </a:prstGeom>
          <a:noFill/>
        </p:spPr>
        <p:txBody>
          <a:bodyPr wrap="square" lIns="0" tIns="0" rIns="0" bIns="0" anchor="t">
            <a:spAutoFit/>
          </a:bodyPr>
          <a:lstStyle/>
          <a:p>
            <a:pPr marL="171450" indent="-171450">
              <a:lnSpc>
                <a:spcPct val="108000"/>
              </a:lnSpc>
              <a:buFont typeface="Wingdings" panose="05000000000000000000" pitchFamily="2" charset="2"/>
              <a:buChar char="l"/>
            </a:pPr>
            <a:r>
              <a:rPr lang="en-US" altLang="zh-CN" sz="1200" b="1" dirty="0">
                <a:solidFill>
                  <a:srgbClr val="5B6773"/>
                </a:solidFill>
                <a:latin typeface="微软雅黑 Light"/>
              </a:rPr>
              <a:t>MAE</a:t>
            </a:r>
            <a:r>
              <a:rPr lang="zh-CN" altLang="en-US" sz="1200" b="1" dirty="0">
                <a:solidFill>
                  <a:srgbClr val="5B6773"/>
                </a:solidFill>
                <a:latin typeface="微软雅黑 Light"/>
              </a:rPr>
              <a:t>：</a:t>
            </a:r>
            <a:r>
              <a:rPr lang="zh-CN" altLang="en-US" sz="1200" b="1" dirty="0"/>
              <a:t>预测值与真实值的平均绝对误差，越低越好</a:t>
            </a:r>
            <a:endParaRPr lang="en-US" altLang="zh-CN" sz="1200" b="1" dirty="0"/>
          </a:p>
          <a:p>
            <a:pPr marL="171450" indent="-171450">
              <a:lnSpc>
                <a:spcPct val="108000"/>
              </a:lnSpc>
              <a:buFont typeface="Wingdings" panose="05000000000000000000" pitchFamily="2" charset="2"/>
              <a:buChar char="l"/>
            </a:pPr>
            <a:r>
              <a:rPr lang="en-US" altLang="zh-CN" sz="1200" b="1" dirty="0">
                <a:solidFill>
                  <a:srgbClr val="5B6773"/>
                </a:solidFill>
                <a:latin typeface="微软雅黑 Light"/>
              </a:rPr>
              <a:t>Spearman</a:t>
            </a:r>
            <a:r>
              <a:rPr lang="zh-CN" altLang="en-US" sz="1200" b="1" dirty="0">
                <a:solidFill>
                  <a:srgbClr val="5B6773"/>
                </a:solidFill>
                <a:latin typeface="微软雅黑 Light"/>
              </a:rPr>
              <a:t>：</a:t>
            </a:r>
            <a:r>
              <a:rPr lang="zh-CN" altLang="en-US" sz="1200" b="1" dirty="0"/>
              <a:t>预测排序与真实排序的一致性</a:t>
            </a:r>
            <a:endParaRPr sz="1200" b="1" dirty="0">
              <a:solidFill>
                <a:srgbClr val="5B6773"/>
              </a:solidFill>
              <a:latin typeface="微软雅黑 Light"/>
            </a:endParaRPr>
          </a:p>
        </p:txBody>
      </p:sp>
      <p:sp>
        <p:nvSpPr>
          <p:cNvPr id="73" name="Rounded Rectangle 13">
            <a:extLst>
              <a:ext uri="{FF2B5EF4-FFF2-40B4-BE49-F238E27FC236}">
                <a16:creationId xmlns:a16="http://schemas.microsoft.com/office/drawing/2014/main" id="{8DCF7DD5-8745-66C8-9543-4848EAEEEA61}"/>
              </a:ext>
            </a:extLst>
          </p:cNvPr>
          <p:cNvSpPr/>
          <p:nvPr/>
        </p:nvSpPr>
        <p:spPr>
          <a:xfrm>
            <a:off x="4500404" y="4058570"/>
            <a:ext cx="1517697" cy="804672"/>
          </a:xfrm>
          <a:prstGeom prst="roundRect">
            <a:avLst/>
          </a:prstGeom>
          <a:solidFill>
            <a:srgbClr val="EAF3FA"/>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14">
            <a:extLst>
              <a:ext uri="{FF2B5EF4-FFF2-40B4-BE49-F238E27FC236}">
                <a16:creationId xmlns:a16="http://schemas.microsoft.com/office/drawing/2014/main" id="{2567A5D4-F2B4-89AE-FAE0-4C0E4584EA71}"/>
              </a:ext>
            </a:extLst>
          </p:cNvPr>
          <p:cNvSpPr txBox="1"/>
          <p:nvPr/>
        </p:nvSpPr>
        <p:spPr>
          <a:xfrm>
            <a:off x="4451105" y="4150010"/>
            <a:ext cx="1508760" cy="348942"/>
          </a:xfrm>
          <a:prstGeom prst="rect">
            <a:avLst/>
          </a:prstGeom>
          <a:noFill/>
        </p:spPr>
        <p:txBody>
          <a:bodyPr wrap="square" lIns="0" tIns="0" rIns="0" bIns="0" anchor="t">
            <a:spAutoFit/>
          </a:bodyPr>
          <a:lstStyle/>
          <a:p>
            <a:pPr algn="ctr">
              <a:lnSpc>
                <a:spcPct val="105000"/>
              </a:lnSpc>
            </a:pPr>
            <a:r>
              <a:rPr lang="en-US" altLang="zh-CN" sz="2300" b="1" dirty="0">
                <a:solidFill>
                  <a:srgbClr val="004E98"/>
                </a:solidFill>
                <a:latin typeface="Microsoft YaHei"/>
              </a:rPr>
              <a:t>GCN</a:t>
            </a:r>
            <a:endParaRPr sz="2300" b="1" dirty="0">
              <a:solidFill>
                <a:srgbClr val="004E98"/>
              </a:solidFill>
              <a:latin typeface="Microsoft YaHei"/>
            </a:endParaRPr>
          </a:p>
        </p:txBody>
      </p:sp>
      <p:sp>
        <p:nvSpPr>
          <p:cNvPr id="75" name="TextBox 15">
            <a:extLst>
              <a:ext uri="{FF2B5EF4-FFF2-40B4-BE49-F238E27FC236}">
                <a16:creationId xmlns:a16="http://schemas.microsoft.com/office/drawing/2014/main" id="{0685AEB1-BA98-58D9-BAF7-CA444F7606D2}"/>
              </a:ext>
            </a:extLst>
          </p:cNvPr>
          <p:cNvSpPr txBox="1"/>
          <p:nvPr/>
        </p:nvSpPr>
        <p:spPr>
          <a:xfrm>
            <a:off x="4514232" y="4617346"/>
            <a:ext cx="1417320" cy="136319"/>
          </a:xfrm>
          <a:prstGeom prst="rect">
            <a:avLst/>
          </a:prstGeom>
          <a:noFill/>
        </p:spPr>
        <p:txBody>
          <a:bodyPr wrap="square" lIns="0" tIns="0" rIns="0" bIns="0" anchor="t">
            <a:spAutoFit/>
          </a:bodyPr>
          <a:lstStyle/>
          <a:p>
            <a:pPr algn="ctr">
              <a:lnSpc>
                <a:spcPct val="105000"/>
              </a:lnSpc>
            </a:pPr>
            <a:r>
              <a:rPr lang="zh-CN" altLang="en-US" sz="880" dirty="0">
                <a:solidFill>
                  <a:srgbClr val="5B6773"/>
                </a:solidFill>
                <a:latin typeface="微软雅黑 Light"/>
              </a:rPr>
              <a:t>图结构基线模型</a:t>
            </a:r>
            <a:endParaRPr sz="880" b="0" dirty="0">
              <a:solidFill>
                <a:srgbClr val="5B6773"/>
              </a:solidFill>
              <a:latin typeface="微软雅黑 Light"/>
            </a:endParaRPr>
          </a:p>
        </p:txBody>
      </p:sp>
      <p:sp>
        <p:nvSpPr>
          <p:cNvPr id="76" name="Rounded Rectangle 16">
            <a:extLst>
              <a:ext uri="{FF2B5EF4-FFF2-40B4-BE49-F238E27FC236}">
                <a16:creationId xmlns:a16="http://schemas.microsoft.com/office/drawing/2014/main" id="{05C3E50B-6227-36D8-6819-C811970090F1}"/>
              </a:ext>
            </a:extLst>
          </p:cNvPr>
          <p:cNvSpPr/>
          <p:nvPr/>
        </p:nvSpPr>
        <p:spPr>
          <a:xfrm>
            <a:off x="6237764" y="4058570"/>
            <a:ext cx="1508760" cy="804672"/>
          </a:xfrm>
          <a:prstGeom prst="roundRect">
            <a:avLst/>
          </a:prstGeom>
          <a:solidFill>
            <a:srgbClr val="EAF3FA"/>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17">
            <a:extLst>
              <a:ext uri="{FF2B5EF4-FFF2-40B4-BE49-F238E27FC236}">
                <a16:creationId xmlns:a16="http://schemas.microsoft.com/office/drawing/2014/main" id="{F740DF09-F023-70D2-A756-77E1971E04BC}"/>
              </a:ext>
            </a:extLst>
          </p:cNvPr>
          <p:cNvSpPr txBox="1"/>
          <p:nvPr/>
        </p:nvSpPr>
        <p:spPr>
          <a:xfrm>
            <a:off x="6329854" y="4230561"/>
            <a:ext cx="1325880" cy="242759"/>
          </a:xfrm>
          <a:prstGeom prst="rect">
            <a:avLst/>
          </a:prstGeom>
          <a:noFill/>
        </p:spPr>
        <p:txBody>
          <a:bodyPr wrap="square" lIns="0" tIns="0" rIns="0" bIns="0" anchor="t">
            <a:spAutoFit/>
          </a:bodyPr>
          <a:lstStyle/>
          <a:p>
            <a:pPr algn="ctr">
              <a:lnSpc>
                <a:spcPct val="105000"/>
              </a:lnSpc>
            </a:pPr>
            <a:r>
              <a:rPr lang="en-US" altLang="zh-CN" sz="1600" b="1" dirty="0">
                <a:solidFill>
                  <a:srgbClr val="347AA7"/>
                </a:solidFill>
                <a:latin typeface="Microsoft YaHei"/>
              </a:rPr>
              <a:t>AttentiveFP</a:t>
            </a:r>
          </a:p>
        </p:txBody>
      </p:sp>
      <p:sp>
        <p:nvSpPr>
          <p:cNvPr id="78" name="TextBox 18">
            <a:extLst>
              <a:ext uri="{FF2B5EF4-FFF2-40B4-BE49-F238E27FC236}">
                <a16:creationId xmlns:a16="http://schemas.microsoft.com/office/drawing/2014/main" id="{3C21EE53-206D-58EA-09AD-C86D16F8407F}"/>
              </a:ext>
            </a:extLst>
          </p:cNvPr>
          <p:cNvSpPr txBox="1"/>
          <p:nvPr/>
        </p:nvSpPr>
        <p:spPr>
          <a:xfrm>
            <a:off x="6396819" y="4631816"/>
            <a:ext cx="1234440" cy="136319"/>
          </a:xfrm>
          <a:prstGeom prst="rect">
            <a:avLst/>
          </a:prstGeom>
          <a:noFill/>
        </p:spPr>
        <p:txBody>
          <a:bodyPr wrap="square" lIns="0" tIns="0" rIns="0" bIns="0" anchor="t">
            <a:spAutoFit/>
          </a:bodyPr>
          <a:lstStyle/>
          <a:p>
            <a:pPr algn="ctr">
              <a:lnSpc>
                <a:spcPct val="105000"/>
              </a:lnSpc>
            </a:pPr>
            <a:r>
              <a:rPr lang="zh-CN" altLang="en-US" sz="880" b="0" dirty="0">
                <a:solidFill>
                  <a:srgbClr val="5B6773"/>
                </a:solidFill>
                <a:latin typeface="微软雅黑 Light"/>
              </a:rPr>
              <a:t>注意力图神经网络模型</a:t>
            </a:r>
            <a:endParaRPr sz="880" b="0" dirty="0">
              <a:solidFill>
                <a:srgbClr val="5B6773"/>
              </a:solidFill>
              <a:latin typeface="微软雅黑 Light"/>
            </a:endParaRPr>
          </a:p>
        </p:txBody>
      </p:sp>
      <p:sp>
        <p:nvSpPr>
          <p:cNvPr id="79" name="Rounded Rectangle 19">
            <a:extLst>
              <a:ext uri="{FF2B5EF4-FFF2-40B4-BE49-F238E27FC236}">
                <a16:creationId xmlns:a16="http://schemas.microsoft.com/office/drawing/2014/main" id="{CEE51B4E-8F0A-E04B-C628-DFF579B5CE4C}"/>
              </a:ext>
            </a:extLst>
          </p:cNvPr>
          <p:cNvSpPr/>
          <p:nvPr/>
        </p:nvSpPr>
        <p:spPr>
          <a:xfrm>
            <a:off x="4514232" y="4937980"/>
            <a:ext cx="1494932" cy="804672"/>
          </a:xfrm>
          <a:prstGeom prst="roundRect">
            <a:avLst/>
          </a:prstGeom>
          <a:solidFill>
            <a:srgbClr val="EAF3FA"/>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20">
            <a:extLst>
              <a:ext uri="{FF2B5EF4-FFF2-40B4-BE49-F238E27FC236}">
                <a16:creationId xmlns:a16="http://schemas.microsoft.com/office/drawing/2014/main" id="{07691BB5-7C7E-33BA-2C9A-11C4D307D0CB}"/>
              </a:ext>
            </a:extLst>
          </p:cNvPr>
          <p:cNvSpPr txBox="1"/>
          <p:nvPr/>
        </p:nvSpPr>
        <p:spPr>
          <a:xfrm>
            <a:off x="4565509" y="5082270"/>
            <a:ext cx="1394356" cy="303416"/>
          </a:xfrm>
          <a:prstGeom prst="rect">
            <a:avLst/>
          </a:prstGeom>
          <a:noFill/>
        </p:spPr>
        <p:txBody>
          <a:bodyPr wrap="square" lIns="0" tIns="0" rIns="0" bIns="0" anchor="t">
            <a:spAutoFit/>
          </a:bodyPr>
          <a:lstStyle/>
          <a:p>
            <a:pPr algn="ctr">
              <a:lnSpc>
                <a:spcPct val="105000"/>
              </a:lnSpc>
            </a:pPr>
            <a:r>
              <a:rPr lang="en-US" altLang="zh-CN" sz="2000" b="1" dirty="0">
                <a:solidFill>
                  <a:srgbClr val="B83232"/>
                </a:solidFill>
                <a:latin typeface="Microsoft YaHei"/>
              </a:rPr>
              <a:t>NeuralFP</a:t>
            </a:r>
            <a:endParaRPr sz="2000" b="1" dirty="0">
              <a:solidFill>
                <a:srgbClr val="B83232"/>
              </a:solidFill>
              <a:latin typeface="Microsoft YaHei"/>
            </a:endParaRPr>
          </a:p>
        </p:txBody>
      </p:sp>
      <p:sp>
        <p:nvSpPr>
          <p:cNvPr id="81" name="TextBox 21">
            <a:extLst>
              <a:ext uri="{FF2B5EF4-FFF2-40B4-BE49-F238E27FC236}">
                <a16:creationId xmlns:a16="http://schemas.microsoft.com/office/drawing/2014/main" id="{123AAE59-154A-2391-359B-10FAFA9FCA7D}"/>
              </a:ext>
            </a:extLst>
          </p:cNvPr>
          <p:cNvSpPr txBox="1"/>
          <p:nvPr/>
        </p:nvSpPr>
        <p:spPr>
          <a:xfrm>
            <a:off x="4814417" y="5514177"/>
            <a:ext cx="896112" cy="136319"/>
          </a:xfrm>
          <a:prstGeom prst="rect">
            <a:avLst/>
          </a:prstGeom>
          <a:noFill/>
        </p:spPr>
        <p:txBody>
          <a:bodyPr wrap="square" lIns="0" tIns="0" rIns="0" bIns="0" anchor="t">
            <a:spAutoFit/>
          </a:bodyPr>
          <a:lstStyle/>
          <a:p>
            <a:pPr algn="ctr">
              <a:lnSpc>
                <a:spcPct val="105000"/>
              </a:lnSpc>
            </a:pPr>
            <a:r>
              <a:rPr lang="zh-CN" altLang="en-US" sz="880" b="0" dirty="0">
                <a:solidFill>
                  <a:srgbClr val="5B6773"/>
                </a:solidFill>
                <a:latin typeface="微软雅黑 Light"/>
              </a:rPr>
              <a:t>分子指纹学习模型</a:t>
            </a:r>
            <a:endParaRPr sz="880" b="0" dirty="0">
              <a:solidFill>
                <a:srgbClr val="5B6773"/>
              </a:solidFill>
              <a:latin typeface="微软雅黑 Light"/>
            </a:endParaRPr>
          </a:p>
        </p:txBody>
      </p:sp>
      <p:sp>
        <p:nvSpPr>
          <p:cNvPr id="82" name="Rounded Rectangle 16">
            <a:extLst>
              <a:ext uri="{FF2B5EF4-FFF2-40B4-BE49-F238E27FC236}">
                <a16:creationId xmlns:a16="http://schemas.microsoft.com/office/drawing/2014/main" id="{07FA43ED-1647-A56F-442E-47C5D3DC1DD7}"/>
              </a:ext>
            </a:extLst>
          </p:cNvPr>
          <p:cNvSpPr/>
          <p:nvPr/>
        </p:nvSpPr>
        <p:spPr>
          <a:xfrm>
            <a:off x="6203194" y="4943350"/>
            <a:ext cx="1543330" cy="804672"/>
          </a:xfrm>
          <a:prstGeom prst="roundRect">
            <a:avLst/>
          </a:prstGeom>
          <a:solidFill>
            <a:srgbClr val="EAF3FA"/>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14">
            <a:extLst>
              <a:ext uri="{FF2B5EF4-FFF2-40B4-BE49-F238E27FC236}">
                <a16:creationId xmlns:a16="http://schemas.microsoft.com/office/drawing/2014/main" id="{DBDA7786-E7E9-4D7F-D4FF-181FF5C4DC7B}"/>
              </a:ext>
            </a:extLst>
          </p:cNvPr>
          <p:cNvSpPr txBox="1"/>
          <p:nvPr/>
        </p:nvSpPr>
        <p:spPr>
          <a:xfrm>
            <a:off x="6203194" y="5048693"/>
            <a:ext cx="1508760" cy="348942"/>
          </a:xfrm>
          <a:prstGeom prst="rect">
            <a:avLst/>
          </a:prstGeom>
          <a:noFill/>
        </p:spPr>
        <p:txBody>
          <a:bodyPr wrap="square" lIns="0" tIns="0" rIns="0" bIns="0" anchor="t">
            <a:spAutoFit/>
          </a:bodyPr>
          <a:lstStyle/>
          <a:p>
            <a:pPr algn="ctr">
              <a:lnSpc>
                <a:spcPct val="105000"/>
              </a:lnSpc>
            </a:pPr>
            <a:r>
              <a:rPr lang="en-US" altLang="zh-CN" sz="2300" b="1" dirty="0">
                <a:solidFill>
                  <a:srgbClr val="004E98"/>
                </a:solidFill>
                <a:latin typeface="Microsoft YaHei"/>
              </a:rPr>
              <a:t>CCN</a:t>
            </a:r>
            <a:endParaRPr sz="2300" b="1" dirty="0">
              <a:solidFill>
                <a:srgbClr val="004E98"/>
              </a:solidFill>
              <a:latin typeface="Microsoft YaHei"/>
            </a:endParaRPr>
          </a:p>
        </p:txBody>
      </p:sp>
      <p:sp>
        <p:nvSpPr>
          <p:cNvPr id="84" name="TextBox 21">
            <a:extLst>
              <a:ext uri="{FF2B5EF4-FFF2-40B4-BE49-F238E27FC236}">
                <a16:creationId xmlns:a16="http://schemas.microsoft.com/office/drawing/2014/main" id="{E7A95349-8C13-927A-3DEE-B7BB3A618A10}"/>
              </a:ext>
            </a:extLst>
          </p:cNvPr>
          <p:cNvSpPr txBox="1"/>
          <p:nvPr/>
        </p:nvSpPr>
        <p:spPr>
          <a:xfrm>
            <a:off x="6483595" y="5514176"/>
            <a:ext cx="1121741" cy="136319"/>
          </a:xfrm>
          <a:prstGeom prst="rect">
            <a:avLst/>
          </a:prstGeom>
          <a:noFill/>
        </p:spPr>
        <p:txBody>
          <a:bodyPr wrap="square" lIns="0" tIns="0" rIns="0" bIns="0" anchor="t">
            <a:spAutoFit/>
          </a:bodyPr>
          <a:lstStyle/>
          <a:p>
            <a:pPr algn="ctr">
              <a:lnSpc>
                <a:spcPct val="105000"/>
              </a:lnSpc>
            </a:pPr>
            <a:r>
              <a:rPr lang="en-US" altLang="zh-CN" sz="880" b="0" dirty="0">
                <a:solidFill>
                  <a:srgbClr val="5B6773"/>
                </a:solidFill>
                <a:latin typeface="微软雅黑 Light"/>
              </a:rPr>
              <a:t>SMILES</a:t>
            </a:r>
            <a:r>
              <a:rPr lang="zh-CN" altLang="en-US" sz="880" b="0" dirty="0">
                <a:solidFill>
                  <a:srgbClr val="5B6773"/>
                </a:solidFill>
                <a:latin typeface="微软雅黑 Light"/>
              </a:rPr>
              <a:t>序列建模模型</a:t>
            </a:r>
            <a:endParaRPr sz="880" b="0" dirty="0">
              <a:solidFill>
                <a:srgbClr val="5B6773"/>
              </a:solidFill>
              <a:latin typeface="微软雅黑 Light"/>
            </a:endParaRPr>
          </a:p>
        </p:txBody>
      </p:sp>
      <p:pic>
        <p:nvPicPr>
          <p:cNvPr id="85" name="图片 84">
            <a:extLst>
              <a:ext uri="{FF2B5EF4-FFF2-40B4-BE49-F238E27FC236}">
                <a16:creationId xmlns:a16="http://schemas.microsoft.com/office/drawing/2014/main" id="{29112359-7C03-2ECC-D26E-18BFFBA8EB46}"/>
              </a:ext>
            </a:extLst>
          </p:cNvPr>
          <p:cNvPicPr>
            <a:picLocks noChangeAspect="1"/>
          </p:cNvPicPr>
          <p:nvPr/>
        </p:nvPicPr>
        <p:blipFill>
          <a:blip r:embed="rId4"/>
          <a:srcRect r="7435"/>
          <a:stretch>
            <a:fillRect/>
          </a:stretch>
        </p:blipFill>
        <p:spPr>
          <a:xfrm>
            <a:off x="4406079" y="2302187"/>
            <a:ext cx="3437638" cy="1623394"/>
          </a:xfrm>
          <a:prstGeom prst="rect">
            <a:avLst/>
          </a:prstGeom>
        </p:spPr>
      </p:pic>
    </p:spTree>
    <p:extLst>
      <p:ext uri="{BB962C8B-B14F-4D97-AF65-F5344CB8AC3E}">
        <p14:creationId xmlns:p14="http://schemas.microsoft.com/office/powerpoint/2010/main" val="3162471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ogo.png"/>
          <p:cNvPicPr>
            <a:picLocks noChangeAspect="1"/>
          </p:cNvPicPr>
          <p:nvPr/>
        </p:nvPicPr>
        <p:blipFill>
          <a:blip r:embed="rId3"/>
          <a:stretch>
            <a:fillRect/>
          </a:stretch>
        </p:blipFill>
        <p:spPr>
          <a:xfrm>
            <a:off x="11301984" y="310896"/>
            <a:ext cx="402336" cy="457200"/>
          </a:xfrm>
          <a:prstGeom prst="rect">
            <a:avLst/>
          </a:prstGeom>
        </p:spPr>
      </p:pic>
      <p:sp>
        <p:nvSpPr>
          <p:cNvPr id="8" name="Rectangle 7"/>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sp>
        <p:nvSpPr>
          <p:cNvPr id="11" name="Rounded Rectangle 10"/>
          <p:cNvSpPr/>
          <p:nvPr/>
        </p:nvSpPr>
        <p:spPr>
          <a:xfrm>
            <a:off x="826008" y="877824"/>
            <a:ext cx="5958840" cy="5650202"/>
          </a:xfrm>
          <a:prstGeom prst="roundRect">
            <a:avLst>
              <a:gd name="adj" fmla="val 4985"/>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oT-CMP在ADMET基准组上的对比实验结果.png"/>
          <p:cNvPicPr>
            <a:picLocks noChangeAspect="1"/>
          </p:cNvPicPr>
          <p:nvPr/>
        </p:nvPicPr>
        <p:blipFill>
          <a:blip r:embed="rId4"/>
          <a:stretch>
            <a:fillRect/>
          </a:stretch>
        </p:blipFill>
        <p:spPr>
          <a:xfrm>
            <a:off x="1078992" y="957344"/>
            <a:ext cx="5556174" cy="5570682"/>
          </a:xfrm>
          <a:prstGeom prst="rect">
            <a:avLst/>
          </a:prstGeom>
        </p:spPr>
      </p:pic>
      <p:sp>
        <p:nvSpPr>
          <p:cNvPr id="14" name="Rounded Rectangle 13"/>
          <p:cNvSpPr/>
          <p:nvPr/>
        </p:nvSpPr>
        <p:spPr>
          <a:xfrm>
            <a:off x="7022592" y="1188720"/>
            <a:ext cx="1600200" cy="804672"/>
          </a:xfrm>
          <a:prstGeom prst="roundRect">
            <a:avLst/>
          </a:prstGeom>
          <a:solidFill>
            <a:srgbClr val="EAF3FA"/>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68312" y="1280160"/>
            <a:ext cx="1508760" cy="384048"/>
          </a:xfrm>
          <a:prstGeom prst="rect">
            <a:avLst/>
          </a:prstGeom>
          <a:noFill/>
        </p:spPr>
        <p:txBody>
          <a:bodyPr wrap="square" lIns="0" tIns="0" rIns="0" bIns="0" anchor="t">
            <a:spAutoFit/>
          </a:bodyPr>
          <a:lstStyle/>
          <a:p>
            <a:pPr algn="ctr">
              <a:lnSpc>
                <a:spcPct val="105000"/>
              </a:lnSpc>
            </a:pPr>
            <a:r>
              <a:rPr sz="2300" b="1">
                <a:solidFill>
                  <a:srgbClr val="004E98"/>
                </a:solidFill>
                <a:latin typeface="Microsoft YaHei"/>
              </a:rPr>
              <a:t>17/22</a:t>
            </a:r>
          </a:p>
        </p:txBody>
      </p:sp>
      <p:sp>
        <p:nvSpPr>
          <p:cNvPr id="16" name="TextBox 15"/>
          <p:cNvSpPr txBox="1"/>
          <p:nvPr/>
        </p:nvSpPr>
        <p:spPr>
          <a:xfrm>
            <a:off x="7114031" y="1676781"/>
            <a:ext cx="1417320" cy="278538"/>
          </a:xfrm>
          <a:prstGeom prst="rect">
            <a:avLst/>
          </a:prstGeom>
          <a:noFill/>
        </p:spPr>
        <p:txBody>
          <a:bodyPr wrap="square" lIns="0" tIns="0" rIns="0" bIns="0" anchor="t">
            <a:spAutoFit/>
          </a:bodyPr>
          <a:lstStyle/>
          <a:p>
            <a:pPr algn="ctr">
              <a:lnSpc>
                <a:spcPct val="105000"/>
              </a:lnSpc>
            </a:pPr>
            <a:r>
              <a:rPr lang="en-US" altLang="zh-CN" sz="880" dirty="0">
                <a:solidFill>
                  <a:srgbClr val="5B6773"/>
                </a:solidFill>
                <a:latin typeface="微软雅黑 Light"/>
              </a:rPr>
              <a:t>22 </a:t>
            </a:r>
            <a:r>
              <a:rPr lang="zh-CN" altLang="en-US" sz="880" dirty="0">
                <a:solidFill>
                  <a:srgbClr val="5B6773"/>
                </a:solidFill>
                <a:latin typeface="微软雅黑 Light"/>
              </a:rPr>
              <a:t>个 </a:t>
            </a:r>
            <a:r>
              <a:rPr lang="en-US" altLang="zh-CN" sz="880" dirty="0">
                <a:solidFill>
                  <a:srgbClr val="5B6773"/>
                </a:solidFill>
                <a:latin typeface="微软雅黑 Light"/>
              </a:rPr>
              <a:t>ADMET </a:t>
            </a:r>
            <a:r>
              <a:rPr lang="zh-CN" altLang="en-US" sz="880" dirty="0">
                <a:solidFill>
                  <a:srgbClr val="5B6773"/>
                </a:solidFill>
                <a:latin typeface="微软雅黑 Light"/>
              </a:rPr>
              <a:t>任务中 </a:t>
            </a:r>
            <a:r>
              <a:rPr lang="en-US" altLang="zh-CN" sz="880" dirty="0">
                <a:solidFill>
                  <a:srgbClr val="5B6773"/>
                </a:solidFill>
                <a:latin typeface="微软雅黑 Light"/>
              </a:rPr>
              <a:t>17 </a:t>
            </a:r>
            <a:r>
              <a:rPr lang="zh-CN" altLang="en-US" sz="880" dirty="0">
                <a:solidFill>
                  <a:srgbClr val="5B6773"/>
                </a:solidFill>
                <a:latin typeface="微软雅黑 Light"/>
              </a:rPr>
              <a:t>个排名第一</a:t>
            </a:r>
            <a:endParaRPr sz="880" dirty="0">
              <a:solidFill>
                <a:srgbClr val="5B6773"/>
              </a:solidFill>
              <a:latin typeface="微软雅黑 Light"/>
            </a:endParaRPr>
          </a:p>
        </p:txBody>
      </p:sp>
      <p:sp>
        <p:nvSpPr>
          <p:cNvPr id="17" name="Rounded Rectangle 16"/>
          <p:cNvSpPr/>
          <p:nvPr/>
        </p:nvSpPr>
        <p:spPr>
          <a:xfrm>
            <a:off x="8759952" y="1188720"/>
            <a:ext cx="1417320" cy="804672"/>
          </a:xfrm>
          <a:prstGeom prst="roundRect">
            <a:avLst/>
          </a:prstGeom>
          <a:solidFill>
            <a:srgbClr val="EAF3FA"/>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05672" y="1280160"/>
            <a:ext cx="1325880" cy="384048"/>
          </a:xfrm>
          <a:prstGeom prst="rect">
            <a:avLst/>
          </a:prstGeom>
          <a:noFill/>
        </p:spPr>
        <p:txBody>
          <a:bodyPr wrap="square" lIns="0" tIns="0" rIns="0" bIns="0" anchor="t">
            <a:spAutoFit/>
          </a:bodyPr>
          <a:lstStyle/>
          <a:p>
            <a:pPr algn="ctr">
              <a:lnSpc>
                <a:spcPct val="105000"/>
              </a:lnSpc>
            </a:pPr>
            <a:r>
              <a:rPr sz="2300" b="1">
                <a:solidFill>
                  <a:srgbClr val="347AA7"/>
                </a:solidFill>
                <a:latin typeface="Microsoft YaHei"/>
              </a:rPr>
              <a:t>5/22</a:t>
            </a:r>
          </a:p>
        </p:txBody>
      </p:sp>
      <p:sp>
        <p:nvSpPr>
          <p:cNvPr id="19" name="TextBox 18"/>
          <p:cNvSpPr txBox="1"/>
          <p:nvPr/>
        </p:nvSpPr>
        <p:spPr>
          <a:xfrm>
            <a:off x="8851392" y="1755648"/>
            <a:ext cx="1234440" cy="136319"/>
          </a:xfrm>
          <a:prstGeom prst="rect">
            <a:avLst/>
          </a:prstGeom>
          <a:noFill/>
        </p:spPr>
        <p:txBody>
          <a:bodyPr wrap="square" lIns="0" tIns="0" rIns="0" bIns="0" anchor="t">
            <a:spAutoFit/>
          </a:bodyPr>
          <a:lstStyle/>
          <a:p>
            <a:pPr algn="ctr">
              <a:lnSpc>
                <a:spcPct val="105000"/>
              </a:lnSpc>
            </a:pPr>
            <a:r>
              <a:rPr lang="zh-CN" altLang="en-US" sz="880" dirty="0">
                <a:solidFill>
                  <a:srgbClr val="5B6773"/>
                </a:solidFill>
                <a:latin typeface="微软雅黑 Light"/>
              </a:rPr>
              <a:t>其余 </a:t>
            </a:r>
            <a:r>
              <a:rPr lang="en-US" altLang="zh-CN" sz="880" dirty="0">
                <a:solidFill>
                  <a:srgbClr val="5B6773"/>
                </a:solidFill>
                <a:latin typeface="微软雅黑 Light"/>
              </a:rPr>
              <a:t>5 </a:t>
            </a:r>
            <a:r>
              <a:rPr lang="zh-CN" altLang="en-US" sz="880" dirty="0">
                <a:solidFill>
                  <a:srgbClr val="5B6773"/>
                </a:solidFill>
                <a:latin typeface="微软雅黑 Light"/>
              </a:rPr>
              <a:t>个任务排名第二</a:t>
            </a:r>
            <a:endParaRPr sz="880" dirty="0">
              <a:solidFill>
                <a:srgbClr val="5B6773"/>
              </a:solidFill>
              <a:latin typeface="微软雅黑 Light"/>
            </a:endParaRPr>
          </a:p>
        </p:txBody>
      </p:sp>
      <p:sp>
        <p:nvSpPr>
          <p:cNvPr id="20" name="Rounded Rectangle 19"/>
          <p:cNvSpPr/>
          <p:nvPr/>
        </p:nvSpPr>
        <p:spPr>
          <a:xfrm>
            <a:off x="10287000" y="1188720"/>
            <a:ext cx="1078992" cy="804672"/>
          </a:xfrm>
          <a:prstGeom prst="roundRect">
            <a:avLst/>
          </a:prstGeom>
          <a:solidFill>
            <a:srgbClr val="EAF3FA"/>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332720" y="1280160"/>
            <a:ext cx="987551" cy="384048"/>
          </a:xfrm>
          <a:prstGeom prst="rect">
            <a:avLst/>
          </a:prstGeom>
          <a:noFill/>
        </p:spPr>
        <p:txBody>
          <a:bodyPr wrap="square" lIns="0" tIns="0" rIns="0" bIns="0" anchor="t">
            <a:spAutoFit/>
          </a:bodyPr>
          <a:lstStyle/>
          <a:p>
            <a:pPr algn="ctr">
              <a:lnSpc>
                <a:spcPct val="105000"/>
              </a:lnSpc>
            </a:pPr>
            <a:r>
              <a:rPr sz="2300" b="1">
                <a:solidFill>
                  <a:srgbClr val="B83232"/>
                </a:solidFill>
                <a:latin typeface="Microsoft YaHei"/>
              </a:rPr>
              <a:t>4/4</a:t>
            </a:r>
          </a:p>
        </p:txBody>
      </p:sp>
      <p:sp>
        <p:nvSpPr>
          <p:cNvPr id="22" name="TextBox 21"/>
          <p:cNvSpPr txBox="1"/>
          <p:nvPr/>
        </p:nvSpPr>
        <p:spPr>
          <a:xfrm>
            <a:off x="10378440" y="1755648"/>
            <a:ext cx="896112" cy="182879"/>
          </a:xfrm>
          <a:prstGeom prst="rect">
            <a:avLst/>
          </a:prstGeom>
          <a:noFill/>
        </p:spPr>
        <p:txBody>
          <a:bodyPr wrap="square" lIns="0" tIns="0" rIns="0" bIns="0" anchor="t">
            <a:spAutoFit/>
          </a:bodyPr>
          <a:lstStyle/>
          <a:p>
            <a:pPr algn="ctr">
              <a:lnSpc>
                <a:spcPct val="105000"/>
              </a:lnSpc>
            </a:pPr>
            <a:r>
              <a:rPr sz="880" b="0" dirty="0" err="1">
                <a:solidFill>
                  <a:srgbClr val="5B6773"/>
                </a:solidFill>
                <a:latin typeface="微软雅黑 Light"/>
              </a:rPr>
              <a:t>毒性任务全面领先</a:t>
            </a:r>
            <a:endParaRPr sz="880" b="0" dirty="0">
              <a:solidFill>
                <a:srgbClr val="5B6773"/>
              </a:solidFill>
              <a:latin typeface="微软雅黑 Light"/>
            </a:endParaRPr>
          </a:p>
        </p:txBody>
      </p:sp>
      <p:sp>
        <p:nvSpPr>
          <p:cNvPr id="23" name="Rounded Rectangle 22"/>
          <p:cNvSpPr/>
          <p:nvPr/>
        </p:nvSpPr>
        <p:spPr>
          <a:xfrm>
            <a:off x="7022592" y="2359152"/>
            <a:ext cx="4343400" cy="111556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022592" y="2359152"/>
            <a:ext cx="91440" cy="111556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0" y="2560320"/>
            <a:ext cx="3813048"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对比实验结论</a:t>
            </a:r>
          </a:p>
        </p:txBody>
      </p:sp>
      <p:sp>
        <p:nvSpPr>
          <p:cNvPr id="26" name="TextBox 25"/>
          <p:cNvSpPr txBox="1"/>
          <p:nvPr/>
        </p:nvSpPr>
        <p:spPr>
          <a:xfrm>
            <a:off x="7333488" y="2886614"/>
            <a:ext cx="3794760" cy="515334"/>
          </a:xfrm>
          <a:prstGeom prst="rect">
            <a:avLst/>
          </a:prstGeom>
          <a:noFill/>
        </p:spPr>
        <p:txBody>
          <a:bodyPr wrap="square" lIns="0" tIns="0" rIns="0" bIns="0" anchor="t">
            <a:spAutoFit/>
          </a:bodyPr>
          <a:lstStyle/>
          <a:p>
            <a:pPr>
              <a:lnSpc>
                <a:spcPct val="108000"/>
              </a:lnSpc>
            </a:pPr>
            <a:r>
              <a:rPr lang="en-US" altLang="zh-CN" sz="1050" dirty="0">
                <a:solidFill>
                  <a:srgbClr val="5B6773"/>
                </a:solidFill>
                <a:latin typeface="微软雅黑 Light"/>
              </a:rPr>
              <a:t>CoT-CMP </a:t>
            </a:r>
            <a:r>
              <a:rPr lang="zh-CN" altLang="en-US" sz="1050" dirty="0">
                <a:solidFill>
                  <a:srgbClr val="5B6773"/>
                </a:solidFill>
                <a:latin typeface="微软雅黑 Light"/>
              </a:rPr>
              <a:t>在 </a:t>
            </a:r>
            <a:r>
              <a:rPr lang="en-US" altLang="zh-CN" sz="1050" dirty="0">
                <a:solidFill>
                  <a:srgbClr val="5B6773"/>
                </a:solidFill>
                <a:latin typeface="微软雅黑 Light"/>
              </a:rPr>
              <a:t>22 </a:t>
            </a:r>
            <a:r>
              <a:rPr lang="zh-CN" altLang="en-US" sz="1050" dirty="0">
                <a:solidFill>
                  <a:srgbClr val="5B6773"/>
                </a:solidFill>
                <a:latin typeface="微软雅黑 Light"/>
              </a:rPr>
              <a:t>个 </a:t>
            </a:r>
            <a:r>
              <a:rPr lang="en-US" altLang="zh-CN" sz="1050" dirty="0">
                <a:solidFill>
                  <a:srgbClr val="5B6773"/>
                </a:solidFill>
                <a:latin typeface="微软雅黑 Light"/>
              </a:rPr>
              <a:t>ADMET </a:t>
            </a:r>
            <a:r>
              <a:rPr lang="zh-CN" altLang="en-US" sz="1050" dirty="0">
                <a:solidFill>
                  <a:srgbClr val="5B6773"/>
                </a:solidFill>
                <a:latin typeface="微软雅黑 Light"/>
              </a:rPr>
              <a:t>任务中取得 </a:t>
            </a:r>
            <a:r>
              <a:rPr lang="en-US" altLang="zh-CN" sz="1050" dirty="0">
                <a:solidFill>
                  <a:srgbClr val="5B6773"/>
                </a:solidFill>
                <a:latin typeface="微软雅黑 Light"/>
              </a:rPr>
              <a:t>17 </a:t>
            </a:r>
            <a:r>
              <a:rPr lang="zh-CN" altLang="en-US" sz="1050" dirty="0">
                <a:solidFill>
                  <a:srgbClr val="5B6773"/>
                </a:solidFill>
                <a:latin typeface="微软雅黑 Light"/>
              </a:rPr>
              <a:t>个最优、</a:t>
            </a:r>
            <a:r>
              <a:rPr lang="en-US" altLang="zh-CN" sz="1050" dirty="0">
                <a:solidFill>
                  <a:srgbClr val="5B6773"/>
                </a:solidFill>
                <a:latin typeface="微软雅黑 Light"/>
              </a:rPr>
              <a:t>5 </a:t>
            </a:r>
            <a:r>
              <a:rPr lang="zh-CN" altLang="en-US" sz="1050" dirty="0">
                <a:solidFill>
                  <a:srgbClr val="5B6773"/>
                </a:solidFill>
                <a:latin typeface="微软雅黑 Light"/>
              </a:rPr>
              <a:t>个次优；在 </a:t>
            </a:r>
            <a:r>
              <a:rPr lang="en-US" altLang="zh-CN" sz="1050" dirty="0">
                <a:solidFill>
                  <a:srgbClr val="5B6773"/>
                </a:solidFill>
                <a:latin typeface="微软雅黑 Light"/>
              </a:rPr>
              <a:t>LD50</a:t>
            </a:r>
            <a:r>
              <a:rPr lang="zh-CN" altLang="en-US" sz="1050" dirty="0">
                <a:solidFill>
                  <a:srgbClr val="5B6773"/>
                </a:solidFill>
                <a:latin typeface="微软雅黑 Light"/>
              </a:rPr>
              <a:t>、</a:t>
            </a:r>
            <a:r>
              <a:rPr lang="en-US" altLang="zh-CN" sz="1050" dirty="0">
                <a:solidFill>
                  <a:srgbClr val="5B6773"/>
                </a:solidFill>
                <a:latin typeface="微软雅黑 Light"/>
              </a:rPr>
              <a:t>hERG</a:t>
            </a:r>
            <a:r>
              <a:rPr lang="zh-CN" altLang="en-US" sz="1050" dirty="0">
                <a:solidFill>
                  <a:srgbClr val="5B6773"/>
                </a:solidFill>
                <a:latin typeface="微软雅黑 Light"/>
              </a:rPr>
              <a:t>、</a:t>
            </a:r>
            <a:r>
              <a:rPr lang="en-US" altLang="zh-CN" sz="1050" dirty="0">
                <a:solidFill>
                  <a:srgbClr val="5B6773"/>
                </a:solidFill>
                <a:latin typeface="微软雅黑 Light"/>
              </a:rPr>
              <a:t>Ames</a:t>
            </a:r>
            <a:r>
              <a:rPr lang="zh-CN" altLang="en-US" sz="1050" dirty="0">
                <a:solidFill>
                  <a:srgbClr val="5B6773"/>
                </a:solidFill>
                <a:latin typeface="微软雅黑 Light"/>
              </a:rPr>
              <a:t>、</a:t>
            </a:r>
            <a:r>
              <a:rPr lang="en-US" altLang="zh-CN" sz="1050" dirty="0">
                <a:solidFill>
                  <a:srgbClr val="5B6773"/>
                </a:solidFill>
                <a:latin typeface="微软雅黑 Light"/>
              </a:rPr>
              <a:t>DILI </a:t>
            </a:r>
            <a:r>
              <a:rPr lang="zh-CN" altLang="en-US" sz="1050" dirty="0">
                <a:solidFill>
                  <a:srgbClr val="5B6773"/>
                </a:solidFill>
                <a:latin typeface="微软雅黑 Light"/>
              </a:rPr>
              <a:t>四项毒性预测任务上均取得最优表现。</a:t>
            </a:r>
            <a:endParaRPr sz="1050" dirty="0">
              <a:solidFill>
                <a:srgbClr val="5B6773"/>
              </a:solidFill>
              <a:latin typeface="微软雅黑 Light"/>
            </a:endParaRPr>
          </a:p>
        </p:txBody>
      </p:sp>
      <p:sp>
        <p:nvSpPr>
          <p:cNvPr id="27" name="Rounded Rectangle 26"/>
          <p:cNvSpPr/>
          <p:nvPr/>
        </p:nvSpPr>
        <p:spPr>
          <a:xfrm>
            <a:off x="7022592" y="3822191"/>
            <a:ext cx="4343400" cy="111556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22592" y="3822191"/>
            <a:ext cx="91440" cy="1115568"/>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0" y="4023359"/>
            <a:ext cx="3813048"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性能提升原因</a:t>
            </a:r>
          </a:p>
        </p:txBody>
      </p:sp>
      <p:sp>
        <p:nvSpPr>
          <p:cNvPr id="30" name="TextBox 29"/>
          <p:cNvSpPr txBox="1"/>
          <p:nvPr/>
        </p:nvSpPr>
        <p:spPr>
          <a:xfrm>
            <a:off x="7351776" y="4349903"/>
            <a:ext cx="3794760" cy="515334"/>
          </a:xfrm>
          <a:prstGeom prst="rect">
            <a:avLst/>
          </a:prstGeom>
          <a:noFill/>
        </p:spPr>
        <p:txBody>
          <a:bodyPr wrap="square" lIns="0" tIns="0" rIns="0" bIns="0" anchor="t">
            <a:spAutoFit/>
          </a:bodyPr>
          <a:lstStyle/>
          <a:p>
            <a:pPr>
              <a:lnSpc>
                <a:spcPct val="108000"/>
              </a:lnSpc>
            </a:pPr>
            <a:r>
              <a:rPr lang="en-US" altLang="zh-CN" sz="1050" dirty="0">
                <a:solidFill>
                  <a:srgbClr val="5B6773"/>
                </a:solidFill>
                <a:latin typeface="微软雅黑 Light"/>
              </a:rPr>
              <a:t>CoT </a:t>
            </a:r>
            <a:r>
              <a:rPr lang="zh-CN" altLang="en-US" sz="1050" dirty="0">
                <a:solidFill>
                  <a:srgbClr val="5B6773"/>
                </a:solidFill>
                <a:latin typeface="微软雅黑 Light"/>
              </a:rPr>
              <a:t>推理文本补充分子药理语义，</a:t>
            </a:r>
            <a:r>
              <a:rPr lang="en-US" altLang="zh-CN" sz="1050" dirty="0">
                <a:solidFill>
                  <a:srgbClr val="5B6773"/>
                </a:solidFill>
                <a:latin typeface="微软雅黑 Light"/>
              </a:rPr>
              <a:t>CMPNN </a:t>
            </a:r>
            <a:r>
              <a:rPr lang="zh-CN" altLang="en-US" sz="1050" dirty="0">
                <a:solidFill>
                  <a:srgbClr val="5B6773"/>
                </a:solidFill>
                <a:latin typeface="微软雅黑 Light"/>
              </a:rPr>
              <a:t>强化原子</a:t>
            </a:r>
            <a:r>
              <a:rPr lang="en-US" altLang="zh-CN" sz="1050" dirty="0">
                <a:solidFill>
                  <a:srgbClr val="5B6773"/>
                </a:solidFill>
                <a:latin typeface="微软雅黑 Light"/>
              </a:rPr>
              <a:t>—</a:t>
            </a:r>
            <a:r>
              <a:rPr lang="zh-CN" altLang="en-US" sz="1050" dirty="0">
                <a:solidFill>
                  <a:srgbClr val="5B6773"/>
                </a:solidFill>
                <a:latin typeface="微软雅黑 Light"/>
              </a:rPr>
              <a:t>化学键交互建模，交叉注意力进一步实现图结构特征与文本语义特征的自适应融合。</a:t>
            </a:r>
            <a:endParaRPr sz="1050" dirty="0">
              <a:solidFill>
                <a:srgbClr val="5B6773"/>
              </a:solidFill>
              <a:latin typeface="微软雅黑 Light"/>
            </a:endParaRPr>
          </a:p>
        </p:txBody>
      </p:sp>
      <p:sp>
        <p:nvSpPr>
          <p:cNvPr id="32" name="TextBox 4">
            <a:extLst>
              <a:ext uri="{FF2B5EF4-FFF2-40B4-BE49-F238E27FC236}">
                <a16:creationId xmlns:a16="http://schemas.microsoft.com/office/drawing/2014/main" id="{E4AB9393-9F64-2059-123C-96D3CD819EFF}"/>
              </a:ext>
            </a:extLst>
          </p:cNvPr>
          <p:cNvSpPr txBox="1"/>
          <p:nvPr/>
        </p:nvSpPr>
        <p:spPr>
          <a:xfrm>
            <a:off x="1347214" y="329974"/>
            <a:ext cx="8006336" cy="309315"/>
          </a:xfrm>
          <a:prstGeom prst="rect">
            <a:avLst/>
          </a:prstGeom>
          <a:noFill/>
        </p:spPr>
        <p:txBody>
          <a:bodyPr wrap="square" lIns="0" tIns="0" rIns="0" bIns="0" anchor="t">
            <a:spAutoFit/>
          </a:bodyPr>
          <a:lstStyle/>
          <a:p>
            <a:pPr>
              <a:lnSpc>
                <a:spcPct val="105000"/>
              </a:lnSpc>
            </a:pPr>
            <a:r>
              <a:rPr sz="2000" b="1" dirty="0" err="1">
                <a:solidFill>
                  <a:srgbClr val="004E98"/>
                </a:solidFill>
                <a:latin typeface="微软雅黑" panose="020B0503020204020204" pitchFamily="34" charset="-122"/>
                <a:ea typeface="微软雅黑" panose="020B0503020204020204" pitchFamily="34" charset="-122"/>
              </a:rPr>
              <a:t>研究内容</a:t>
            </a:r>
            <a:r>
              <a:rPr lang="zh-CN" altLang="en-US" sz="2000" b="1" dirty="0">
                <a:solidFill>
                  <a:srgbClr val="004E98"/>
                </a:solidFill>
                <a:latin typeface="微软雅黑" panose="020B0503020204020204" pitchFamily="34" charset="-122"/>
                <a:ea typeface="微软雅黑" panose="020B0503020204020204" pitchFamily="34" charset="-122"/>
              </a:rPr>
              <a:t>：</a:t>
            </a:r>
            <a:r>
              <a:rPr lang="en-US" altLang="zh-CN" sz="2000" b="1" dirty="0">
                <a:solidFill>
                  <a:srgbClr val="004E98"/>
                </a:solidFill>
                <a:latin typeface="微软雅黑" panose="020B0503020204020204" pitchFamily="34" charset="-122"/>
                <a:ea typeface="微软雅黑" panose="020B0503020204020204" pitchFamily="34" charset="-122"/>
              </a:rPr>
              <a:t>CoT-CMP </a:t>
            </a:r>
            <a:r>
              <a:rPr lang="zh-CN" altLang="en-US" sz="2000" b="1" dirty="0">
                <a:solidFill>
                  <a:srgbClr val="004E98"/>
                </a:solidFill>
                <a:latin typeface="微软雅黑" panose="020B0503020204020204" pitchFamily="34" charset="-122"/>
                <a:ea typeface="微软雅黑" panose="020B0503020204020204" pitchFamily="34" charset="-122"/>
              </a:rPr>
              <a:t>在 </a:t>
            </a:r>
            <a:r>
              <a:rPr lang="en-US" altLang="zh-CN" sz="2000" b="1" dirty="0">
                <a:solidFill>
                  <a:srgbClr val="004E98"/>
                </a:solidFill>
                <a:latin typeface="微软雅黑" panose="020B0503020204020204" pitchFamily="34" charset="-122"/>
                <a:ea typeface="微软雅黑" panose="020B0503020204020204" pitchFamily="34" charset="-122"/>
              </a:rPr>
              <a:t>22 </a:t>
            </a:r>
            <a:r>
              <a:rPr lang="zh-CN" altLang="en-US" sz="2000" b="1" dirty="0">
                <a:solidFill>
                  <a:srgbClr val="004E98"/>
                </a:solidFill>
                <a:latin typeface="微软雅黑" panose="020B0503020204020204" pitchFamily="34" charset="-122"/>
                <a:ea typeface="微软雅黑" panose="020B0503020204020204" pitchFamily="34" charset="-122"/>
              </a:rPr>
              <a:t>个 </a:t>
            </a:r>
            <a:r>
              <a:rPr lang="en-US" altLang="zh-CN" sz="2000" b="1" dirty="0">
                <a:solidFill>
                  <a:srgbClr val="004E98"/>
                </a:solidFill>
                <a:latin typeface="微软雅黑" panose="020B0503020204020204" pitchFamily="34" charset="-122"/>
                <a:ea typeface="微软雅黑" panose="020B0503020204020204" pitchFamily="34" charset="-122"/>
              </a:rPr>
              <a:t>ADMET </a:t>
            </a:r>
            <a:r>
              <a:rPr lang="zh-CN" altLang="en-US" sz="2000" b="1" dirty="0">
                <a:solidFill>
                  <a:srgbClr val="004E98"/>
                </a:solidFill>
                <a:latin typeface="微软雅黑" panose="020B0503020204020204" pitchFamily="34" charset="-122"/>
                <a:ea typeface="微软雅黑" panose="020B0503020204020204" pitchFamily="34" charset="-122"/>
              </a:rPr>
              <a:t>任务上的对比实验结果</a:t>
            </a:r>
          </a:p>
        </p:txBody>
      </p:sp>
      <p:sp>
        <p:nvSpPr>
          <p:cNvPr id="36" name="文本框 35">
            <a:extLst>
              <a:ext uri="{FF2B5EF4-FFF2-40B4-BE49-F238E27FC236}">
                <a16:creationId xmlns:a16="http://schemas.microsoft.com/office/drawing/2014/main" id="{E942CED2-48EC-D343-EAF2-362D5DC589BD}"/>
              </a:ext>
            </a:extLst>
          </p:cNvPr>
          <p:cNvSpPr txBox="1"/>
          <p:nvPr/>
        </p:nvSpPr>
        <p:spPr>
          <a:xfrm>
            <a:off x="7022592" y="5312878"/>
            <a:ext cx="4379595" cy="923330"/>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结果表明，</a:t>
            </a:r>
            <a:r>
              <a:rPr lang="zh-CN" altLang="en-US" b="1" dirty="0">
                <a:solidFill>
                  <a:srgbClr val="004E98"/>
                </a:solidFill>
                <a:latin typeface="微软雅黑" panose="020B0503020204020204" pitchFamily="34" charset="-122"/>
                <a:ea typeface="微软雅黑" panose="020B0503020204020204" pitchFamily="34" charset="-122"/>
              </a:rPr>
              <a:t>显式推理文本与分子图结构的联合建模</a:t>
            </a:r>
            <a:r>
              <a:rPr lang="zh-CN" altLang="en-US" b="1" dirty="0">
                <a:latin typeface="微软雅黑" panose="020B0503020204020204" pitchFamily="34" charset="-122"/>
                <a:ea typeface="微软雅黑" panose="020B0503020204020204" pitchFamily="34" charset="-122"/>
              </a:rPr>
              <a:t>能够有效提升复杂 </a:t>
            </a:r>
            <a:r>
              <a:rPr lang="en-US" altLang="zh-CN" b="1" dirty="0">
                <a:latin typeface="微软雅黑" panose="020B0503020204020204" pitchFamily="34" charset="-122"/>
                <a:ea typeface="微软雅黑" panose="020B0503020204020204" pitchFamily="34" charset="-122"/>
              </a:rPr>
              <a:t>ADMET </a:t>
            </a:r>
            <a:r>
              <a:rPr lang="zh-CN" altLang="en-US" b="1" dirty="0">
                <a:latin typeface="微软雅黑" panose="020B0503020204020204" pitchFamily="34" charset="-122"/>
                <a:ea typeface="微软雅黑" panose="020B0503020204020204" pitchFamily="34" charset="-122"/>
              </a:rPr>
              <a:t>性质预测表现。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57884" y="301752"/>
            <a:ext cx="5669280" cy="309315"/>
          </a:xfrm>
          <a:prstGeom prst="rect">
            <a:avLst/>
          </a:prstGeom>
          <a:noFill/>
        </p:spPr>
        <p:txBody>
          <a:bodyPr wrap="square" lIns="0" tIns="0" rIns="0" bIns="0" anchor="t">
            <a:spAutoFit/>
          </a:bodyPr>
          <a:lstStyle/>
          <a:p>
            <a:pPr algn="l">
              <a:lnSpc>
                <a:spcPct val="105000"/>
              </a:lnSpc>
            </a:pPr>
            <a:r>
              <a:rPr sz="2000" b="1" dirty="0">
                <a:solidFill>
                  <a:srgbClr val="004E98"/>
                </a:solidFill>
                <a:latin typeface="微软雅黑" panose="020B0503020204020204" pitchFamily="34" charset="-122"/>
                <a:ea typeface="微软雅黑" panose="020B0503020204020204" pitchFamily="34" charset="-122"/>
              </a:rPr>
              <a:t>CoT-CMP </a:t>
            </a:r>
            <a:r>
              <a:rPr sz="2000" b="1" dirty="0" err="1">
                <a:solidFill>
                  <a:srgbClr val="004E98"/>
                </a:solidFill>
                <a:latin typeface="微软雅黑" panose="020B0503020204020204" pitchFamily="34" charset="-122"/>
                <a:ea typeface="微软雅黑" panose="020B0503020204020204" pitchFamily="34" charset="-122"/>
              </a:rPr>
              <a:t>消融</a:t>
            </a:r>
            <a:r>
              <a:rPr lang="zh-CN" altLang="en-US" sz="2000" b="1" dirty="0">
                <a:solidFill>
                  <a:srgbClr val="004E98"/>
                </a:solidFill>
                <a:latin typeface="微软雅黑" panose="020B0503020204020204" pitchFamily="34" charset="-122"/>
                <a:ea typeface="微软雅黑" panose="020B0503020204020204" pitchFamily="34" charset="-122"/>
              </a:rPr>
              <a:t>实验与参数敏感性</a:t>
            </a:r>
            <a:r>
              <a:rPr sz="2000" b="1" dirty="0" err="1">
                <a:solidFill>
                  <a:srgbClr val="004E98"/>
                </a:solidFill>
                <a:latin typeface="微软雅黑" panose="020B0503020204020204" pitchFamily="34" charset="-122"/>
                <a:ea typeface="微软雅黑" panose="020B0503020204020204" pitchFamily="34" charset="-122"/>
              </a:rPr>
              <a:t>分析</a:t>
            </a:r>
            <a:endParaRPr sz="2000" b="1" dirty="0">
              <a:solidFill>
                <a:srgbClr val="004E98"/>
              </a:solidFill>
              <a:latin typeface="微软雅黑" panose="020B0503020204020204" pitchFamily="34" charset="-122"/>
              <a:ea typeface="微软雅黑" panose="020B0503020204020204" pitchFamily="34" charset="-122"/>
            </a:endParaRPr>
          </a:p>
        </p:txBody>
      </p:sp>
      <p:pic>
        <p:nvPicPr>
          <p:cNvPr id="7" name="Picture 6" descr="logo.png"/>
          <p:cNvPicPr>
            <a:picLocks noChangeAspect="1"/>
          </p:cNvPicPr>
          <p:nvPr/>
        </p:nvPicPr>
        <p:blipFill>
          <a:blip r:embed="rId2"/>
          <a:stretch>
            <a:fillRect/>
          </a:stretch>
        </p:blipFill>
        <p:spPr>
          <a:xfrm>
            <a:off x="11301984" y="310896"/>
            <a:ext cx="402336" cy="457200"/>
          </a:xfrm>
          <a:prstGeom prst="rect">
            <a:avLst/>
          </a:prstGeom>
        </p:spPr>
      </p:pic>
      <p:sp>
        <p:nvSpPr>
          <p:cNvPr id="8" name="Rectangle 7"/>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sp>
        <p:nvSpPr>
          <p:cNvPr id="11" name="Rounded Rectangle 10"/>
          <p:cNvSpPr/>
          <p:nvPr/>
        </p:nvSpPr>
        <p:spPr>
          <a:xfrm>
            <a:off x="645256" y="1110996"/>
            <a:ext cx="5382388" cy="1993392"/>
          </a:xfrm>
          <a:prstGeom prst="roundRect">
            <a:avLst/>
          </a:prstGeom>
          <a:solidFill>
            <a:srgbClr val="FFFFFF"/>
          </a:solidFill>
          <a:ln w="1905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pic>
        <p:nvPicPr>
          <p:cNvPr id="12" name="Picture 11" descr="CoT-CMP在ADMET基准组上部分分类任务消融实验结果.png"/>
          <p:cNvPicPr>
            <a:picLocks noChangeAspect="1"/>
          </p:cNvPicPr>
          <p:nvPr/>
        </p:nvPicPr>
        <p:blipFill>
          <a:blip r:embed="rId3"/>
          <a:stretch>
            <a:fillRect/>
          </a:stretch>
        </p:blipFill>
        <p:spPr>
          <a:xfrm>
            <a:off x="800324" y="1268790"/>
            <a:ext cx="5049363" cy="1479744"/>
          </a:xfrm>
          <a:prstGeom prst="rect">
            <a:avLst/>
          </a:prstGeom>
        </p:spPr>
      </p:pic>
      <p:sp>
        <p:nvSpPr>
          <p:cNvPr id="13" name="TextBox 12"/>
          <p:cNvSpPr txBox="1"/>
          <p:nvPr/>
        </p:nvSpPr>
        <p:spPr>
          <a:xfrm>
            <a:off x="849092" y="2844165"/>
            <a:ext cx="4736592" cy="164592"/>
          </a:xfrm>
          <a:prstGeom prst="rect">
            <a:avLst/>
          </a:prstGeom>
          <a:noFill/>
        </p:spPr>
        <p:txBody>
          <a:bodyPr wrap="square" lIns="0" tIns="0" rIns="0" bIns="0" anchor="t">
            <a:spAutoFit/>
          </a:bodyPr>
          <a:lstStyle/>
          <a:p>
            <a:pPr algn="ctr">
              <a:lnSpc>
                <a:spcPct val="105000"/>
              </a:lnSpc>
            </a:pPr>
            <a:r>
              <a:rPr sz="840" b="0" dirty="0" err="1">
                <a:solidFill>
                  <a:srgbClr val="5B6773"/>
                </a:solidFill>
                <a:latin typeface="微软雅黑 Light"/>
              </a:rPr>
              <a:t>分类任务消融结果</a:t>
            </a:r>
            <a:endParaRPr sz="840" b="0" dirty="0">
              <a:solidFill>
                <a:srgbClr val="5B6773"/>
              </a:solidFill>
              <a:latin typeface="微软雅黑 Light"/>
            </a:endParaRPr>
          </a:p>
        </p:txBody>
      </p:sp>
      <p:sp>
        <p:nvSpPr>
          <p:cNvPr id="17" name="Rounded Rectangle 16"/>
          <p:cNvSpPr/>
          <p:nvPr/>
        </p:nvSpPr>
        <p:spPr>
          <a:xfrm>
            <a:off x="619348" y="3482035"/>
            <a:ext cx="5382388" cy="3001062"/>
          </a:xfrm>
          <a:prstGeom prst="roundRect">
            <a:avLst/>
          </a:prstGeom>
          <a:solidFill>
            <a:srgbClr val="FFFFFF"/>
          </a:solidFill>
          <a:ln w="1905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pic>
        <p:nvPicPr>
          <p:cNvPr id="18" name="Picture 17" descr="CMPNN模型层数对分类任务性能的影响.png"/>
          <p:cNvPicPr>
            <a:picLocks noChangeAspect="1"/>
          </p:cNvPicPr>
          <p:nvPr/>
        </p:nvPicPr>
        <p:blipFill>
          <a:blip r:embed="rId4"/>
          <a:stretch>
            <a:fillRect/>
          </a:stretch>
        </p:blipFill>
        <p:spPr>
          <a:xfrm>
            <a:off x="947017" y="3593686"/>
            <a:ext cx="4727049" cy="2665382"/>
          </a:xfrm>
          <a:prstGeom prst="rect">
            <a:avLst/>
          </a:prstGeom>
        </p:spPr>
      </p:pic>
      <p:sp>
        <p:nvSpPr>
          <p:cNvPr id="19" name="TextBox 18"/>
          <p:cNvSpPr txBox="1"/>
          <p:nvPr/>
        </p:nvSpPr>
        <p:spPr>
          <a:xfrm>
            <a:off x="619348" y="6280058"/>
            <a:ext cx="5121950" cy="128305"/>
          </a:xfrm>
          <a:prstGeom prst="rect">
            <a:avLst/>
          </a:prstGeom>
          <a:noFill/>
        </p:spPr>
        <p:txBody>
          <a:bodyPr wrap="square" lIns="0" tIns="0" rIns="0" bIns="0" anchor="t">
            <a:spAutoFit/>
          </a:bodyPr>
          <a:lstStyle/>
          <a:p>
            <a:pPr algn="ctr">
              <a:lnSpc>
                <a:spcPct val="105000"/>
              </a:lnSpc>
            </a:pPr>
            <a:r>
              <a:rPr sz="840" b="0" dirty="0">
                <a:solidFill>
                  <a:srgbClr val="5B6773"/>
                </a:solidFill>
                <a:latin typeface="微软雅黑 Light"/>
              </a:rPr>
              <a:t>CMPN </a:t>
            </a:r>
            <a:r>
              <a:rPr sz="840" b="0" dirty="0" err="1">
                <a:solidFill>
                  <a:srgbClr val="5B6773"/>
                </a:solidFill>
                <a:latin typeface="微软雅黑 Light"/>
              </a:rPr>
              <a:t>层数敏感性实验</a:t>
            </a:r>
            <a:endParaRPr sz="840" b="0" dirty="0">
              <a:solidFill>
                <a:srgbClr val="5B6773"/>
              </a:solidFill>
              <a:latin typeface="微软雅黑 Light"/>
            </a:endParaRPr>
          </a:p>
        </p:txBody>
      </p:sp>
      <p:sp>
        <p:nvSpPr>
          <p:cNvPr id="20" name="Rounded Rectangle 19"/>
          <p:cNvSpPr/>
          <p:nvPr/>
        </p:nvSpPr>
        <p:spPr>
          <a:xfrm>
            <a:off x="6328948" y="2295143"/>
            <a:ext cx="5074920" cy="1186891"/>
          </a:xfrm>
          <a:prstGeom prst="roundRect">
            <a:avLst/>
          </a:prstGeom>
          <a:solidFill>
            <a:srgbClr val="FFFFFF"/>
          </a:solidFill>
          <a:ln w="1905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1" name="Rectangle 20"/>
          <p:cNvSpPr/>
          <p:nvPr/>
        </p:nvSpPr>
        <p:spPr>
          <a:xfrm>
            <a:off x="6328948" y="2295143"/>
            <a:ext cx="91440" cy="1186891"/>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88628" y="2385252"/>
            <a:ext cx="4544568" cy="274320"/>
          </a:xfrm>
          <a:prstGeom prst="rect">
            <a:avLst/>
          </a:prstGeom>
          <a:noFill/>
        </p:spPr>
        <p:txBody>
          <a:bodyPr wrap="square" lIns="0" tIns="0" rIns="0" bIns="0" anchor="t">
            <a:spAutoFit/>
          </a:bodyPr>
          <a:lstStyle/>
          <a:p>
            <a:pPr algn="l">
              <a:lnSpc>
                <a:spcPct val="105000"/>
              </a:lnSpc>
            </a:pPr>
            <a:r>
              <a:rPr sz="1450" b="1" dirty="0" err="1">
                <a:solidFill>
                  <a:srgbClr val="16324F"/>
                </a:solidFill>
                <a:latin typeface="Microsoft YaHei"/>
              </a:rPr>
              <a:t>消融结论</a:t>
            </a:r>
            <a:endParaRPr sz="1450" b="1" dirty="0">
              <a:solidFill>
                <a:srgbClr val="16324F"/>
              </a:solidFill>
              <a:latin typeface="Microsoft YaHei"/>
            </a:endParaRPr>
          </a:p>
        </p:txBody>
      </p:sp>
      <p:sp>
        <p:nvSpPr>
          <p:cNvPr id="23" name="TextBox 22"/>
          <p:cNvSpPr txBox="1"/>
          <p:nvPr/>
        </p:nvSpPr>
        <p:spPr>
          <a:xfrm>
            <a:off x="6493540" y="2659572"/>
            <a:ext cx="4898136" cy="687048"/>
          </a:xfrm>
          <a:prstGeom prst="rect">
            <a:avLst/>
          </a:prstGeom>
          <a:noFill/>
        </p:spPr>
        <p:txBody>
          <a:bodyPr wrap="square" lIns="0" tIns="0" rIns="0" bIns="0" anchor="t">
            <a:spAutoFit/>
          </a:bodyPr>
          <a:lstStyle/>
          <a:p>
            <a:pPr marL="171450" indent="-171450">
              <a:lnSpc>
                <a:spcPct val="108000"/>
              </a:lnSpc>
              <a:buFont typeface="Wingdings" panose="05000000000000000000" pitchFamily="2" charset="2"/>
              <a:buChar char="l"/>
            </a:pPr>
            <a:r>
              <a:rPr lang="zh-CN" altLang="en-US" sz="1400" b="1" dirty="0">
                <a:solidFill>
                  <a:srgbClr val="5B6773"/>
                </a:solidFill>
                <a:latin typeface="微软雅黑 Light"/>
              </a:rPr>
              <a:t>结论一：完整 </a:t>
            </a:r>
            <a:r>
              <a:rPr lang="en-US" altLang="zh-CN" sz="1400" b="1" dirty="0">
                <a:solidFill>
                  <a:srgbClr val="5B6773"/>
                </a:solidFill>
                <a:latin typeface="微软雅黑 Light"/>
              </a:rPr>
              <a:t>CoT-CMP </a:t>
            </a:r>
            <a:r>
              <a:rPr lang="zh-CN" altLang="en-US" sz="1400" b="1" dirty="0">
                <a:solidFill>
                  <a:srgbClr val="5B6773"/>
                </a:solidFill>
                <a:latin typeface="微软雅黑 Light"/>
              </a:rPr>
              <a:t>在四个分类任务上均取得最优表现。</a:t>
            </a:r>
            <a:endParaRPr lang="en-US" altLang="zh-CN" sz="1400" b="1" dirty="0">
              <a:solidFill>
                <a:srgbClr val="5B6773"/>
              </a:solidFill>
              <a:latin typeface="微软雅黑 Light"/>
            </a:endParaRPr>
          </a:p>
          <a:p>
            <a:pPr marL="171450" indent="-171450">
              <a:lnSpc>
                <a:spcPct val="108000"/>
              </a:lnSpc>
              <a:buFont typeface="Wingdings" panose="05000000000000000000" pitchFamily="2" charset="2"/>
              <a:buChar char="l"/>
            </a:pPr>
            <a:r>
              <a:rPr lang="zh-CN" altLang="en-US" sz="1400" b="1" dirty="0">
                <a:solidFill>
                  <a:srgbClr val="5B6773"/>
                </a:solidFill>
                <a:latin typeface="微软雅黑 Light"/>
              </a:rPr>
              <a:t>结论二：移除 </a:t>
            </a:r>
            <a:r>
              <a:rPr lang="en-US" altLang="zh-CN" sz="1400" b="1" dirty="0">
                <a:solidFill>
                  <a:srgbClr val="5B6773"/>
                </a:solidFill>
                <a:latin typeface="微软雅黑 Light"/>
              </a:rPr>
              <a:t>LLM</a:t>
            </a:r>
            <a:r>
              <a:rPr lang="zh-CN" altLang="en-US" sz="1400" b="1" dirty="0">
                <a:solidFill>
                  <a:srgbClr val="5B6773"/>
                </a:solidFill>
                <a:latin typeface="微软雅黑 Light"/>
              </a:rPr>
              <a:t>、</a:t>
            </a:r>
            <a:r>
              <a:rPr lang="en-US" altLang="zh-CN" sz="1400" b="1" dirty="0">
                <a:solidFill>
                  <a:srgbClr val="5B6773"/>
                </a:solidFill>
                <a:latin typeface="微软雅黑 Light"/>
              </a:rPr>
              <a:t>CoT</a:t>
            </a:r>
            <a:r>
              <a:rPr lang="zh-CN" altLang="en-US" sz="1400" b="1" dirty="0">
                <a:solidFill>
                  <a:srgbClr val="5B6773"/>
                </a:solidFill>
                <a:latin typeface="微软雅黑 Light"/>
              </a:rPr>
              <a:t>、</a:t>
            </a:r>
            <a:r>
              <a:rPr lang="en-US" altLang="zh-CN" sz="1400" b="1" dirty="0">
                <a:solidFill>
                  <a:srgbClr val="5B6773"/>
                </a:solidFill>
                <a:latin typeface="微软雅黑 Light"/>
              </a:rPr>
              <a:t>LoRA </a:t>
            </a:r>
            <a:r>
              <a:rPr lang="zh-CN" altLang="en-US" sz="1400" b="1" dirty="0">
                <a:solidFill>
                  <a:srgbClr val="5B6773"/>
                </a:solidFill>
                <a:latin typeface="微软雅黑 Light"/>
              </a:rPr>
              <a:t>或交叉注意力后性能下降，说明文本推理、任务适配和图文融合均有效。</a:t>
            </a:r>
            <a:endParaRPr sz="1400" b="1" dirty="0">
              <a:solidFill>
                <a:srgbClr val="5B6773"/>
              </a:solidFill>
              <a:latin typeface="微软雅黑 Light"/>
            </a:endParaRPr>
          </a:p>
        </p:txBody>
      </p:sp>
      <p:sp>
        <p:nvSpPr>
          <p:cNvPr id="28" name="Rounded Rectangle 25">
            <a:extLst>
              <a:ext uri="{FF2B5EF4-FFF2-40B4-BE49-F238E27FC236}">
                <a16:creationId xmlns:a16="http://schemas.microsoft.com/office/drawing/2014/main" id="{ED5D99C4-B8D0-B869-F2D2-5BE342573A78}"/>
              </a:ext>
            </a:extLst>
          </p:cNvPr>
          <p:cNvSpPr/>
          <p:nvPr/>
        </p:nvSpPr>
        <p:spPr>
          <a:xfrm>
            <a:off x="6328948" y="3991679"/>
            <a:ext cx="5074920" cy="1320619"/>
          </a:xfrm>
          <a:prstGeom prst="roundRect">
            <a:avLst/>
          </a:prstGeom>
          <a:solidFill>
            <a:srgbClr val="FFFFFF"/>
          </a:solidFill>
          <a:ln w="1905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9" name="Rectangle 26">
            <a:extLst>
              <a:ext uri="{FF2B5EF4-FFF2-40B4-BE49-F238E27FC236}">
                <a16:creationId xmlns:a16="http://schemas.microsoft.com/office/drawing/2014/main" id="{3A4F0AD7-2F0C-C8CD-CAC7-FBC02D279B88}"/>
              </a:ext>
            </a:extLst>
          </p:cNvPr>
          <p:cNvSpPr/>
          <p:nvPr/>
        </p:nvSpPr>
        <p:spPr>
          <a:xfrm>
            <a:off x="6328948" y="3991680"/>
            <a:ext cx="91440" cy="1320618"/>
          </a:xfrm>
          <a:prstGeom prst="rect">
            <a:avLst/>
          </a:prstGeom>
          <a:solidFill>
            <a:srgbClr val="163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7">
            <a:extLst>
              <a:ext uri="{FF2B5EF4-FFF2-40B4-BE49-F238E27FC236}">
                <a16:creationId xmlns:a16="http://schemas.microsoft.com/office/drawing/2014/main" id="{099727EA-8EED-3ADA-A71B-68D4AF358195}"/>
              </a:ext>
            </a:extLst>
          </p:cNvPr>
          <p:cNvSpPr txBox="1"/>
          <p:nvPr/>
        </p:nvSpPr>
        <p:spPr>
          <a:xfrm>
            <a:off x="6470340" y="4028256"/>
            <a:ext cx="3035808" cy="224292"/>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微软雅黑" panose="020B0503020204020204" pitchFamily="34" charset="-122"/>
                <a:ea typeface="微软雅黑" panose="020B0503020204020204" pitchFamily="34" charset="-122"/>
              </a:rPr>
              <a:t>参数敏感结论</a:t>
            </a:r>
            <a:endParaRPr sz="1450" b="1" dirty="0">
              <a:solidFill>
                <a:srgbClr val="16324F"/>
              </a:solidFill>
              <a:latin typeface="微软雅黑" panose="020B0503020204020204" pitchFamily="34" charset="-122"/>
              <a:ea typeface="微软雅黑" panose="020B0503020204020204" pitchFamily="34" charset="-122"/>
            </a:endParaRPr>
          </a:p>
        </p:txBody>
      </p:sp>
      <p:sp>
        <p:nvSpPr>
          <p:cNvPr id="31" name="TextBox 28">
            <a:extLst>
              <a:ext uri="{FF2B5EF4-FFF2-40B4-BE49-F238E27FC236}">
                <a16:creationId xmlns:a16="http://schemas.microsoft.com/office/drawing/2014/main" id="{568D5FAC-B0E5-E00F-9E3F-2D6C1D29D64B}"/>
              </a:ext>
            </a:extLst>
          </p:cNvPr>
          <p:cNvSpPr txBox="1"/>
          <p:nvPr/>
        </p:nvSpPr>
        <p:spPr>
          <a:xfrm>
            <a:off x="6488628" y="4290004"/>
            <a:ext cx="4544568" cy="687048"/>
          </a:xfrm>
          <a:prstGeom prst="rect">
            <a:avLst/>
          </a:prstGeom>
          <a:noFill/>
        </p:spPr>
        <p:txBody>
          <a:bodyPr wrap="square" lIns="0" tIns="0" rIns="0" bIns="0" anchor="t">
            <a:spAutoFit/>
          </a:bodyPr>
          <a:lstStyle/>
          <a:p>
            <a:pPr marL="285750" indent="-285750">
              <a:lnSpc>
                <a:spcPct val="108000"/>
              </a:lnSpc>
              <a:buFont typeface="Wingdings" panose="05000000000000000000" pitchFamily="2" charset="2"/>
              <a:buChar char="l"/>
            </a:pPr>
            <a:r>
              <a:rPr lang="zh-CN" altLang="en-US" sz="1400" b="1" dirty="0">
                <a:solidFill>
                  <a:srgbClr val="5B6773"/>
                </a:solidFill>
                <a:latin typeface="微软雅黑 Light"/>
              </a:rPr>
              <a:t>层数过浅： 结构邻域信息聚合不足。</a:t>
            </a:r>
            <a:endParaRPr lang="en-US" altLang="zh-CN" sz="1400" b="1" dirty="0">
              <a:solidFill>
                <a:srgbClr val="5B6773"/>
              </a:solidFill>
              <a:latin typeface="微软雅黑 Light"/>
            </a:endParaRPr>
          </a:p>
          <a:p>
            <a:pPr marL="285750" indent="-285750">
              <a:lnSpc>
                <a:spcPct val="108000"/>
              </a:lnSpc>
              <a:buFont typeface="Wingdings" panose="05000000000000000000" pitchFamily="2" charset="2"/>
              <a:buChar char="l"/>
            </a:pPr>
            <a:r>
              <a:rPr lang="zh-CN" altLang="en-US" sz="1400" b="1" dirty="0">
                <a:solidFill>
                  <a:srgbClr val="5B6773"/>
                </a:solidFill>
                <a:latin typeface="微软雅黑 Light"/>
              </a:rPr>
              <a:t>层数适中： </a:t>
            </a:r>
            <a:r>
              <a:rPr lang="en-US" altLang="zh-CN" sz="1400" b="1" dirty="0">
                <a:solidFill>
                  <a:srgbClr val="5B6773"/>
                </a:solidFill>
                <a:latin typeface="微软雅黑 Light"/>
              </a:rPr>
              <a:t>3</a:t>
            </a:r>
            <a:r>
              <a:rPr lang="zh-CN" altLang="en-US" sz="1400" b="1" dirty="0">
                <a:solidFill>
                  <a:srgbClr val="5B6773"/>
                </a:solidFill>
                <a:latin typeface="微软雅黑 Light"/>
              </a:rPr>
              <a:t>层时整体性能最优或接近最优。</a:t>
            </a:r>
            <a:endParaRPr lang="en-US" altLang="zh-CN" sz="1400" b="1" dirty="0">
              <a:solidFill>
                <a:srgbClr val="5B6773"/>
              </a:solidFill>
              <a:latin typeface="微软雅黑 Light"/>
            </a:endParaRPr>
          </a:p>
          <a:p>
            <a:pPr marL="285750" indent="-285750">
              <a:lnSpc>
                <a:spcPct val="108000"/>
              </a:lnSpc>
              <a:buFont typeface="Wingdings" panose="05000000000000000000" pitchFamily="2" charset="2"/>
              <a:buChar char="l"/>
            </a:pPr>
            <a:r>
              <a:rPr lang="zh-CN" altLang="en-US" sz="1400" b="1" dirty="0">
                <a:solidFill>
                  <a:srgbClr val="5B6773"/>
                </a:solidFill>
                <a:latin typeface="微软雅黑 Light"/>
              </a:rPr>
              <a:t>层数过深： 可能引入冗余传播、噪声累积或过平滑</a:t>
            </a:r>
            <a:r>
              <a:rPr lang="zh-CN" altLang="en-US" sz="1400" dirty="0">
                <a:solidFill>
                  <a:srgbClr val="5B6773"/>
                </a:solidFill>
                <a:latin typeface="微软雅黑 Light"/>
              </a:rPr>
              <a:t>。</a:t>
            </a:r>
            <a:endParaRPr lang="en-US" sz="1400" dirty="0">
              <a:solidFill>
                <a:srgbClr val="5B6773"/>
              </a:solidFill>
              <a:latin typeface="微软雅黑 Light"/>
            </a:endParaRPr>
          </a:p>
        </p:txBody>
      </p:sp>
      <p:sp>
        <p:nvSpPr>
          <p:cNvPr id="32" name="文本框 31">
            <a:extLst>
              <a:ext uri="{FF2B5EF4-FFF2-40B4-BE49-F238E27FC236}">
                <a16:creationId xmlns:a16="http://schemas.microsoft.com/office/drawing/2014/main" id="{A282ADA5-C82C-811F-BD8E-8D89036C475B}"/>
              </a:ext>
            </a:extLst>
          </p:cNvPr>
          <p:cNvSpPr txBox="1"/>
          <p:nvPr/>
        </p:nvSpPr>
        <p:spPr>
          <a:xfrm>
            <a:off x="6182712" y="1166206"/>
            <a:ext cx="5521608" cy="923330"/>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通过</a:t>
            </a:r>
            <a:r>
              <a:rPr lang="zh-CN" altLang="en-US" b="1" dirty="0">
                <a:solidFill>
                  <a:srgbClr val="004E98"/>
                </a:solidFill>
                <a:latin typeface="微软雅黑" panose="020B0503020204020204" pitchFamily="34" charset="-122"/>
                <a:ea typeface="微软雅黑" panose="020B0503020204020204" pitchFamily="34" charset="-122"/>
              </a:rPr>
              <a:t>消融实验</a:t>
            </a:r>
            <a:r>
              <a:rPr lang="zh-CN" altLang="en-US" b="1" dirty="0">
                <a:latin typeface="微软雅黑" panose="020B0503020204020204" pitchFamily="34" charset="-122"/>
                <a:ea typeface="微软雅黑" panose="020B0503020204020204" pitchFamily="34" charset="-122"/>
              </a:rPr>
              <a:t>验证 </a:t>
            </a:r>
            <a:r>
              <a:rPr lang="en-US" altLang="zh-CN" b="1" dirty="0">
                <a:latin typeface="微软雅黑" panose="020B0503020204020204" pitchFamily="34" charset="-122"/>
                <a:ea typeface="微软雅黑" panose="020B0503020204020204" pitchFamily="34" charset="-122"/>
              </a:rPr>
              <a:t>LLM</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CoT</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LoRA </a:t>
            </a:r>
            <a:r>
              <a:rPr lang="zh-CN" altLang="en-US" b="1" dirty="0">
                <a:latin typeface="微软雅黑" panose="020B0503020204020204" pitchFamily="34" charset="-122"/>
                <a:ea typeface="微软雅黑" panose="020B0503020204020204" pitchFamily="34" charset="-122"/>
              </a:rPr>
              <a:t>与交叉注意力模块的有效性，并通过 </a:t>
            </a:r>
            <a:r>
              <a:rPr lang="en-US" altLang="zh-CN" b="1" dirty="0">
                <a:latin typeface="微软雅黑" panose="020B0503020204020204" pitchFamily="34" charset="-122"/>
                <a:ea typeface="微软雅黑" panose="020B0503020204020204" pitchFamily="34" charset="-122"/>
              </a:rPr>
              <a:t>CMPNN </a:t>
            </a:r>
            <a:r>
              <a:rPr lang="zh-CN" altLang="en-US" b="1" dirty="0">
                <a:latin typeface="微软雅黑" panose="020B0503020204020204" pitchFamily="34" charset="-122"/>
                <a:ea typeface="微软雅黑" panose="020B0503020204020204" pitchFamily="34" charset="-122"/>
              </a:rPr>
              <a:t>层数</a:t>
            </a:r>
            <a:r>
              <a:rPr lang="zh-CN" altLang="en-US" b="1" dirty="0">
                <a:solidFill>
                  <a:srgbClr val="004E98"/>
                </a:solidFill>
                <a:latin typeface="微软雅黑" panose="020B0503020204020204" pitchFamily="34" charset="-122"/>
                <a:ea typeface="微软雅黑" panose="020B0503020204020204" pitchFamily="34" charset="-122"/>
              </a:rPr>
              <a:t>敏感性实验</a:t>
            </a:r>
            <a:r>
              <a:rPr lang="zh-CN" altLang="en-US" b="1" dirty="0">
                <a:latin typeface="微软雅黑" panose="020B0503020204020204" pitchFamily="34" charset="-122"/>
                <a:ea typeface="微软雅黑" panose="020B0503020204020204" pitchFamily="34" charset="-122"/>
              </a:rPr>
              <a:t>分析图结构编码器的合理深度。</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B6CA4-1A84-55E4-75BD-2E000E383C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4E78893-23B3-1A3A-7BB2-9AEC65EAEEA1}"/>
              </a:ext>
            </a:extLst>
          </p:cNvPr>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2CC8AAB-7A8F-0951-7CA4-87A7B81F36B9}"/>
              </a:ext>
            </a:extLst>
          </p:cNvPr>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35F0E3B-F37A-05D9-C086-F2C69DDFA817}"/>
              </a:ext>
            </a:extLst>
          </p:cNvPr>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91737BE-9282-901C-5ED8-5B71B102E6C2}"/>
              </a:ext>
            </a:extLst>
          </p:cNvPr>
          <p:cNvSpPr txBox="1"/>
          <p:nvPr/>
        </p:nvSpPr>
        <p:spPr>
          <a:xfrm>
            <a:off x="1357884" y="301752"/>
            <a:ext cx="5669280" cy="309315"/>
          </a:xfrm>
          <a:prstGeom prst="rect">
            <a:avLst/>
          </a:prstGeom>
          <a:noFill/>
        </p:spPr>
        <p:txBody>
          <a:bodyPr wrap="square" lIns="0" tIns="0" rIns="0" bIns="0" anchor="t">
            <a:spAutoFit/>
          </a:bodyPr>
          <a:lstStyle/>
          <a:p>
            <a:pPr algn="l">
              <a:lnSpc>
                <a:spcPct val="105000"/>
              </a:lnSpc>
            </a:pPr>
            <a:r>
              <a:rPr sz="2000" b="1" dirty="0">
                <a:solidFill>
                  <a:srgbClr val="004E98"/>
                </a:solidFill>
                <a:latin typeface="微软雅黑" panose="020B0503020204020204" pitchFamily="34" charset="-122"/>
                <a:ea typeface="微软雅黑" panose="020B0503020204020204" pitchFamily="34" charset="-122"/>
              </a:rPr>
              <a:t>CoT-CMP </a:t>
            </a:r>
            <a:r>
              <a:rPr sz="2000" b="1" dirty="0" err="1">
                <a:solidFill>
                  <a:srgbClr val="004E98"/>
                </a:solidFill>
                <a:latin typeface="微软雅黑" panose="020B0503020204020204" pitchFamily="34" charset="-122"/>
                <a:ea typeface="微软雅黑" panose="020B0503020204020204" pitchFamily="34" charset="-122"/>
              </a:rPr>
              <a:t>可解释性分析</a:t>
            </a:r>
            <a:endParaRPr sz="2000" b="1" dirty="0">
              <a:solidFill>
                <a:srgbClr val="004E98"/>
              </a:solidFill>
              <a:latin typeface="微软雅黑" panose="020B0503020204020204" pitchFamily="34" charset="-122"/>
              <a:ea typeface="微软雅黑" panose="020B0503020204020204" pitchFamily="34" charset="-122"/>
            </a:endParaRPr>
          </a:p>
        </p:txBody>
      </p:sp>
      <p:pic>
        <p:nvPicPr>
          <p:cNvPr id="7" name="Picture 6" descr="logo.png">
            <a:extLst>
              <a:ext uri="{FF2B5EF4-FFF2-40B4-BE49-F238E27FC236}">
                <a16:creationId xmlns:a16="http://schemas.microsoft.com/office/drawing/2014/main" id="{86FC2496-8B1B-AF5F-E190-5B2E0930BDAF}"/>
              </a:ext>
            </a:extLst>
          </p:cNvPr>
          <p:cNvPicPr>
            <a:picLocks noChangeAspect="1"/>
          </p:cNvPicPr>
          <p:nvPr/>
        </p:nvPicPr>
        <p:blipFill>
          <a:blip r:embed="rId3"/>
          <a:stretch>
            <a:fillRect/>
          </a:stretch>
        </p:blipFill>
        <p:spPr>
          <a:xfrm>
            <a:off x="11301984" y="310896"/>
            <a:ext cx="402336" cy="457200"/>
          </a:xfrm>
          <a:prstGeom prst="rect">
            <a:avLst/>
          </a:prstGeom>
        </p:spPr>
      </p:pic>
      <p:sp>
        <p:nvSpPr>
          <p:cNvPr id="8" name="Rectangle 7">
            <a:extLst>
              <a:ext uri="{FF2B5EF4-FFF2-40B4-BE49-F238E27FC236}">
                <a16:creationId xmlns:a16="http://schemas.microsoft.com/office/drawing/2014/main" id="{47914E4F-B0DF-A625-4B98-8524DCB08497}"/>
              </a:ext>
            </a:extLst>
          </p:cNvPr>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3CAE5940-EDD1-7061-3B56-B7432200C41F}"/>
              </a:ext>
            </a:extLst>
          </p:cNvPr>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pic>
        <p:nvPicPr>
          <p:cNvPr id="15" name="Picture 14" descr="氯磺丙脲在DILI任务中的双模态可视化分析结果.png">
            <a:extLst>
              <a:ext uri="{FF2B5EF4-FFF2-40B4-BE49-F238E27FC236}">
                <a16:creationId xmlns:a16="http://schemas.microsoft.com/office/drawing/2014/main" id="{12384C8A-0F54-32B7-DA9B-49C3F69A05BD}"/>
              </a:ext>
            </a:extLst>
          </p:cNvPr>
          <p:cNvPicPr>
            <a:picLocks noChangeAspect="1"/>
          </p:cNvPicPr>
          <p:nvPr/>
        </p:nvPicPr>
        <p:blipFill>
          <a:blip r:embed="rId4"/>
          <a:stretch>
            <a:fillRect/>
          </a:stretch>
        </p:blipFill>
        <p:spPr>
          <a:xfrm>
            <a:off x="868680" y="1394834"/>
            <a:ext cx="5958208" cy="4958665"/>
          </a:xfrm>
          <a:prstGeom prst="rect">
            <a:avLst/>
          </a:prstGeom>
        </p:spPr>
      </p:pic>
      <p:sp>
        <p:nvSpPr>
          <p:cNvPr id="16" name="TextBox 15">
            <a:extLst>
              <a:ext uri="{FF2B5EF4-FFF2-40B4-BE49-F238E27FC236}">
                <a16:creationId xmlns:a16="http://schemas.microsoft.com/office/drawing/2014/main" id="{9EAAB510-69EB-B01A-7EC1-8BC6BFA3713E}"/>
              </a:ext>
            </a:extLst>
          </p:cNvPr>
          <p:cNvSpPr txBox="1"/>
          <p:nvPr/>
        </p:nvSpPr>
        <p:spPr>
          <a:xfrm>
            <a:off x="1479488" y="6388768"/>
            <a:ext cx="4736592" cy="164592"/>
          </a:xfrm>
          <a:prstGeom prst="rect">
            <a:avLst/>
          </a:prstGeom>
          <a:noFill/>
        </p:spPr>
        <p:txBody>
          <a:bodyPr wrap="square" lIns="0" tIns="0" rIns="0" bIns="0" anchor="t">
            <a:spAutoFit/>
          </a:bodyPr>
          <a:lstStyle/>
          <a:p>
            <a:pPr algn="ctr">
              <a:lnSpc>
                <a:spcPct val="105000"/>
              </a:lnSpc>
            </a:pPr>
            <a:r>
              <a:rPr sz="840" b="0" dirty="0">
                <a:solidFill>
                  <a:srgbClr val="5B6773"/>
                </a:solidFill>
                <a:latin typeface="微软雅黑 Light"/>
              </a:rPr>
              <a:t>DILI </a:t>
            </a:r>
            <a:r>
              <a:rPr sz="840" b="0" dirty="0" err="1">
                <a:solidFill>
                  <a:srgbClr val="5B6773"/>
                </a:solidFill>
                <a:latin typeface="微软雅黑 Light"/>
              </a:rPr>
              <a:t>任务中的双模态可视化案例</a:t>
            </a:r>
            <a:endParaRPr sz="840" b="0" dirty="0">
              <a:solidFill>
                <a:srgbClr val="5B6773"/>
              </a:solidFill>
              <a:latin typeface="微软雅黑 Light"/>
            </a:endParaRPr>
          </a:p>
        </p:txBody>
      </p:sp>
      <p:sp>
        <p:nvSpPr>
          <p:cNvPr id="20" name="Rounded Rectangle 19">
            <a:extLst>
              <a:ext uri="{FF2B5EF4-FFF2-40B4-BE49-F238E27FC236}">
                <a16:creationId xmlns:a16="http://schemas.microsoft.com/office/drawing/2014/main" id="{6DE0AE9C-8004-9035-C130-E50ED0908E26}"/>
              </a:ext>
            </a:extLst>
          </p:cNvPr>
          <p:cNvSpPr/>
          <p:nvPr/>
        </p:nvSpPr>
        <p:spPr>
          <a:xfrm>
            <a:off x="7027164" y="1920723"/>
            <a:ext cx="5074920" cy="896112"/>
          </a:xfrm>
          <a:prstGeom prst="roundRect">
            <a:avLst/>
          </a:prstGeom>
          <a:solidFill>
            <a:srgbClr val="FFFFFF"/>
          </a:solidFill>
          <a:ln w="1905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1" name="Rectangle 20">
            <a:extLst>
              <a:ext uri="{FF2B5EF4-FFF2-40B4-BE49-F238E27FC236}">
                <a16:creationId xmlns:a16="http://schemas.microsoft.com/office/drawing/2014/main" id="{72124F71-06CC-DAD4-8013-C03967417E4F}"/>
              </a:ext>
            </a:extLst>
          </p:cNvPr>
          <p:cNvSpPr/>
          <p:nvPr/>
        </p:nvSpPr>
        <p:spPr>
          <a:xfrm>
            <a:off x="7027164" y="1920723"/>
            <a:ext cx="91440" cy="896112"/>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50F54299-419F-D563-0ACB-66B39B552803}"/>
              </a:ext>
            </a:extLst>
          </p:cNvPr>
          <p:cNvSpPr txBox="1"/>
          <p:nvPr/>
        </p:nvSpPr>
        <p:spPr>
          <a:xfrm>
            <a:off x="7186844" y="2010831"/>
            <a:ext cx="4544568" cy="224292"/>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微软雅黑" panose="020B0503020204020204" pitchFamily="34" charset="-122"/>
                <a:ea typeface="微软雅黑" panose="020B0503020204020204" pitchFamily="34" charset="-122"/>
              </a:rPr>
              <a:t>图结构端解释</a:t>
            </a:r>
            <a:endParaRPr sz="1450" b="1" dirty="0">
              <a:solidFill>
                <a:srgbClr val="16324F"/>
              </a:solidFill>
              <a:latin typeface="微软雅黑" panose="020B0503020204020204" pitchFamily="34" charset="-122"/>
              <a:ea typeface="微软雅黑" panose="020B0503020204020204" pitchFamily="34" charset="-122"/>
            </a:endParaRPr>
          </a:p>
        </p:txBody>
      </p:sp>
      <p:sp>
        <p:nvSpPr>
          <p:cNvPr id="23" name="TextBox 22">
            <a:extLst>
              <a:ext uri="{FF2B5EF4-FFF2-40B4-BE49-F238E27FC236}">
                <a16:creationId xmlns:a16="http://schemas.microsoft.com/office/drawing/2014/main" id="{A593F99B-2A74-1E0B-CDA3-E24D8DF0554E}"/>
              </a:ext>
            </a:extLst>
          </p:cNvPr>
          <p:cNvSpPr txBox="1"/>
          <p:nvPr/>
        </p:nvSpPr>
        <p:spPr>
          <a:xfrm>
            <a:off x="7191756" y="2285151"/>
            <a:ext cx="4526280" cy="340799"/>
          </a:xfrm>
          <a:prstGeom prst="rect">
            <a:avLst/>
          </a:prstGeom>
          <a:noFill/>
        </p:spPr>
        <p:txBody>
          <a:bodyPr wrap="square" lIns="0" tIns="0" rIns="0" bIns="0" anchor="t">
            <a:spAutoFit/>
          </a:bodyPr>
          <a:lstStyle/>
          <a:p>
            <a:pPr>
              <a:lnSpc>
                <a:spcPct val="108000"/>
              </a:lnSpc>
            </a:pPr>
            <a:r>
              <a:rPr lang="zh-CN" altLang="en-US" sz="1050" dirty="0">
                <a:solidFill>
                  <a:srgbClr val="5B6773"/>
                </a:solidFill>
                <a:latin typeface="微软雅黑 Light"/>
              </a:rPr>
              <a:t>注意力热力区域集中在</a:t>
            </a:r>
            <a:r>
              <a:rPr lang="zh-CN" altLang="en-US" sz="1050" b="1" dirty="0">
                <a:solidFill>
                  <a:srgbClr val="5B6773"/>
                </a:solidFill>
                <a:latin typeface="微软雅黑 Light"/>
              </a:rPr>
              <a:t>对氯苯基</a:t>
            </a:r>
            <a:r>
              <a:rPr lang="zh-CN" altLang="en-US" sz="1050" dirty="0">
                <a:solidFill>
                  <a:srgbClr val="5B6773"/>
                </a:solidFill>
                <a:latin typeface="微软雅黑 Light"/>
              </a:rPr>
              <a:t>、</a:t>
            </a:r>
            <a:r>
              <a:rPr lang="zh-CN" altLang="en-US" sz="1050" b="1" dirty="0">
                <a:solidFill>
                  <a:srgbClr val="5B6773"/>
                </a:solidFill>
                <a:latin typeface="微软雅黑 Light"/>
              </a:rPr>
              <a:t>磺酰脲骨架</a:t>
            </a:r>
            <a:r>
              <a:rPr lang="zh-CN" altLang="en-US" sz="1050" dirty="0">
                <a:solidFill>
                  <a:srgbClr val="5B6773"/>
                </a:solidFill>
                <a:latin typeface="微软雅黑 Light"/>
              </a:rPr>
              <a:t>及</a:t>
            </a:r>
            <a:r>
              <a:rPr lang="zh-CN" altLang="en-US" sz="1050" b="1" dirty="0">
                <a:solidFill>
                  <a:srgbClr val="5B6773"/>
                </a:solidFill>
                <a:latin typeface="微软雅黑 Light"/>
              </a:rPr>
              <a:t>脲基</a:t>
            </a:r>
            <a:r>
              <a:rPr lang="zh-CN" altLang="en-US" sz="1050" dirty="0">
                <a:solidFill>
                  <a:srgbClr val="5B6773"/>
                </a:solidFill>
                <a:latin typeface="微软雅黑 Light"/>
              </a:rPr>
              <a:t>连接片段附近，说明模型在结构端关注到了与毒性风险相关的关键化学子结构。</a:t>
            </a:r>
            <a:endParaRPr sz="1050" dirty="0">
              <a:solidFill>
                <a:srgbClr val="5B6773"/>
              </a:solidFill>
              <a:latin typeface="微软雅黑 Light"/>
            </a:endParaRPr>
          </a:p>
        </p:txBody>
      </p:sp>
      <p:sp>
        <p:nvSpPr>
          <p:cNvPr id="24" name="Rounded Rectangle 23">
            <a:extLst>
              <a:ext uri="{FF2B5EF4-FFF2-40B4-BE49-F238E27FC236}">
                <a16:creationId xmlns:a16="http://schemas.microsoft.com/office/drawing/2014/main" id="{43EE22EF-87F9-75B0-9CB1-A9A24AC769E0}"/>
              </a:ext>
            </a:extLst>
          </p:cNvPr>
          <p:cNvSpPr/>
          <p:nvPr/>
        </p:nvSpPr>
        <p:spPr>
          <a:xfrm>
            <a:off x="7027164" y="3045434"/>
            <a:ext cx="5074920" cy="881645"/>
          </a:xfrm>
          <a:prstGeom prst="roundRect">
            <a:avLst/>
          </a:prstGeom>
          <a:solidFill>
            <a:srgbClr val="FFFFFF"/>
          </a:solidFill>
          <a:ln w="1905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5" name="Rectangle 24">
            <a:extLst>
              <a:ext uri="{FF2B5EF4-FFF2-40B4-BE49-F238E27FC236}">
                <a16:creationId xmlns:a16="http://schemas.microsoft.com/office/drawing/2014/main" id="{671DE217-7531-18D7-E457-EE8DAC9FACBC}"/>
              </a:ext>
            </a:extLst>
          </p:cNvPr>
          <p:cNvSpPr/>
          <p:nvPr/>
        </p:nvSpPr>
        <p:spPr>
          <a:xfrm>
            <a:off x="7027164" y="3045435"/>
            <a:ext cx="91440" cy="893676"/>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688660F-971D-C335-F5EB-92EA5FC8C544}"/>
              </a:ext>
            </a:extLst>
          </p:cNvPr>
          <p:cNvSpPr txBox="1"/>
          <p:nvPr/>
        </p:nvSpPr>
        <p:spPr>
          <a:xfrm>
            <a:off x="7186844" y="3109442"/>
            <a:ext cx="4544568" cy="224292"/>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微软雅黑" panose="020B0503020204020204" pitchFamily="34" charset="-122"/>
                <a:ea typeface="微软雅黑" panose="020B0503020204020204" pitchFamily="34" charset="-122"/>
              </a:rPr>
              <a:t>文本语义解释端</a:t>
            </a:r>
            <a:endParaRPr sz="1450" b="1" dirty="0">
              <a:solidFill>
                <a:srgbClr val="16324F"/>
              </a:solidFill>
              <a:latin typeface="微软雅黑" panose="020B0503020204020204" pitchFamily="34" charset="-122"/>
              <a:ea typeface="微软雅黑" panose="020B0503020204020204" pitchFamily="34" charset="-122"/>
            </a:endParaRPr>
          </a:p>
        </p:txBody>
      </p:sp>
      <p:sp>
        <p:nvSpPr>
          <p:cNvPr id="27" name="TextBox 26">
            <a:extLst>
              <a:ext uri="{FF2B5EF4-FFF2-40B4-BE49-F238E27FC236}">
                <a16:creationId xmlns:a16="http://schemas.microsoft.com/office/drawing/2014/main" id="{26510935-E0EC-3981-2FD1-50C29DD445EC}"/>
              </a:ext>
            </a:extLst>
          </p:cNvPr>
          <p:cNvSpPr txBox="1"/>
          <p:nvPr/>
        </p:nvSpPr>
        <p:spPr>
          <a:xfrm>
            <a:off x="7168556" y="3399714"/>
            <a:ext cx="4843772" cy="515334"/>
          </a:xfrm>
          <a:prstGeom prst="rect">
            <a:avLst/>
          </a:prstGeom>
          <a:noFill/>
        </p:spPr>
        <p:txBody>
          <a:bodyPr wrap="square" lIns="0" tIns="0" rIns="0" bIns="0" anchor="t">
            <a:spAutoFit/>
          </a:bodyPr>
          <a:lstStyle/>
          <a:p>
            <a:pPr>
              <a:lnSpc>
                <a:spcPct val="108000"/>
              </a:lnSpc>
            </a:pPr>
            <a:r>
              <a:rPr lang="zh-CN" altLang="en-US" sz="1050" dirty="0">
                <a:solidFill>
                  <a:srgbClr val="5B6773"/>
                </a:solidFill>
                <a:latin typeface="微软雅黑 Light"/>
              </a:rPr>
              <a:t>文本高亮集中在 </a:t>
            </a:r>
            <a:r>
              <a:rPr lang="en-US" altLang="zh-CN" sz="1050" dirty="0">
                <a:solidFill>
                  <a:srgbClr val="5B6773"/>
                </a:solidFill>
                <a:latin typeface="微软雅黑 Light"/>
              </a:rPr>
              <a:t>hepatotoxicity</a:t>
            </a:r>
            <a:r>
              <a:rPr lang="zh-CN" altLang="en-US" sz="1050" dirty="0">
                <a:solidFill>
                  <a:srgbClr val="5B6773"/>
                </a:solidFill>
                <a:latin typeface="微软雅黑 Light"/>
              </a:rPr>
              <a:t>、</a:t>
            </a:r>
            <a:r>
              <a:rPr lang="en-US" altLang="zh-CN" sz="1050" dirty="0">
                <a:solidFill>
                  <a:srgbClr val="5B6773"/>
                </a:solidFill>
                <a:latin typeface="微软雅黑 Light"/>
              </a:rPr>
              <a:t>DILI-concern</a:t>
            </a:r>
            <a:r>
              <a:rPr lang="zh-CN" altLang="en-US" sz="1050" dirty="0">
                <a:solidFill>
                  <a:srgbClr val="5B6773"/>
                </a:solidFill>
                <a:latin typeface="微软雅黑 Light"/>
              </a:rPr>
              <a:t>、</a:t>
            </a:r>
            <a:r>
              <a:rPr lang="en-US" altLang="zh-CN" sz="1050" dirty="0">
                <a:solidFill>
                  <a:srgbClr val="5B6773"/>
                </a:solidFill>
                <a:latin typeface="微软雅黑 Light"/>
              </a:rPr>
              <a:t>drug-induced liver injury</a:t>
            </a:r>
            <a:r>
              <a:rPr lang="zh-CN" altLang="en-US" sz="1050" dirty="0">
                <a:solidFill>
                  <a:srgbClr val="5B6773"/>
                </a:solidFill>
                <a:latin typeface="微软雅黑 Light"/>
              </a:rPr>
              <a:t>、</a:t>
            </a:r>
            <a:r>
              <a:rPr lang="en-US" altLang="zh-CN" sz="1050" dirty="0">
                <a:solidFill>
                  <a:srgbClr val="5B6773"/>
                </a:solidFill>
                <a:latin typeface="微软雅黑 Light"/>
              </a:rPr>
              <a:t>liver toxicity knowledge base </a:t>
            </a:r>
            <a:r>
              <a:rPr lang="zh-CN" altLang="en-US" sz="1050" dirty="0">
                <a:solidFill>
                  <a:srgbClr val="5B6773"/>
                </a:solidFill>
                <a:latin typeface="微软雅黑 Light"/>
              </a:rPr>
              <a:t>等关键词上，表明 </a:t>
            </a:r>
            <a:r>
              <a:rPr lang="en-US" altLang="zh-CN" sz="1050" dirty="0">
                <a:solidFill>
                  <a:srgbClr val="5B6773"/>
                </a:solidFill>
                <a:latin typeface="微软雅黑 Light"/>
              </a:rPr>
              <a:t>CoT </a:t>
            </a:r>
            <a:r>
              <a:rPr lang="zh-CN" altLang="en-US" sz="1050" dirty="0">
                <a:solidFill>
                  <a:srgbClr val="5B6773"/>
                </a:solidFill>
                <a:latin typeface="微软雅黑 Light"/>
              </a:rPr>
              <a:t>推理文本为模型提供了任务相关的毒理语义信息。</a:t>
            </a:r>
            <a:endParaRPr sz="1050" dirty="0">
              <a:solidFill>
                <a:srgbClr val="5B6773"/>
              </a:solidFill>
              <a:latin typeface="微软雅黑 Light"/>
            </a:endParaRPr>
          </a:p>
        </p:txBody>
      </p:sp>
      <p:sp>
        <p:nvSpPr>
          <p:cNvPr id="28" name="Rounded Rectangle 25">
            <a:extLst>
              <a:ext uri="{FF2B5EF4-FFF2-40B4-BE49-F238E27FC236}">
                <a16:creationId xmlns:a16="http://schemas.microsoft.com/office/drawing/2014/main" id="{C688609C-34D0-22BF-8CBC-53FE8EF5CAE4}"/>
              </a:ext>
            </a:extLst>
          </p:cNvPr>
          <p:cNvSpPr/>
          <p:nvPr/>
        </p:nvSpPr>
        <p:spPr>
          <a:xfrm>
            <a:off x="7027164" y="4213961"/>
            <a:ext cx="5074920" cy="713232"/>
          </a:xfrm>
          <a:prstGeom prst="roundRect">
            <a:avLst/>
          </a:prstGeom>
          <a:solidFill>
            <a:srgbClr val="FFFFFF"/>
          </a:solidFill>
          <a:ln w="1905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9" name="Rectangle 26">
            <a:extLst>
              <a:ext uri="{FF2B5EF4-FFF2-40B4-BE49-F238E27FC236}">
                <a16:creationId xmlns:a16="http://schemas.microsoft.com/office/drawing/2014/main" id="{DAA69D08-A403-0EC7-39F1-54DCED006DD3}"/>
              </a:ext>
            </a:extLst>
          </p:cNvPr>
          <p:cNvSpPr/>
          <p:nvPr/>
        </p:nvSpPr>
        <p:spPr>
          <a:xfrm>
            <a:off x="7027164" y="4213961"/>
            <a:ext cx="91440" cy="713232"/>
          </a:xfrm>
          <a:prstGeom prst="rect">
            <a:avLst/>
          </a:prstGeom>
          <a:solidFill>
            <a:srgbClr val="163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7">
            <a:extLst>
              <a:ext uri="{FF2B5EF4-FFF2-40B4-BE49-F238E27FC236}">
                <a16:creationId xmlns:a16="http://schemas.microsoft.com/office/drawing/2014/main" id="{C6A85996-BF86-7612-C1BA-D47DB1E770E0}"/>
              </a:ext>
            </a:extLst>
          </p:cNvPr>
          <p:cNvSpPr txBox="1"/>
          <p:nvPr/>
        </p:nvSpPr>
        <p:spPr>
          <a:xfrm>
            <a:off x="7168556" y="4250537"/>
            <a:ext cx="3035808" cy="224292"/>
          </a:xfrm>
          <a:prstGeom prst="rect">
            <a:avLst/>
          </a:prstGeom>
          <a:noFill/>
        </p:spPr>
        <p:txBody>
          <a:bodyPr wrap="square" lIns="0" tIns="0" rIns="0" bIns="0" anchor="t">
            <a:spAutoFit/>
          </a:bodyPr>
          <a:lstStyle/>
          <a:p>
            <a:pPr algn="l">
              <a:lnSpc>
                <a:spcPct val="105000"/>
              </a:lnSpc>
            </a:pPr>
            <a:r>
              <a:rPr lang="zh-CN" altLang="en-US" sz="1450" b="1" dirty="0">
                <a:solidFill>
                  <a:srgbClr val="16324F"/>
                </a:solidFill>
                <a:latin typeface="微软雅黑" panose="020B0503020204020204" pitchFamily="34" charset="-122"/>
                <a:ea typeface="微软雅黑" panose="020B0503020204020204" pitchFamily="34" charset="-122"/>
              </a:rPr>
              <a:t>解释结论</a:t>
            </a:r>
            <a:endParaRPr sz="1450" b="1" dirty="0">
              <a:solidFill>
                <a:srgbClr val="16324F"/>
              </a:solidFill>
              <a:latin typeface="微软雅黑" panose="020B0503020204020204" pitchFamily="34" charset="-122"/>
              <a:ea typeface="微软雅黑" panose="020B0503020204020204" pitchFamily="34" charset="-122"/>
            </a:endParaRPr>
          </a:p>
        </p:txBody>
      </p:sp>
      <p:sp>
        <p:nvSpPr>
          <p:cNvPr id="31" name="TextBox 28">
            <a:extLst>
              <a:ext uri="{FF2B5EF4-FFF2-40B4-BE49-F238E27FC236}">
                <a16:creationId xmlns:a16="http://schemas.microsoft.com/office/drawing/2014/main" id="{D402C9C6-A6EE-8707-07C2-0C6B6D573CBF}"/>
              </a:ext>
            </a:extLst>
          </p:cNvPr>
          <p:cNvSpPr txBox="1"/>
          <p:nvPr/>
        </p:nvSpPr>
        <p:spPr>
          <a:xfrm>
            <a:off x="7186844" y="4512285"/>
            <a:ext cx="4825484" cy="340799"/>
          </a:xfrm>
          <a:prstGeom prst="rect">
            <a:avLst/>
          </a:prstGeom>
          <a:noFill/>
        </p:spPr>
        <p:txBody>
          <a:bodyPr wrap="square" lIns="0" tIns="0" rIns="0" bIns="0" anchor="t">
            <a:spAutoFit/>
          </a:bodyPr>
          <a:lstStyle/>
          <a:p>
            <a:pPr>
              <a:lnSpc>
                <a:spcPct val="108000"/>
              </a:lnSpc>
            </a:pPr>
            <a:r>
              <a:rPr lang="zh-CN" altLang="en-US" sz="1050" dirty="0">
                <a:solidFill>
                  <a:srgbClr val="5B6773"/>
                </a:solidFill>
                <a:latin typeface="微软雅黑 Light"/>
              </a:rPr>
              <a:t>结构注意力区域与文本毒理关键词共同指向药物性肝损伤风险，说明 </a:t>
            </a:r>
            <a:r>
              <a:rPr lang="en-US" altLang="zh-CN" sz="1050" dirty="0">
                <a:solidFill>
                  <a:srgbClr val="5B6773"/>
                </a:solidFill>
                <a:latin typeface="微软雅黑 Light"/>
              </a:rPr>
              <a:t>CoT-CMP </a:t>
            </a:r>
            <a:r>
              <a:rPr lang="zh-CN" altLang="en-US" sz="1050" dirty="0">
                <a:solidFill>
                  <a:srgbClr val="5B6773"/>
                </a:solidFill>
                <a:latin typeface="微软雅黑 Light"/>
              </a:rPr>
              <a:t>能够从微观结构和宏观语义两个层面提供预测解释线索。</a:t>
            </a:r>
            <a:endParaRPr sz="1050" dirty="0">
              <a:solidFill>
                <a:srgbClr val="5B6773"/>
              </a:solidFill>
              <a:latin typeface="微软雅黑 Light"/>
            </a:endParaRPr>
          </a:p>
        </p:txBody>
      </p:sp>
      <p:sp>
        <p:nvSpPr>
          <p:cNvPr id="6" name="文本框 5">
            <a:extLst>
              <a:ext uri="{FF2B5EF4-FFF2-40B4-BE49-F238E27FC236}">
                <a16:creationId xmlns:a16="http://schemas.microsoft.com/office/drawing/2014/main" id="{7227295F-ECA1-F7A2-67C5-684DC1E2C9CA}"/>
              </a:ext>
            </a:extLst>
          </p:cNvPr>
          <p:cNvSpPr txBox="1"/>
          <p:nvPr/>
        </p:nvSpPr>
        <p:spPr>
          <a:xfrm>
            <a:off x="868680" y="972703"/>
            <a:ext cx="10116312" cy="646331"/>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以 </a:t>
            </a:r>
            <a:r>
              <a:rPr lang="en-US" altLang="zh-CN" b="1" dirty="0">
                <a:latin typeface="微软雅黑" panose="020B0503020204020204" pitchFamily="34" charset="-122"/>
                <a:ea typeface="微软雅黑" panose="020B0503020204020204" pitchFamily="34" charset="-122"/>
              </a:rPr>
              <a:t>DILI </a:t>
            </a:r>
            <a:r>
              <a:rPr lang="zh-CN" altLang="en-US" b="1" dirty="0">
                <a:latin typeface="微软雅黑" panose="020B0503020204020204" pitchFamily="34" charset="-122"/>
                <a:ea typeface="微软雅黑" panose="020B0503020204020204" pitchFamily="34" charset="-122"/>
              </a:rPr>
              <a:t>药物性肝损伤预测任务为例，模型同时从</a:t>
            </a:r>
            <a:r>
              <a:rPr lang="zh-CN" altLang="en-US" b="1" dirty="0">
                <a:solidFill>
                  <a:srgbClr val="004E98"/>
                </a:solidFill>
                <a:latin typeface="微软雅黑" panose="020B0503020204020204" pitchFamily="34" charset="-122"/>
                <a:ea typeface="微软雅黑" panose="020B0503020204020204" pitchFamily="34" charset="-122"/>
              </a:rPr>
              <a:t>分子结构关注区域</a:t>
            </a:r>
            <a:r>
              <a:rPr lang="zh-CN" altLang="en-US" b="1" dirty="0">
                <a:latin typeface="微软雅黑" panose="020B0503020204020204" pitchFamily="34" charset="-122"/>
                <a:ea typeface="微软雅黑" panose="020B0503020204020204" pitchFamily="34" charset="-122"/>
              </a:rPr>
              <a:t>和</a:t>
            </a:r>
            <a:r>
              <a:rPr lang="zh-CN" altLang="en-US" b="1" dirty="0">
                <a:solidFill>
                  <a:srgbClr val="004E98"/>
                </a:solidFill>
                <a:latin typeface="微软雅黑" panose="020B0503020204020204" pitchFamily="34" charset="-122"/>
                <a:ea typeface="微软雅黑" panose="020B0503020204020204" pitchFamily="34" charset="-122"/>
              </a:rPr>
              <a:t>文本推理关键词</a:t>
            </a:r>
            <a:r>
              <a:rPr lang="zh-CN" altLang="en-US" b="1" dirty="0">
                <a:latin typeface="微软雅黑" panose="020B0503020204020204" pitchFamily="34" charset="-122"/>
                <a:ea typeface="微软雅黑" panose="020B0503020204020204" pitchFamily="34" charset="-122"/>
              </a:rPr>
              <a:t>两个层面提供解释线索。</a:t>
            </a:r>
          </a:p>
        </p:txBody>
      </p:sp>
    </p:spTree>
    <p:extLst>
      <p:ext uri="{BB962C8B-B14F-4D97-AF65-F5344CB8AC3E}">
        <p14:creationId xmlns:p14="http://schemas.microsoft.com/office/powerpoint/2010/main" val="3440219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a:extLst>
              <a:ext uri="{FF2B5EF4-FFF2-40B4-BE49-F238E27FC236}">
                <a16:creationId xmlns:a16="http://schemas.microsoft.com/office/drawing/2014/main" id="{7A3968BD-342F-F583-36CA-50906D831EA5}"/>
              </a:ext>
            </a:extLst>
          </p:cNvPr>
          <p:cNvGrpSpPr/>
          <p:nvPr/>
        </p:nvGrpSpPr>
        <p:grpSpPr>
          <a:xfrm>
            <a:off x="704088" y="3034285"/>
            <a:ext cx="10442448" cy="1920240"/>
            <a:chOff x="704088" y="3034285"/>
            <a:chExt cx="10442448" cy="1920240"/>
          </a:xfrm>
        </p:grpSpPr>
        <p:sp>
          <p:nvSpPr>
            <p:cNvPr id="30" name="Rounded Rectangle 29"/>
            <p:cNvSpPr/>
            <p:nvPr/>
          </p:nvSpPr>
          <p:spPr>
            <a:xfrm>
              <a:off x="704088" y="3034285"/>
              <a:ext cx="5257800" cy="192024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Picture 30" descr="图2-1 阿司匹林的多模态化学表征.png"/>
            <p:cNvPicPr>
              <a:picLocks noChangeAspect="1"/>
            </p:cNvPicPr>
            <p:nvPr/>
          </p:nvPicPr>
          <p:blipFill>
            <a:blip r:embed="rId2"/>
            <a:stretch>
              <a:fillRect/>
            </a:stretch>
          </p:blipFill>
          <p:spPr>
            <a:xfrm>
              <a:off x="1867595" y="3125725"/>
              <a:ext cx="2930784" cy="1499616"/>
            </a:xfrm>
            <a:prstGeom prst="rect">
              <a:avLst/>
            </a:prstGeom>
          </p:spPr>
        </p:pic>
        <p:sp>
          <p:nvSpPr>
            <p:cNvPr id="32" name="TextBox 31"/>
            <p:cNvSpPr txBox="1"/>
            <p:nvPr/>
          </p:nvSpPr>
          <p:spPr>
            <a:xfrm>
              <a:off x="813815" y="4707638"/>
              <a:ext cx="5038344" cy="164592"/>
            </a:xfrm>
            <a:prstGeom prst="rect">
              <a:avLst/>
            </a:prstGeom>
            <a:noFill/>
          </p:spPr>
          <p:txBody>
            <a:bodyPr wrap="square" lIns="0" tIns="0" rIns="0" bIns="0" anchor="t">
              <a:spAutoFit/>
            </a:bodyPr>
            <a:lstStyle/>
            <a:p>
              <a:pPr algn="ctr">
                <a:lnSpc>
                  <a:spcPct val="105000"/>
                </a:lnSpc>
              </a:pPr>
              <a:r>
                <a:rPr sz="840" b="0" dirty="0" err="1">
                  <a:solidFill>
                    <a:srgbClr val="5B6773"/>
                  </a:solidFill>
                  <a:latin typeface="微软雅黑 Light"/>
                </a:rPr>
                <a:t>同一分子可从图结构、SMILES、指纹和文本语义等角度表征</a:t>
              </a:r>
              <a:endParaRPr sz="840" b="0" dirty="0">
                <a:solidFill>
                  <a:srgbClr val="5B6773"/>
                </a:solidFill>
                <a:latin typeface="微软雅黑 Light"/>
              </a:endParaRPr>
            </a:p>
          </p:txBody>
        </p:sp>
        <p:sp>
          <p:nvSpPr>
            <p:cNvPr id="33" name="Rounded Rectangle 32"/>
            <p:cNvSpPr/>
            <p:nvPr/>
          </p:nvSpPr>
          <p:spPr>
            <a:xfrm>
              <a:off x="6254496" y="3034285"/>
              <a:ext cx="4892040" cy="192024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图2-2 消息传递机制示意图.png"/>
            <p:cNvPicPr>
              <a:picLocks noChangeAspect="1"/>
            </p:cNvPicPr>
            <p:nvPr/>
          </p:nvPicPr>
          <p:blipFill>
            <a:blip r:embed="rId3"/>
            <a:stretch>
              <a:fillRect/>
            </a:stretch>
          </p:blipFill>
          <p:spPr>
            <a:xfrm>
              <a:off x="6345935" y="3173208"/>
              <a:ext cx="4709159" cy="1404650"/>
            </a:xfrm>
            <a:prstGeom prst="rect">
              <a:avLst/>
            </a:prstGeom>
          </p:spPr>
        </p:pic>
        <p:sp>
          <p:nvSpPr>
            <p:cNvPr id="35" name="TextBox 34"/>
            <p:cNvSpPr txBox="1"/>
            <p:nvPr/>
          </p:nvSpPr>
          <p:spPr>
            <a:xfrm>
              <a:off x="6364224" y="4707638"/>
              <a:ext cx="4672583" cy="164592"/>
            </a:xfrm>
            <a:prstGeom prst="rect">
              <a:avLst/>
            </a:prstGeom>
            <a:noFill/>
          </p:spPr>
          <p:txBody>
            <a:bodyPr wrap="square" lIns="0" tIns="0" rIns="0" bIns="0" anchor="t">
              <a:spAutoFit/>
            </a:bodyPr>
            <a:lstStyle/>
            <a:p>
              <a:pPr algn="ctr">
                <a:lnSpc>
                  <a:spcPct val="105000"/>
                </a:lnSpc>
              </a:pPr>
              <a:r>
                <a:rPr sz="840" b="0">
                  <a:solidFill>
                    <a:srgbClr val="5B6773"/>
                  </a:solidFill>
                  <a:latin typeface="微软雅黑 Light"/>
                </a:rPr>
                <a:t>图神经网络为分子结构建模提供基础</a:t>
              </a:r>
            </a:p>
          </p:txBody>
        </p:sp>
      </p:grpSp>
      <p:sp>
        <p:nvSpPr>
          <p:cNvPr id="3" name="TextBox 4">
            <a:extLst>
              <a:ext uri="{FF2B5EF4-FFF2-40B4-BE49-F238E27FC236}">
                <a16:creationId xmlns:a16="http://schemas.microsoft.com/office/drawing/2014/main" id="{A9AE58A5-847F-3957-7680-ED7CEBEDF829}"/>
              </a:ext>
            </a:extLst>
          </p:cNvPr>
          <p:cNvSpPr txBox="1"/>
          <p:nvPr/>
        </p:nvSpPr>
        <p:spPr>
          <a:xfrm>
            <a:off x="1309645" y="369702"/>
            <a:ext cx="5669280" cy="309315"/>
          </a:xfrm>
          <a:prstGeom prst="rect">
            <a:avLst/>
          </a:prstGeom>
          <a:noFill/>
        </p:spPr>
        <p:txBody>
          <a:bodyPr wrap="square" lIns="0" tIns="0" rIns="0" bIns="0" anchor="t">
            <a:spAutoFit/>
          </a:bodyPr>
          <a:lstStyle/>
          <a:p>
            <a:pPr algn="l">
              <a:lnSpc>
                <a:spcPct val="105000"/>
              </a:lnSpc>
            </a:pPr>
            <a:r>
              <a:rPr lang="zh-CN" altLang="en-US" sz="2000" b="1" dirty="0">
                <a:solidFill>
                  <a:srgbClr val="004E98"/>
                </a:solidFill>
                <a:latin typeface="方正正中黑简体"/>
              </a:rPr>
              <a:t>暂存</a:t>
            </a:r>
            <a:endParaRPr sz="2000" b="1" dirty="0">
              <a:solidFill>
                <a:srgbClr val="004E98"/>
              </a:solidFill>
              <a:latin typeface="方正正中黑简体"/>
            </a:endParaRPr>
          </a:p>
        </p:txBody>
      </p:sp>
      <p:sp>
        <p:nvSpPr>
          <p:cNvPr id="11" name="Rounded Rectangle 10"/>
          <p:cNvSpPr/>
          <p:nvPr/>
        </p:nvSpPr>
        <p:spPr>
          <a:xfrm>
            <a:off x="788199" y="835247"/>
            <a:ext cx="3246120" cy="193852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图2-3 图卷积神经网络结构示意图.png"/>
          <p:cNvPicPr>
            <a:picLocks noChangeAspect="1"/>
          </p:cNvPicPr>
          <p:nvPr/>
        </p:nvPicPr>
        <p:blipFill>
          <a:blip r:embed="rId4"/>
          <a:stretch>
            <a:fillRect/>
          </a:stretch>
        </p:blipFill>
        <p:spPr>
          <a:xfrm>
            <a:off x="1310778" y="926687"/>
            <a:ext cx="2200960" cy="1517904"/>
          </a:xfrm>
          <a:prstGeom prst="rect">
            <a:avLst/>
          </a:prstGeom>
        </p:spPr>
      </p:pic>
      <p:sp>
        <p:nvSpPr>
          <p:cNvPr id="13" name="TextBox 12"/>
          <p:cNvSpPr txBox="1"/>
          <p:nvPr/>
        </p:nvSpPr>
        <p:spPr>
          <a:xfrm>
            <a:off x="897926" y="2526887"/>
            <a:ext cx="3026663" cy="164592"/>
          </a:xfrm>
          <a:prstGeom prst="rect">
            <a:avLst/>
          </a:prstGeom>
          <a:noFill/>
        </p:spPr>
        <p:txBody>
          <a:bodyPr wrap="square" lIns="0" tIns="0" rIns="0" bIns="0" anchor="t">
            <a:spAutoFit/>
          </a:bodyPr>
          <a:lstStyle/>
          <a:p>
            <a:pPr algn="ctr">
              <a:lnSpc>
                <a:spcPct val="105000"/>
              </a:lnSpc>
            </a:pPr>
            <a:r>
              <a:rPr sz="840" b="0">
                <a:solidFill>
                  <a:srgbClr val="5B6773"/>
                </a:solidFill>
                <a:latin typeface="微软雅黑 Light"/>
              </a:rPr>
              <a:t>图神经网络：结构拓扑建模</a:t>
            </a:r>
          </a:p>
        </p:txBody>
      </p:sp>
      <p:sp>
        <p:nvSpPr>
          <p:cNvPr id="14" name="Rounded Rectangle 13"/>
          <p:cNvSpPr/>
          <p:nvPr/>
        </p:nvSpPr>
        <p:spPr>
          <a:xfrm>
            <a:off x="4381791" y="835247"/>
            <a:ext cx="3246120" cy="193852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图2-4 Transformer架构.png"/>
          <p:cNvPicPr>
            <a:picLocks noChangeAspect="1"/>
          </p:cNvPicPr>
          <p:nvPr/>
        </p:nvPicPr>
        <p:blipFill>
          <a:blip r:embed="rId5"/>
          <a:stretch>
            <a:fillRect/>
          </a:stretch>
        </p:blipFill>
        <p:spPr>
          <a:xfrm>
            <a:off x="4798379" y="926687"/>
            <a:ext cx="2412943" cy="1517904"/>
          </a:xfrm>
          <a:prstGeom prst="rect">
            <a:avLst/>
          </a:prstGeom>
        </p:spPr>
      </p:pic>
      <p:sp>
        <p:nvSpPr>
          <p:cNvPr id="16" name="TextBox 15"/>
          <p:cNvSpPr txBox="1"/>
          <p:nvPr/>
        </p:nvSpPr>
        <p:spPr>
          <a:xfrm>
            <a:off x="4491519" y="2526887"/>
            <a:ext cx="3026663" cy="164592"/>
          </a:xfrm>
          <a:prstGeom prst="rect">
            <a:avLst/>
          </a:prstGeom>
          <a:noFill/>
        </p:spPr>
        <p:txBody>
          <a:bodyPr wrap="square" lIns="0" tIns="0" rIns="0" bIns="0" anchor="t">
            <a:spAutoFit/>
          </a:bodyPr>
          <a:lstStyle/>
          <a:p>
            <a:pPr algn="ctr">
              <a:lnSpc>
                <a:spcPct val="105000"/>
              </a:lnSpc>
            </a:pPr>
            <a:r>
              <a:rPr sz="840" b="0">
                <a:solidFill>
                  <a:srgbClr val="5B6773"/>
                </a:solidFill>
                <a:latin typeface="微软雅黑 Light"/>
              </a:rPr>
              <a:t>Transformer：序列与文本建模</a:t>
            </a:r>
          </a:p>
        </p:txBody>
      </p:sp>
      <p:sp>
        <p:nvSpPr>
          <p:cNvPr id="17" name="Rounded Rectangle 16"/>
          <p:cNvSpPr/>
          <p:nvPr/>
        </p:nvSpPr>
        <p:spPr>
          <a:xfrm>
            <a:off x="7984527" y="835247"/>
            <a:ext cx="3246120" cy="193852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LoRA技术原理示意图.png"/>
          <p:cNvPicPr>
            <a:picLocks noChangeAspect="1"/>
          </p:cNvPicPr>
          <p:nvPr/>
        </p:nvPicPr>
        <p:blipFill>
          <a:blip r:embed="rId6"/>
          <a:stretch>
            <a:fillRect/>
          </a:stretch>
        </p:blipFill>
        <p:spPr>
          <a:xfrm>
            <a:off x="8792416" y="926687"/>
            <a:ext cx="1630341" cy="1517904"/>
          </a:xfrm>
          <a:prstGeom prst="rect">
            <a:avLst/>
          </a:prstGeom>
        </p:spPr>
      </p:pic>
      <p:sp>
        <p:nvSpPr>
          <p:cNvPr id="19" name="TextBox 18"/>
          <p:cNvSpPr txBox="1"/>
          <p:nvPr/>
        </p:nvSpPr>
        <p:spPr>
          <a:xfrm>
            <a:off x="8094255" y="2526887"/>
            <a:ext cx="3026663" cy="164592"/>
          </a:xfrm>
          <a:prstGeom prst="rect">
            <a:avLst/>
          </a:prstGeom>
          <a:noFill/>
        </p:spPr>
        <p:txBody>
          <a:bodyPr wrap="square" lIns="0" tIns="0" rIns="0" bIns="0" anchor="t">
            <a:spAutoFit/>
          </a:bodyPr>
          <a:lstStyle/>
          <a:p>
            <a:pPr algn="ctr">
              <a:lnSpc>
                <a:spcPct val="105000"/>
              </a:lnSpc>
            </a:pPr>
            <a:r>
              <a:rPr sz="840" b="0">
                <a:solidFill>
                  <a:srgbClr val="5B6773"/>
                </a:solidFill>
                <a:latin typeface="微软雅黑 Light"/>
              </a:rPr>
              <a:t>LoRA：大模型高效适配</a:t>
            </a:r>
          </a:p>
        </p:txBody>
      </p:sp>
      <p:sp>
        <p:nvSpPr>
          <p:cNvPr id="4" name="Rounded Rectangle 16"/>
          <p:cNvSpPr/>
          <p:nvPr/>
        </p:nvSpPr>
        <p:spPr>
          <a:xfrm>
            <a:off x="788199" y="5366006"/>
            <a:ext cx="4983480" cy="1261872"/>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17"/>
          <p:cNvSpPr/>
          <p:nvPr/>
        </p:nvSpPr>
        <p:spPr>
          <a:xfrm>
            <a:off x="788199" y="5366006"/>
            <a:ext cx="91440" cy="1261872"/>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18"/>
          <p:cNvSpPr/>
          <p:nvPr/>
        </p:nvSpPr>
        <p:spPr>
          <a:xfrm>
            <a:off x="989367" y="5567174"/>
            <a:ext cx="420624" cy="420624"/>
          </a:xfrm>
          <a:prstGeom prst="ellipse">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9367" y="5640326"/>
            <a:ext cx="420624" cy="164592"/>
          </a:xfrm>
          <a:prstGeom prst="rect">
            <a:avLst/>
          </a:prstGeom>
          <a:noFill/>
        </p:spPr>
        <p:txBody>
          <a:bodyPr wrap="square" lIns="0" tIns="0" rIns="0" bIns="0" anchor="t">
            <a:spAutoFit/>
          </a:bodyPr>
          <a:lstStyle/>
          <a:p>
            <a:pPr algn="ctr">
              <a:lnSpc>
                <a:spcPct val="105000"/>
              </a:lnSpc>
            </a:pPr>
            <a:r>
              <a:rPr sz="1100" b="1">
                <a:solidFill>
                  <a:srgbClr val="FFFFFF"/>
                </a:solidFill>
                <a:latin typeface="微软雅黑 Light"/>
              </a:rPr>
              <a:t>02</a:t>
            </a:r>
          </a:p>
        </p:txBody>
      </p:sp>
      <p:sp>
        <p:nvSpPr>
          <p:cNvPr id="21" name="TextBox 20"/>
          <p:cNvSpPr txBox="1"/>
          <p:nvPr/>
        </p:nvSpPr>
        <p:spPr>
          <a:xfrm>
            <a:off x="1556295" y="5567174"/>
            <a:ext cx="3977639"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研究内容二：KGAMA</a:t>
            </a:r>
          </a:p>
        </p:txBody>
      </p:sp>
      <p:sp>
        <p:nvSpPr>
          <p:cNvPr id="22" name="TextBox 21"/>
          <p:cNvSpPr txBox="1"/>
          <p:nvPr/>
        </p:nvSpPr>
        <p:spPr>
          <a:xfrm>
            <a:off x="1099095" y="5987798"/>
            <a:ext cx="4434840" cy="548639"/>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面向 MoleculeNet 基准组，构建知识增强、图中心对齐和四模态融合的分子性质预测框架。</a:t>
            </a:r>
          </a:p>
        </p:txBody>
      </p:sp>
      <p:sp>
        <p:nvSpPr>
          <p:cNvPr id="26" name="Rounded Rectangle 25"/>
          <p:cNvSpPr/>
          <p:nvPr/>
        </p:nvSpPr>
        <p:spPr>
          <a:xfrm>
            <a:off x="6300676" y="4872230"/>
            <a:ext cx="4983480" cy="205740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KGAMA模型架构.png"/>
          <p:cNvPicPr>
            <a:picLocks noChangeAspect="1"/>
          </p:cNvPicPr>
          <p:nvPr/>
        </p:nvPicPr>
        <p:blipFill>
          <a:blip r:embed="rId7"/>
          <a:stretch>
            <a:fillRect/>
          </a:stretch>
        </p:blipFill>
        <p:spPr>
          <a:xfrm>
            <a:off x="7235616" y="5178554"/>
            <a:ext cx="2697259" cy="1636775"/>
          </a:xfrm>
          <a:prstGeom prst="rect">
            <a:avLst/>
          </a:prstGeom>
        </p:spPr>
      </p:pic>
      <p:sp>
        <p:nvSpPr>
          <p:cNvPr id="28" name="TextBox 27"/>
          <p:cNvSpPr txBox="1"/>
          <p:nvPr/>
        </p:nvSpPr>
        <p:spPr>
          <a:xfrm>
            <a:off x="897927" y="8795006"/>
            <a:ext cx="4764024" cy="164592"/>
          </a:xfrm>
          <a:prstGeom prst="rect">
            <a:avLst/>
          </a:prstGeom>
          <a:noFill/>
        </p:spPr>
        <p:txBody>
          <a:bodyPr wrap="square" lIns="0" tIns="0" rIns="0" bIns="0" anchor="t">
            <a:spAutoFit/>
          </a:bodyPr>
          <a:lstStyle/>
          <a:p>
            <a:pPr algn="ctr">
              <a:lnSpc>
                <a:spcPct val="105000"/>
              </a:lnSpc>
            </a:pPr>
            <a:r>
              <a:rPr sz="840" b="0">
                <a:solidFill>
                  <a:srgbClr val="5B6773"/>
                </a:solidFill>
                <a:latin typeface="微软雅黑 Light"/>
              </a:rPr>
              <a:t>KGAMA：图、序列、指纹、文本四模态对齐</a:t>
            </a:r>
          </a:p>
        </p:txBody>
      </p:sp>
    </p:spTree>
    <p:extLst>
      <p:ext uri="{BB962C8B-B14F-4D97-AF65-F5344CB8AC3E}">
        <p14:creationId xmlns:p14="http://schemas.microsoft.com/office/powerpoint/2010/main" val="4239125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57884" y="269811"/>
            <a:ext cx="5669280" cy="411480"/>
          </a:xfrm>
          <a:prstGeom prst="rect">
            <a:avLst/>
          </a:prstGeom>
          <a:noFill/>
        </p:spPr>
        <p:txBody>
          <a:bodyPr wrap="square" lIns="0" tIns="0" rIns="0" bIns="0" anchor="t">
            <a:spAutoFit/>
          </a:bodyPr>
          <a:lstStyle/>
          <a:p>
            <a:pPr algn="l">
              <a:lnSpc>
                <a:spcPct val="105000"/>
              </a:lnSpc>
            </a:pPr>
            <a:r>
              <a:rPr sz="2000" b="1" dirty="0" err="1">
                <a:solidFill>
                  <a:srgbClr val="004E98"/>
                </a:solidFill>
                <a:latin typeface="方正正中黑简体"/>
              </a:rPr>
              <a:t>方法二：KGAMA</a:t>
            </a:r>
            <a:r>
              <a:rPr sz="2000" b="1" dirty="0">
                <a:solidFill>
                  <a:srgbClr val="004E98"/>
                </a:solidFill>
                <a:latin typeface="方正正中黑简体"/>
              </a:rPr>
              <a:t> </a:t>
            </a:r>
            <a:r>
              <a:rPr sz="2000" b="1" dirty="0" err="1">
                <a:solidFill>
                  <a:srgbClr val="004E98"/>
                </a:solidFill>
                <a:latin typeface="方正正中黑简体"/>
              </a:rPr>
              <a:t>知识增强与图对齐框架</a:t>
            </a:r>
            <a:endParaRPr sz="2000" b="1" dirty="0">
              <a:solidFill>
                <a:srgbClr val="004E98"/>
              </a:solidFill>
              <a:latin typeface="方正正中黑简体"/>
            </a:endParaRPr>
          </a:p>
        </p:txBody>
      </p:sp>
      <p:sp>
        <p:nvSpPr>
          <p:cNvPr id="6" name="TextBox 5"/>
          <p:cNvSpPr txBox="1"/>
          <p:nvPr/>
        </p:nvSpPr>
        <p:spPr>
          <a:xfrm>
            <a:off x="7178040" y="338328"/>
            <a:ext cx="2880360" cy="274320"/>
          </a:xfrm>
          <a:prstGeom prst="rect">
            <a:avLst/>
          </a:prstGeom>
          <a:noFill/>
        </p:spPr>
        <p:txBody>
          <a:bodyPr wrap="square" lIns="0" tIns="0" rIns="0" bIns="0" anchor="t">
            <a:spAutoFit/>
          </a:bodyPr>
          <a:lstStyle/>
          <a:p>
            <a:pPr algn="r">
              <a:lnSpc>
                <a:spcPct val="105000"/>
              </a:lnSpc>
            </a:pPr>
            <a:r>
              <a:rPr sz="950" b="0">
                <a:solidFill>
                  <a:srgbClr val="347AA7"/>
                </a:solidFill>
                <a:latin typeface="微软雅黑 Light"/>
              </a:rPr>
              <a:t>第三部分 研究内容</a:t>
            </a:r>
          </a:p>
        </p:txBody>
      </p:sp>
      <p:pic>
        <p:nvPicPr>
          <p:cNvPr id="7" name="Picture 6" descr="logo.png"/>
          <p:cNvPicPr>
            <a:picLocks noChangeAspect="1"/>
          </p:cNvPicPr>
          <p:nvPr/>
        </p:nvPicPr>
        <p:blipFill>
          <a:blip r:embed="rId2"/>
          <a:stretch>
            <a:fillRect/>
          </a:stretch>
        </p:blipFill>
        <p:spPr>
          <a:xfrm>
            <a:off x="11301984" y="310896"/>
            <a:ext cx="402336" cy="457200"/>
          </a:xfrm>
          <a:prstGeom prst="rect">
            <a:avLst/>
          </a:prstGeom>
        </p:spPr>
      </p:pic>
      <p:sp>
        <p:nvSpPr>
          <p:cNvPr id="8" name="Rectangle 7"/>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sp>
        <p:nvSpPr>
          <p:cNvPr id="10" name="TextBox 9"/>
          <p:cNvSpPr txBox="1"/>
          <p:nvPr/>
        </p:nvSpPr>
        <p:spPr>
          <a:xfrm>
            <a:off x="11384280" y="6565392"/>
            <a:ext cx="384048" cy="256032"/>
          </a:xfrm>
          <a:prstGeom prst="rect">
            <a:avLst/>
          </a:prstGeom>
          <a:noFill/>
        </p:spPr>
        <p:txBody>
          <a:bodyPr wrap="square" lIns="0" tIns="0" rIns="0" bIns="0" anchor="ctr">
            <a:spAutoFit/>
          </a:bodyPr>
          <a:lstStyle/>
          <a:p>
            <a:pPr algn="r">
              <a:lnSpc>
                <a:spcPct val="105000"/>
              </a:lnSpc>
            </a:pPr>
            <a:r>
              <a:rPr sz="900" b="0">
                <a:solidFill>
                  <a:srgbClr val="FFFFFF"/>
                </a:solidFill>
                <a:latin typeface="微软雅黑 Light"/>
              </a:rPr>
              <a:t>14</a:t>
            </a:r>
          </a:p>
        </p:txBody>
      </p:sp>
      <p:sp>
        <p:nvSpPr>
          <p:cNvPr id="11" name="Rounded Rectangle 10"/>
          <p:cNvSpPr/>
          <p:nvPr/>
        </p:nvSpPr>
        <p:spPr>
          <a:xfrm>
            <a:off x="868680" y="1051560"/>
            <a:ext cx="6492240" cy="429768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KGAMA模型架构.png"/>
          <p:cNvPicPr>
            <a:picLocks noChangeAspect="1"/>
          </p:cNvPicPr>
          <p:nvPr/>
        </p:nvPicPr>
        <p:blipFill>
          <a:blip r:embed="rId3"/>
          <a:stretch>
            <a:fillRect/>
          </a:stretch>
        </p:blipFill>
        <p:spPr>
          <a:xfrm>
            <a:off x="1060583" y="1280160"/>
            <a:ext cx="6141460" cy="3726817"/>
          </a:xfrm>
          <a:prstGeom prst="rect">
            <a:avLst/>
          </a:prstGeom>
        </p:spPr>
      </p:pic>
      <p:sp>
        <p:nvSpPr>
          <p:cNvPr id="13" name="TextBox 12"/>
          <p:cNvSpPr txBox="1"/>
          <p:nvPr/>
        </p:nvSpPr>
        <p:spPr>
          <a:xfrm>
            <a:off x="978407" y="5102352"/>
            <a:ext cx="6272783" cy="164592"/>
          </a:xfrm>
          <a:prstGeom prst="rect">
            <a:avLst/>
          </a:prstGeom>
          <a:noFill/>
        </p:spPr>
        <p:txBody>
          <a:bodyPr wrap="square" lIns="0" tIns="0" rIns="0" bIns="0" anchor="t">
            <a:spAutoFit/>
          </a:bodyPr>
          <a:lstStyle/>
          <a:p>
            <a:pPr algn="ctr">
              <a:lnSpc>
                <a:spcPct val="105000"/>
              </a:lnSpc>
            </a:pPr>
            <a:r>
              <a:rPr sz="840" b="0">
                <a:solidFill>
                  <a:srgbClr val="5B6773"/>
                </a:solidFill>
                <a:latin typeface="微软雅黑 Light"/>
              </a:rPr>
              <a:t>图 4-1 KGAMA 模型架构</a:t>
            </a:r>
          </a:p>
        </p:txBody>
      </p:sp>
      <p:sp>
        <p:nvSpPr>
          <p:cNvPr id="14" name="Rounded Rectangle 13"/>
          <p:cNvSpPr/>
          <p:nvPr/>
        </p:nvSpPr>
        <p:spPr>
          <a:xfrm>
            <a:off x="7699248" y="1078992"/>
            <a:ext cx="3566160" cy="96012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699248" y="1078992"/>
            <a:ext cx="91440" cy="960120"/>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91856" y="1280160"/>
            <a:ext cx="3035808" cy="274320"/>
          </a:xfrm>
          <a:prstGeom prst="rect">
            <a:avLst/>
          </a:prstGeom>
          <a:noFill/>
        </p:spPr>
        <p:txBody>
          <a:bodyPr wrap="square" lIns="0" tIns="0" rIns="0" bIns="0" anchor="t">
            <a:spAutoFit/>
          </a:bodyPr>
          <a:lstStyle/>
          <a:p>
            <a:pPr algn="l">
              <a:lnSpc>
                <a:spcPct val="105000"/>
              </a:lnSpc>
            </a:pPr>
            <a:r>
              <a:rPr sz="1450" b="1" dirty="0" err="1">
                <a:solidFill>
                  <a:srgbClr val="16324F"/>
                </a:solidFill>
                <a:latin typeface="Microsoft YaHei"/>
              </a:rPr>
              <a:t>四模态表征</a:t>
            </a:r>
            <a:endParaRPr sz="1450" b="1" dirty="0">
              <a:solidFill>
                <a:srgbClr val="16324F"/>
              </a:solidFill>
              <a:latin typeface="Microsoft YaHei"/>
            </a:endParaRPr>
          </a:p>
        </p:txBody>
      </p:sp>
      <p:sp>
        <p:nvSpPr>
          <p:cNvPr id="17" name="TextBox 16"/>
          <p:cNvSpPr txBox="1"/>
          <p:nvPr/>
        </p:nvSpPr>
        <p:spPr>
          <a:xfrm>
            <a:off x="8010144" y="1700784"/>
            <a:ext cx="3017520" cy="246888"/>
          </a:xfrm>
          <a:prstGeom prst="rect">
            <a:avLst/>
          </a:prstGeom>
          <a:noFill/>
        </p:spPr>
        <p:txBody>
          <a:bodyPr wrap="square" lIns="0" tIns="0" rIns="0" bIns="0" anchor="t">
            <a:spAutoFit/>
          </a:bodyPr>
          <a:lstStyle/>
          <a:p>
            <a:pPr algn="l">
              <a:lnSpc>
                <a:spcPct val="108000"/>
              </a:lnSpc>
            </a:pPr>
            <a:r>
              <a:rPr sz="1050" b="0" dirty="0" err="1">
                <a:solidFill>
                  <a:srgbClr val="5B6773"/>
                </a:solidFill>
                <a:latin typeface="微软雅黑 Light"/>
              </a:rPr>
              <a:t>联合分子图、SMILES</a:t>
            </a:r>
            <a:r>
              <a:rPr sz="1050" b="0" dirty="0">
                <a:solidFill>
                  <a:srgbClr val="5B6773"/>
                </a:solidFill>
                <a:latin typeface="微软雅黑 Light"/>
              </a:rPr>
              <a:t> </a:t>
            </a:r>
            <a:r>
              <a:rPr sz="1050" b="0" dirty="0" err="1">
                <a:solidFill>
                  <a:srgbClr val="5B6773"/>
                </a:solidFill>
                <a:latin typeface="微软雅黑 Light"/>
              </a:rPr>
              <a:t>序列、分子指纹和自然语言文本，构建更完整的分子表示体系</a:t>
            </a:r>
            <a:r>
              <a:rPr sz="1050" b="0" dirty="0">
                <a:solidFill>
                  <a:srgbClr val="5B6773"/>
                </a:solidFill>
                <a:latin typeface="微软雅黑 Light"/>
              </a:rPr>
              <a:t>。</a:t>
            </a:r>
          </a:p>
        </p:txBody>
      </p:sp>
      <p:sp>
        <p:nvSpPr>
          <p:cNvPr id="18" name="Rounded Rectangle 17"/>
          <p:cNvSpPr/>
          <p:nvPr/>
        </p:nvSpPr>
        <p:spPr>
          <a:xfrm>
            <a:off x="7699248" y="2322576"/>
            <a:ext cx="3566160" cy="96012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699248" y="2322576"/>
            <a:ext cx="91440" cy="960120"/>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91856" y="2523744"/>
            <a:ext cx="3035808"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知识重写</a:t>
            </a:r>
          </a:p>
        </p:txBody>
      </p:sp>
      <p:sp>
        <p:nvSpPr>
          <p:cNvPr id="21" name="TextBox 20"/>
          <p:cNvSpPr txBox="1"/>
          <p:nvPr/>
        </p:nvSpPr>
        <p:spPr>
          <a:xfrm>
            <a:off x="8010144" y="2944368"/>
            <a:ext cx="3017520" cy="246888"/>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利用 PubChem 原始文本和 RDKit 计算的 11 项理化指标，经 LLM 去噪重写后输入 SciBERT。</a:t>
            </a:r>
          </a:p>
        </p:txBody>
      </p:sp>
      <p:sp>
        <p:nvSpPr>
          <p:cNvPr id="22" name="Rounded Rectangle 21"/>
          <p:cNvSpPr/>
          <p:nvPr/>
        </p:nvSpPr>
        <p:spPr>
          <a:xfrm>
            <a:off x="7699248" y="3566160"/>
            <a:ext cx="3566160" cy="96012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699248" y="3566160"/>
            <a:ext cx="91440" cy="960120"/>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91856" y="3767328"/>
            <a:ext cx="3035808"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图中心对齐</a:t>
            </a:r>
          </a:p>
        </p:txBody>
      </p:sp>
      <p:sp>
        <p:nvSpPr>
          <p:cNvPr id="25" name="TextBox 24"/>
          <p:cNvSpPr txBox="1"/>
          <p:nvPr/>
        </p:nvSpPr>
        <p:spPr>
          <a:xfrm>
            <a:off x="8010144" y="4187952"/>
            <a:ext cx="3017520" cy="246888"/>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以图表征作为稳定语义锚点，并用同方差不确定性权重降低噪声模态干扰。</a:t>
            </a:r>
          </a:p>
        </p:txBody>
      </p:sp>
      <p:sp>
        <p:nvSpPr>
          <p:cNvPr id="26" name="Rounded Rectangle 25"/>
          <p:cNvSpPr/>
          <p:nvPr/>
        </p:nvSpPr>
        <p:spPr>
          <a:xfrm>
            <a:off x="7699248" y="4809744"/>
            <a:ext cx="3566160" cy="713232"/>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699248" y="4809744"/>
            <a:ext cx="91440" cy="713232"/>
          </a:xfrm>
          <a:prstGeom prst="rect">
            <a:avLst/>
          </a:prstGeom>
          <a:solidFill>
            <a:srgbClr val="163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91856" y="5010912"/>
            <a:ext cx="3035808"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自适应融合</a:t>
            </a:r>
          </a:p>
        </p:txBody>
      </p:sp>
      <p:sp>
        <p:nvSpPr>
          <p:cNvPr id="29" name="TextBox 28"/>
          <p:cNvSpPr txBox="1"/>
          <p:nvPr/>
        </p:nvSpPr>
        <p:spPr>
          <a:xfrm>
            <a:off x="8010144" y="5431536"/>
            <a:ext cx="3017520" cy="0"/>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通过交叉注意力根据具体任务动态调配不同模态贡献，而非静态拼接。</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71015" y="265176"/>
            <a:ext cx="5669280" cy="411480"/>
          </a:xfrm>
          <a:prstGeom prst="rect">
            <a:avLst/>
          </a:prstGeom>
          <a:noFill/>
        </p:spPr>
        <p:txBody>
          <a:bodyPr wrap="square" lIns="0" tIns="0" rIns="0" bIns="0" anchor="t">
            <a:spAutoFit/>
          </a:bodyPr>
          <a:lstStyle/>
          <a:p>
            <a:pPr algn="l">
              <a:lnSpc>
                <a:spcPct val="105000"/>
              </a:lnSpc>
            </a:pPr>
            <a:r>
              <a:rPr sz="2000" b="1" dirty="0">
                <a:solidFill>
                  <a:srgbClr val="004E98"/>
                </a:solidFill>
                <a:latin typeface="方正正中黑简体"/>
              </a:rPr>
              <a:t>KGAMA </a:t>
            </a:r>
            <a:r>
              <a:rPr sz="2000" b="1" dirty="0" err="1">
                <a:solidFill>
                  <a:srgbClr val="004E98"/>
                </a:solidFill>
                <a:latin typeface="方正正中黑简体"/>
              </a:rPr>
              <a:t>知识重写与模态构建</a:t>
            </a:r>
            <a:endParaRPr sz="2000" b="1" dirty="0">
              <a:solidFill>
                <a:srgbClr val="004E98"/>
              </a:solidFill>
              <a:latin typeface="方正正中黑简体"/>
            </a:endParaRPr>
          </a:p>
        </p:txBody>
      </p:sp>
      <p:sp>
        <p:nvSpPr>
          <p:cNvPr id="6" name="TextBox 5"/>
          <p:cNvSpPr txBox="1"/>
          <p:nvPr/>
        </p:nvSpPr>
        <p:spPr>
          <a:xfrm>
            <a:off x="7178040" y="338328"/>
            <a:ext cx="2880360" cy="274320"/>
          </a:xfrm>
          <a:prstGeom prst="rect">
            <a:avLst/>
          </a:prstGeom>
          <a:noFill/>
        </p:spPr>
        <p:txBody>
          <a:bodyPr wrap="square" lIns="0" tIns="0" rIns="0" bIns="0" anchor="t">
            <a:spAutoFit/>
          </a:bodyPr>
          <a:lstStyle/>
          <a:p>
            <a:pPr algn="r">
              <a:lnSpc>
                <a:spcPct val="105000"/>
              </a:lnSpc>
            </a:pPr>
            <a:r>
              <a:rPr sz="950" b="0">
                <a:solidFill>
                  <a:srgbClr val="347AA7"/>
                </a:solidFill>
                <a:latin typeface="微软雅黑 Light"/>
              </a:rPr>
              <a:t>第三部分 研究内容</a:t>
            </a:r>
          </a:p>
        </p:txBody>
      </p:sp>
      <p:pic>
        <p:nvPicPr>
          <p:cNvPr id="7" name="Picture 6" descr="logo.png"/>
          <p:cNvPicPr>
            <a:picLocks noChangeAspect="1"/>
          </p:cNvPicPr>
          <p:nvPr/>
        </p:nvPicPr>
        <p:blipFill>
          <a:blip r:embed="rId2"/>
          <a:stretch>
            <a:fillRect/>
          </a:stretch>
        </p:blipFill>
        <p:spPr>
          <a:xfrm>
            <a:off x="11301984" y="310896"/>
            <a:ext cx="402336" cy="457200"/>
          </a:xfrm>
          <a:prstGeom prst="rect">
            <a:avLst/>
          </a:prstGeom>
        </p:spPr>
      </p:pic>
      <p:sp>
        <p:nvSpPr>
          <p:cNvPr id="8" name="Rectangle 7"/>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sp>
        <p:nvSpPr>
          <p:cNvPr id="10" name="TextBox 9"/>
          <p:cNvSpPr txBox="1"/>
          <p:nvPr/>
        </p:nvSpPr>
        <p:spPr>
          <a:xfrm>
            <a:off x="11384280" y="6565392"/>
            <a:ext cx="384048" cy="256032"/>
          </a:xfrm>
          <a:prstGeom prst="rect">
            <a:avLst/>
          </a:prstGeom>
          <a:noFill/>
        </p:spPr>
        <p:txBody>
          <a:bodyPr wrap="square" lIns="0" tIns="0" rIns="0" bIns="0" anchor="ctr">
            <a:spAutoFit/>
          </a:bodyPr>
          <a:lstStyle/>
          <a:p>
            <a:pPr algn="r">
              <a:lnSpc>
                <a:spcPct val="105000"/>
              </a:lnSpc>
            </a:pPr>
            <a:r>
              <a:rPr sz="900" b="0">
                <a:solidFill>
                  <a:srgbClr val="FFFFFF"/>
                </a:solidFill>
                <a:latin typeface="微软雅黑 Light"/>
              </a:rPr>
              <a:t>15</a:t>
            </a:r>
          </a:p>
        </p:txBody>
      </p:sp>
      <p:sp>
        <p:nvSpPr>
          <p:cNvPr id="11" name="Rounded Rectangle 10"/>
          <p:cNvSpPr/>
          <p:nvPr/>
        </p:nvSpPr>
        <p:spPr>
          <a:xfrm>
            <a:off x="868680" y="1115568"/>
            <a:ext cx="1282446" cy="1115568"/>
          </a:xfrm>
          <a:prstGeom prst="round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7" y="1225295"/>
            <a:ext cx="292608" cy="182880"/>
          </a:xfrm>
          <a:prstGeom prst="rect">
            <a:avLst/>
          </a:prstGeom>
          <a:noFill/>
        </p:spPr>
        <p:txBody>
          <a:bodyPr wrap="square" lIns="0" tIns="0" rIns="0" bIns="0" anchor="t">
            <a:spAutoFit/>
          </a:bodyPr>
          <a:lstStyle/>
          <a:p>
            <a:pPr algn="ctr">
              <a:lnSpc>
                <a:spcPct val="105000"/>
              </a:lnSpc>
            </a:pPr>
            <a:r>
              <a:rPr sz="1100" b="1">
                <a:solidFill>
                  <a:srgbClr val="FFFFFF"/>
                </a:solidFill>
                <a:latin typeface="微软雅黑 Light"/>
              </a:rPr>
              <a:t>1</a:t>
            </a:r>
          </a:p>
        </p:txBody>
      </p:sp>
      <p:sp>
        <p:nvSpPr>
          <p:cNvPr id="13" name="TextBox 12"/>
          <p:cNvSpPr txBox="1"/>
          <p:nvPr/>
        </p:nvSpPr>
        <p:spPr>
          <a:xfrm>
            <a:off x="1033271" y="1554480"/>
            <a:ext cx="953262" cy="274320"/>
          </a:xfrm>
          <a:prstGeom prst="rect">
            <a:avLst/>
          </a:prstGeom>
          <a:noFill/>
        </p:spPr>
        <p:txBody>
          <a:bodyPr wrap="square" lIns="0" tIns="0" rIns="0" bIns="0" anchor="t">
            <a:spAutoFit/>
          </a:bodyPr>
          <a:lstStyle/>
          <a:p>
            <a:pPr algn="ctr">
              <a:lnSpc>
                <a:spcPct val="105000"/>
              </a:lnSpc>
            </a:pPr>
            <a:r>
              <a:rPr sz="1220" b="1">
                <a:solidFill>
                  <a:srgbClr val="FFFFFF"/>
                </a:solidFill>
                <a:latin typeface="微软雅黑 Light"/>
              </a:rPr>
              <a:t>PubChem</a:t>
            </a:r>
          </a:p>
        </p:txBody>
      </p:sp>
      <p:sp>
        <p:nvSpPr>
          <p:cNvPr id="14" name="TextBox 13"/>
          <p:cNvSpPr txBox="1"/>
          <p:nvPr/>
        </p:nvSpPr>
        <p:spPr>
          <a:xfrm>
            <a:off x="1033271" y="1901952"/>
            <a:ext cx="953262" cy="256032"/>
          </a:xfrm>
          <a:prstGeom prst="rect">
            <a:avLst/>
          </a:prstGeom>
          <a:noFill/>
        </p:spPr>
        <p:txBody>
          <a:bodyPr wrap="square" lIns="0" tIns="0" rIns="0" bIns="0" anchor="t">
            <a:spAutoFit/>
          </a:bodyPr>
          <a:lstStyle/>
          <a:p>
            <a:pPr algn="ctr">
              <a:lnSpc>
                <a:spcPct val="105000"/>
              </a:lnSpc>
            </a:pPr>
            <a:r>
              <a:rPr sz="880" b="0">
                <a:solidFill>
                  <a:srgbClr val="EAF3FA"/>
                </a:solidFill>
                <a:latin typeface="微软雅黑 Light"/>
              </a:rPr>
              <a:t>原始分子描述</a:t>
            </a:r>
          </a:p>
        </p:txBody>
      </p:sp>
      <p:sp>
        <p:nvSpPr>
          <p:cNvPr id="15" name="Rounded Rectangle 14"/>
          <p:cNvSpPr/>
          <p:nvPr/>
        </p:nvSpPr>
        <p:spPr>
          <a:xfrm>
            <a:off x="2315718" y="1115568"/>
            <a:ext cx="1282446" cy="1115568"/>
          </a:xfrm>
          <a:prstGeom prst="round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425446" y="1225295"/>
            <a:ext cx="292608" cy="182880"/>
          </a:xfrm>
          <a:prstGeom prst="rect">
            <a:avLst/>
          </a:prstGeom>
          <a:noFill/>
        </p:spPr>
        <p:txBody>
          <a:bodyPr wrap="square" lIns="0" tIns="0" rIns="0" bIns="0" anchor="t">
            <a:spAutoFit/>
          </a:bodyPr>
          <a:lstStyle/>
          <a:p>
            <a:pPr algn="ctr">
              <a:lnSpc>
                <a:spcPct val="105000"/>
              </a:lnSpc>
            </a:pPr>
            <a:r>
              <a:rPr sz="1100" b="1">
                <a:solidFill>
                  <a:srgbClr val="FFFFFF"/>
                </a:solidFill>
                <a:latin typeface="微软雅黑 Light"/>
              </a:rPr>
              <a:t>2</a:t>
            </a:r>
          </a:p>
        </p:txBody>
      </p:sp>
      <p:sp>
        <p:nvSpPr>
          <p:cNvPr id="17" name="TextBox 16"/>
          <p:cNvSpPr txBox="1"/>
          <p:nvPr/>
        </p:nvSpPr>
        <p:spPr>
          <a:xfrm>
            <a:off x="2480310" y="1554480"/>
            <a:ext cx="953262" cy="274320"/>
          </a:xfrm>
          <a:prstGeom prst="rect">
            <a:avLst/>
          </a:prstGeom>
          <a:noFill/>
        </p:spPr>
        <p:txBody>
          <a:bodyPr wrap="square" lIns="0" tIns="0" rIns="0" bIns="0" anchor="t">
            <a:spAutoFit/>
          </a:bodyPr>
          <a:lstStyle/>
          <a:p>
            <a:pPr algn="ctr">
              <a:lnSpc>
                <a:spcPct val="105000"/>
              </a:lnSpc>
            </a:pPr>
            <a:r>
              <a:rPr sz="1220" b="1">
                <a:solidFill>
                  <a:srgbClr val="FFFFFF"/>
                </a:solidFill>
                <a:latin typeface="微软雅黑 Light"/>
              </a:rPr>
              <a:t>RDKit</a:t>
            </a:r>
          </a:p>
        </p:txBody>
      </p:sp>
      <p:sp>
        <p:nvSpPr>
          <p:cNvPr id="18" name="TextBox 17"/>
          <p:cNvSpPr txBox="1"/>
          <p:nvPr/>
        </p:nvSpPr>
        <p:spPr>
          <a:xfrm>
            <a:off x="2480310" y="1901952"/>
            <a:ext cx="953262" cy="256032"/>
          </a:xfrm>
          <a:prstGeom prst="rect">
            <a:avLst/>
          </a:prstGeom>
          <a:noFill/>
        </p:spPr>
        <p:txBody>
          <a:bodyPr wrap="square" lIns="0" tIns="0" rIns="0" bIns="0" anchor="t">
            <a:spAutoFit/>
          </a:bodyPr>
          <a:lstStyle/>
          <a:p>
            <a:pPr algn="ctr">
              <a:lnSpc>
                <a:spcPct val="105000"/>
              </a:lnSpc>
            </a:pPr>
            <a:r>
              <a:rPr sz="880" b="0">
                <a:solidFill>
                  <a:srgbClr val="EAF3FA"/>
                </a:solidFill>
                <a:latin typeface="微软雅黑 Light"/>
              </a:rPr>
              <a:t>理化指标注入</a:t>
            </a:r>
          </a:p>
        </p:txBody>
      </p:sp>
      <p:sp>
        <p:nvSpPr>
          <p:cNvPr id="19" name="Rounded Rectangle 18"/>
          <p:cNvSpPr/>
          <p:nvPr/>
        </p:nvSpPr>
        <p:spPr>
          <a:xfrm>
            <a:off x="3762756" y="1115568"/>
            <a:ext cx="1282446" cy="1115568"/>
          </a:xfrm>
          <a:prstGeom prst="round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72484" y="1225295"/>
            <a:ext cx="292608" cy="182880"/>
          </a:xfrm>
          <a:prstGeom prst="rect">
            <a:avLst/>
          </a:prstGeom>
          <a:noFill/>
        </p:spPr>
        <p:txBody>
          <a:bodyPr wrap="square" lIns="0" tIns="0" rIns="0" bIns="0" anchor="t">
            <a:spAutoFit/>
          </a:bodyPr>
          <a:lstStyle/>
          <a:p>
            <a:pPr algn="ctr">
              <a:lnSpc>
                <a:spcPct val="105000"/>
              </a:lnSpc>
            </a:pPr>
            <a:r>
              <a:rPr sz="1100" b="1">
                <a:solidFill>
                  <a:srgbClr val="FFFFFF"/>
                </a:solidFill>
                <a:latin typeface="微软雅黑 Light"/>
              </a:rPr>
              <a:t>3</a:t>
            </a:r>
          </a:p>
        </p:txBody>
      </p:sp>
      <p:sp>
        <p:nvSpPr>
          <p:cNvPr id="21" name="TextBox 20"/>
          <p:cNvSpPr txBox="1"/>
          <p:nvPr/>
        </p:nvSpPr>
        <p:spPr>
          <a:xfrm>
            <a:off x="3927348" y="1554480"/>
            <a:ext cx="953262" cy="274320"/>
          </a:xfrm>
          <a:prstGeom prst="rect">
            <a:avLst/>
          </a:prstGeom>
          <a:noFill/>
        </p:spPr>
        <p:txBody>
          <a:bodyPr wrap="square" lIns="0" tIns="0" rIns="0" bIns="0" anchor="t">
            <a:spAutoFit/>
          </a:bodyPr>
          <a:lstStyle/>
          <a:p>
            <a:pPr algn="ctr">
              <a:lnSpc>
                <a:spcPct val="105000"/>
              </a:lnSpc>
            </a:pPr>
            <a:r>
              <a:rPr sz="1220" b="1">
                <a:solidFill>
                  <a:srgbClr val="FFFFFF"/>
                </a:solidFill>
                <a:latin typeface="微软雅黑 Light"/>
              </a:rPr>
              <a:t>LLM 重写</a:t>
            </a:r>
          </a:p>
        </p:txBody>
      </p:sp>
      <p:sp>
        <p:nvSpPr>
          <p:cNvPr id="22" name="TextBox 21"/>
          <p:cNvSpPr txBox="1"/>
          <p:nvPr/>
        </p:nvSpPr>
        <p:spPr>
          <a:xfrm>
            <a:off x="3927348" y="1901952"/>
            <a:ext cx="953262" cy="256032"/>
          </a:xfrm>
          <a:prstGeom prst="rect">
            <a:avLst/>
          </a:prstGeom>
          <a:noFill/>
        </p:spPr>
        <p:txBody>
          <a:bodyPr wrap="square" lIns="0" tIns="0" rIns="0" bIns="0" anchor="t">
            <a:spAutoFit/>
          </a:bodyPr>
          <a:lstStyle/>
          <a:p>
            <a:pPr algn="ctr">
              <a:lnSpc>
                <a:spcPct val="105000"/>
              </a:lnSpc>
            </a:pPr>
            <a:r>
              <a:rPr sz="880" b="0">
                <a:solidFill>
                  <a:srgbClr val="EAF3FA"/>
                </a:solidFill>
                <a:latin typeface="微软雅黑 Light"/>
              </a:rPr>
              <a:t>去噪与知识融合</a:t>
            </a:r>
          </a:p>
        </p:txBody>
      </p:sp>
      <p:sp>
        <p:nvSpPr>
          <p:cNvPr id="23" name="Rounded Rectangle 22"/>
          <p:cNvSpPr/>
          <p:nvPr/>
        </p:nvSpPr>
        <p:spPr>
          <a:xfrm>
            <a:off x="5209794" y="1115568"/>
            <a:ext cx="1282446" cy="1115568"/>
          </a:xfrm>
          <a:prstGeom prst="roundRect">
            <a:avLst/>
          </a:prstGeom>
          <a:solidFill>
            <a:srgbClr val="163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319522" y="1225295"/>
            <a:ext cx="292608" cy="182880"/>
          </a:xfrm>
          <a:prstGeom prst="rect">
            <a:avLst/>
          </a:prstGeom>
          <a:noFill/>
        </p:spPr>
        <p:txBody>
          <a:bodyPr wrap="square" lIns="0" tIns="0" rIns="0" bIns="0" anchor="t">
            <a:spAutoFit/>
          </a:bodyPr>
          <a:lstStyle/>
          <a:p>
            <a:pPr algn="ctr">
              <a:lnSpc>
                <a:spcPct val="105000"/>
              </a:lnSpc>
            </a:pPr>
            <a:r>
              <a:rPr sz="1100" b="1">
                <a:solidFill>
                  <a:srgbClr val="FFFFFF"/>
                </a:solidFill>
                <a:latin typeface="微软雅黑 Light"/>
              </a:rPr>
              <a:t>4</a:t>
            </a:r>
          </a:p>
        </p:txBody>
      </p:sp>
      <p:sp>
        <p:nvSpPr>
          <p:cNvPr id="25" name="TextBox 24"/>
          <p:cNvSpPr txBox="1"/>
          <p:nvPr/>
        </p:nvSpPr>
        <p:spPr>
          <a:xfrm>
            <a:off x="5374386" y="1554480"/>
            <a:ext cx="953262" cy="274320"/>
          </a:xfrm>
          <a:prstGeom prst="rect">
            <a:avLst/>
          </a:prstGeom>
          <a:noFill/>
        </p:spPr>
        <p:txBody>
          <a:bodyPr wrap="square" lIns="0" tIns="0" rIns="0" bIns="0" anchor="t">
            <a:spAutoFit/>
          </a:bodyPr>
          <a:lstStyle/>
          <a:p>
            <a:pPr algn="ctr">
              <a:lnSpc>
                <a:spcPct val="105000"/>
              </a:lnSpc>
            </a:pPr>
            <a:r>
              <a:rPr sz="1220" b="1">
                <a:solidFill>
                  <a:srgbClr val="FFFFFF"/>
                </a:solidFill>
                <a:latin typeface="微软雅黑 Light"/>
              </a:rPr>
              <a:t>SciBERT</a:t>
            </a:r>
          </a:p>
        </p:txBody>
      </p:sp>
      <p:sp>
        <p:nvSpPr>
          <p:cNvPr id="26" name="TextBox 25"/>
          <p:cNvSpPr txBox="1"/>
          <p:nvPr/>
        </p:nvSpPr>
        <p:spPr>
          <a:xfrm>
            <a:off x="5374386" y="1901952"/>
            <a:ext cx="953262" cy="256032"/>
          </a:xfrm>
          <a:prstGeom prst="rect">
            <a:avLst/>
          </a:prstGeom>
          <a:noFill/>
        </p:spPr>
        <p:txBody>
          <a:bodyPr wrap="square" lIns="0" tIns="0" rIns="0" bIns="0" anchor="t">
            <a:spAutoFit/>
          </a:bodyPr>
          <a:lstStyle/>
          <a:p>
            <a:pPr algn="ctr">
              <a:lnSpc>
                <a:spcPct val="105000"/>
              </a:lnSpc>
            </a:pPr>
            <a:r>
              <a:rPr sz="880" b="0">
                <a:solidFill>
                  <a:srgbClr val="EAF3FA"/>
                </a:solidFill>
                <a:latin typeface="微软雅黑 Light"/>
              </a:rPr>
              <a:t>高密度语义编码</a:t>
            </a:r>
          </a:p>
        </p:txBody>
      </p:sp>
      <p:pic>
        <p:nvPicPr>
          <p:cNvPr id="28" name="Picture 27" descr="药物分子原始检索文本与重写文本的对比示例.png"/>
          <p:cNvPicPr>
            <a:picLocks noChangeAspect="1"/>
          </p:cNvPicPr>
          <p:nvPr/>
        </p:nvPicPr>
        <p:blipFill>
          <a:blip r:embed="rId3"/>
          <a:stretch>
            <a:fillRect/>
          </a:stretch>
        </p:blipFill>
        <p:spPr>
          <a:xfrm>
            <a:off x="6636584" y="960120"/>
            <a:ext cx="4522145" cy="5358384"/>
          </a:xfrm>
          <a:prstGeom prst="rect">
            <a:avLst/>
          </a:prstGeom>
        </p:spPr>
      </p:pic>
      <p:sp>
        <p:nvSpPr>
          <p:cNvPr id="29" name="TextBox 28"/>
          <p:cNvSpPr txBox="1"/>
          <p:nvPr/>
        </p:nvSpPr>
        <p:spPr>
          <a:xfrm>
            <a:off x="6940295" y="6345936"/>
            <a:ext cx="4123944" cy="164592"/>
          </a:xfrm>
          <a:prstGeom prst="rect">
            <a:avLst/>
          </a:prstGeom>
          <a:noFill/>
        </p:spPr>
        <p:txBody>
          <a:bodyPr wrap="square" lIns="0" tIns="0" rIns="0" bIns="0" anchor="t">
            <a:spAutoFit/>
          </a:bodyPr>
          <a:lstStyle/>
          <a:p>
            <a:pPr algn="ctr">
              <a:lnSpc>
                <a:spcPct val="105000"/>
              </a:lnSpc>
            </a:pPr>
            <a:r>
              <a:rPr sz="840" b="0" dirty="0" err="1">
                <a:solidFill>
                  <a:srgbClr val="5B6773"/>
                </a:solidFill>
                <a:latin typeface="微软雅黑 Light"/>
              </a:rPr>
              <a:t>药物分子原始检索文本与重写文本对比示例</a:t>
            </a:r>
            <a:endParaRPr sz="840" b="0" dirty="0">
              <a:solidFill>
                <a:srgbClr val="5B6773"/>
              </a:solidFill>
              <a:latin typeface="微软雅黑 Light"/>
            </a:endParaRPr>
          </a:p>
        </p:txBody>
      </p:sp>
      <p:sp>
        <p:nvSpPr>
          <p:cNvPr id="30" name="Rounded Rectangle 29"/>
          <p:cNvSpPr/>
          <p:nvPr/>
        </p:nvSpPr>
        <p:spPr>
          <a:xfrm>
            <a:off x="868680" y="2779776"/>
            <a:ext cx="2651760" cy="105156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三种典型分子指纹特征的比较分析.png"/>
          <p:cNvPicPr>
            <a:picLocks noChangeAspect="1"/>
          </p:cNvPicPr>
          <p:nvPr/>
        </p:nvPicPr>
        <p:blipFill>
          <a:blip r:embed="rId4"/>
          <a:stretch>
            <a:fillRect/>
          </a:stretch>
        </p:blipFill>
        <p:spPr>
          <a:xfrm>
            <a:off x="923544" y="2950102"/>
            <a:ext cx="2542032" cy="473163"/>
          </a:xfrm>
          <a:prstGeom prst="rect">
            <a:avLst/>
          </a:prstGeom>
        </p:spPr>
      </p:pic>
      <p:sp>
        <p:nvSpPr>
          <p:cNvPr id="32" name="TextBox 31"/>
          <p:cNvSpPr txBox="1"/>
          <p:nvPr/>
        </p:nvSpPr>
        <p:spPr>
          <a:xfrm>
            <a:off x="978407" y="3584447"/>
            <a:ext cx="2432304" cy="164592"/>
          </a:xfrm>
          <a:prstGeom prst="rect">
            <a:avLst/>
          </a:prstGeom>
          <a:noFill/>
        </p:spPr>
        <p:txBody>
          <a:bodyPr wrap="square" lIns="0" tIns="0" rIns="0" bIns="0" anchor="t">
            <a:spAutoFit/>
          </a:bodyPr>
          <a:lstStyle/>
          <a:p>
            <a:pPr algn="ctr">
              <a:lnSpc>
                <a:spcPct val="105000"/>
              </a:lnSpc>
            </a:pPr>
            <a:r>
              <a:rPr sz="840" b="0">
                <a:solidFill>
                  <a:srgbClr val="5B6773"/>
                </a:solidFill>
                <a:latin typeface="微软雅黑 Light"/>
              </a:rPr>
              <a:t>三类分子指纹特征</a:t>
            </a:r>
          </a:p>
        </p:txBody>
      </p:sp>
      <p:sp>
        <p:nvSpPr>
          <p:cNvPr id="33" name="Rounded Rectangle 32"/>
          <p:cNvSpPr/>
          <p:nvPr/>
        </p:nvSpPr>
        <p:spPr>
          <a:xfrm>
            <a:off x="3822191" y="2779776"/>
            <a:ext cx="2670048" cy="105156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分子理化性质指标及其含义.png"/>
          <p:cNvPicPr>
            <a:picLocks noChangeAspect="1"/>
          </p:cNvPicPr>
          <p:nvPr/>
        </p:nvPicPr>
        <p:blipFill>
          <a:blip r:embed="rId5"/>
          <a:stretch>
            <a:fillRect/>
          </a:stretch>
        </p:blipFill>
        <p:spPr>
          <a:xfrm>
            <a:off x="4477466" y="2834640"/>
            <a:ext cx="1359498" cy="704087"/>
          </a:xfrm>
          <a:prstGeom prst="rect">
            <a:avLst/>
          </a:prstGeom>
        </p:spPr>
      </p:pic>
      <p:sp>
        <p:nvSpPr>
          <p:cNvPr id="35" name="TextBox 34"/>
          <p:cNvSpPr txBox="1"/>
          <p:nvPr/>
        </p:nvSpPr>
        <p:spPr>
          <a:xfrm>
            <a:off x="3931920" y="3584447"/>
            <a:ext cx="2450591" cy="164592"/>
          </a:xfrm>
          <a:prstGeom prst="rect">
            <a:avLst/>
          </a:prstGeom>
          <a:noFill/>
        </p:spPr>
        <p:txBody>
          <a:bodyPr wrap="square" lIns="0" tIns="0" rIns="0" bIns="0" anchor="t">
            <a:spAutoFit/>
          </a:bodyPr>
          <a:lstStyle/>
          <a:p>
            <a:pPr algn="ctr">
              <a:lnSpc>
                <a:spcPct val="105000"/>
              </a:lnSpc>
            </a:pPr>
            <a:r>
              <a:rPr sz="840" b="0">
                <a:solidFill>
                  <a:srgbClr val="5B6773"/>
                </a:solidFill>
                <a:latin typeface="微软雅黑 Light"/>
              </a:rPr>
              <a:t>理化性质指标</a:t>
            </a:r>
          </a:p>
        </p:txBody>
      </p:sp>
      <p:sp>
        <p:nvSpPr>
          <p:cNvPr id="36" name="Rounded Rectangle 35"/>
          <p:cNvSpPr/>
          <p:nvPr/>
        </p:nvSpPr>
        <p:spPr>
          <a:xfrm>
            <a:off x="868680" y="4224528"/>
            <a:ext cx="2651760" cy="105156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68680" y="4224528"/>
            <a:ext cx="91440" cy="1051560"/>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61288" y="4425696"/>
            <a:ext cx="2121408"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知识增强价值</a:t>
            </a:r>
          </a:p>
        </p:txBody>
      </p:sp>
      <p:sp>
        <p:nvSpPr>
          <p:cNvPr id="39" name="TextBox 38"/>
          <p:cNvSpPr txBox="1"/>
          <p:nvPr/>
        </p:nvSpPr>
        <p:spPr>
          <a:xfrm>
            <a:off x="1179576" y="4846320"/>
            <a:ext cx="2103120" cy="338327"/>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将冗余公共医学文本转换为结构化、化学约束更强的专家语义，提升文本模态可用性。</a:t>
            </a:r>
          </a:p>
        </p:txBody>
      </p:sp>
      <p:sp>
        <p:nvSpPr>
          <p:cNvPr id="40" name="Rounded Rectangle 39"/>
          <p:cNvSpPr/>
          <p:nvPr/>
        </p:nvSpPr>
        <p:spPr>
          <a:xfrm>
            <a:off x="3822191" y="4224528"/>
            <a:ext cx="2670048" cy="105156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822191" y="4224528"/>
            <a:ext cx="91440" cy="1051560"/>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14800" y="4425696"/>
            <a:ext cx="2139696"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指纹补充价值</a:t>
            </a:r>
          </a:p>
        </p:txBody>
      </p:sp>
      <p:sp>
        <p:nvSpPr>
          <p:cNvPr id="43" name="TextBox 42"/>
          <p:cNvSpPr txBox="1"/>
          <p:nvPr/>
        </p:nvSpPr>
        <p:spPr>
          <a:xfrm>
            <a:off x="4133087" y="4846320"/>
            <a:ext cx="2121408" cy="338327"/>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AtomPairs、MACCS、Morgan 从不同角度捕获子结构统计信息，弥补图编码器可能遗漏的全局模式。</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25880" y="284607"/>
            <a:ext cx="5669280" cy="411480"/>
          </a:xfrm>
          <a:prstGeom prst="rect">
            <a:avLst/>
          </a:prstGeom>
          <a:noFill/>
        </p:spPr>
        <p:txBody>
          <a:bodyPr wrap="square" lIns="0" tIns="0" rIns="0" bIns="0" anchor="t">
            <a:spAutoFit/>
          </a:bodyPr>
          <a:lstStyle/>
          <a:p>
            <a:pPr algn="l">
              <a:lnSpc>
                <a:spcPct val="105000"/>
              </a:lnSpc>
            </a:pPr>
            <a:r>
              <a:rPr sz="2000" b="1" dirty="0">
                <a:solidFill>
                  <a:srgbClr val="004E98"/>
                </a:solidFill>
                <a:latin typeface="方正正中黑简体"/>
              </a:rPr>
              <a:t>KGAMA </a:t>
            </a:r>
            <a:r>
              <a:rPr sz="2000" b="1" dirty="0" err="1">
                <a:solidFill>
                  <a:srgbClr val="004E98"/>
                </a:solidFill>
                <a:latin typeface="方正正中黑简体"/>
              </a:rPr>
              <a:t>实验结果与可解释性</a:t>
            </a:r>
            <a:endParaRPr sz="2000" b="1" dirty="0">
              <a:solidFill>
                <a:srgbClr val="004E98"/>
              </a:solidFill>
              <a:latin typeface="方正正中黑简体"/>
            </a:endParaRPr>
          </a:p>
        </p:txBody>
      </p:sp>
      <p:sp>
        <p:nvSpPr>
          <p:cNvPr id="6" name="TextBox 5"/>
          <p:cNvSpPr txBox="1"/>
          <p:nvPr/>
        </p:nvSpPr>
        <p:spPr>
          <a:xfrm>
            <a:off x="7178040" y="338328"/>
            <a:ext cx="2880360" cy="274320"/>
          </a:xfrm>
          <a:prstGeom prst="rect">
            <a:avLst/>
          </a:prstGeom>
          <a:noFill/>
        </p:spPr>
        <p:txBody>
          <a:bodyPr wrap="square" lIns="0" tIns="0" rIns="0" bIns="0" anchor="t">
            <a:spAutoFit/>
          </a:bodyPr>
          <a:lstStyle/>
          <a:p>
            <a:pPr algn="r">
              <a:lnSpc>
                <a:spcPct val="105000"/>
              </a:lnSpc>
            </a:pPr>
            <a:r>
              <a:rPr sz="950" b="0">
                <a:solidFill>
                  <a:srgbClr val="347AA7"/>
                </a:solidFill>
                <a:latin typeface="微软雅黑 Light"/>
              </a:rPr>
              <a:t>第三部分 研究内容</a:t>
            </a:r>
          </a:p>
        </p:txBody>
      </p:sp>
      <p:pic>
        <p:nvPicPr>
          <p:cNvPr id="7" name="Picture 6" descr="logo.png"/>
          <p:cNvPicPr>
            <a:picLocks noChangeAspect="1"/>
          </p:cNvPicPr>
          <p:nvPr/>
        </p:nvPicPr>
        <p:blipFill>
          <a:blip r:embed="rId2"/>
          <a:stretch>
            <a:fillRect/>
          </a:stretch>
        </p:blipFill>
        <p:spPr>
          <a:xfrm>
            <a:off x="11301984" y="310896"/>
            <a:ext cx="402336" cy="457200"/>
          </a:xfrm>
          <a:prstGeom prst="rect">
            <a:avLst/>
          </a:prstGeom>
        </p:spPr>
      </p:pic>
      <p:sp>
        <p:nvSpPr>
          <p:cNvPr id="8" name="Rectangle 7"/>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sp>
        <p:nvSpPr>
          <p:cNvPr id="10" name="TextBox 9"/>
          <p:cNvSpPr txBox="1"/>
          <p:nvPr/>
        </p:nvSpPr>
        <p:spPr>
          <a:xfrm>
            <a:off x="11384280" y="6565392"/>
            <a:ext cx="384048" cy="256032"/>
          </a:xfrm>
          <a:prstGeom prst="rect">
            <a:avLst/>
          </a:prstGeom>
          <a:noFill/>
        </p:spPr>
        <p:txBody>
          <a:bodyPr wrap="square" lIns="0" tIns="0" rIns="0" bIns="0" anchor="ctr">
            <a:spAutoFit/>
          </a:bodyPr>
          <a:lstStyle/>
          <a:p>
            <a:pPr algn="r">
              <a:lnSpc>
                <a:spcPct val="105000"/>
              </a:lnSpc>
            </a:pPr>
            <a:r>
              <a:rPr sz="900" b="0">
                <a:solidFill>
                  <a:srgbClr val="FFFFFF"/>
                </a:solidFill>
                <a:latin typeface="微软雅黑 Light"/>
              </a:rPr>
              <a:t>16</a:t>
            </a:r>
          </a:p>
        </p:txBody>
      </p:sp>
      <p:sp>
        <p:nvSpPr>
          <p:cNvPr id="11" name="Rounded Rectangle 10"/>
          <p:cNvSpPr/>
          <p:nvPr/>
        </p:nvSpPr>
        <p:spPr>
          <a:xfrm>
            <a:off x="868680" y="1024128"/>
            <a:ext cx="5074920" cy="283464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KGAMA在MoleculeNet分类任务上对比实验结果.png"/>
          <p:cNvPicPr>
            <a:picLocks noChangeAspect="1"/>
          </p:cNvPicPr>
          <p:nvPr/>
        </p:nvPicPr>
        <p:blipFill>
          <a:blip r:embed="rId3"/>
          <a:stretch>
            <a:fillRect/>
          </a:stretch>
        </p:blipFill>
        <p:spPr>
          <a:xfrm>
            <a:off x="1894384" y="1097280"/>
            <a:ext cx="3023511" cy="2450591"/>
          </a:xfrm>
          <a:prstGeom prst="rect">
            <a:avLst/>
          </a:prstGeom>
        </p:spPr>
      </p:pic>
      <p:sp>
        <p:nvSpPr>
          <p:cNvPr id="13" name="TextBox 12"/>
          <p:cNvSpPr txBox="1"/>
          <p:nvPr/>
        </p:nvSpPr>
        <p:spPr>
          <a:xfrm>
            <a:off x="978407" y="3611880"/>
            <a:ext cx="4855464" cy="164592"/>
          </a:xfrm>
          <a:prstGeom prst="rect">
            <a:avLst/>
          </a:prstGeom>
          <a:noFill/>
        </p:spPr>
        <p:txBody>
          <a:bodyPr wrap="square" lIns="0" tIns="0" rIns="0" bIns="0" anchor="t">
            <a:spAutoFit/>
          </a:bodyPr>
          <a:lstStyle/>
          <a:p>
            <a:pPr algn="ctr">
              <a:lnSpc>
                <a:spcPct val="105000"/>
              </a:lnSpc>
            </a:pPr>
            <a:r>
              <a:rPr sz="840" b="0">
                <a:solidFill>
                  <a:srgbClr val="5B6773"/>
                </a:solidFill>
                <a:latin typeface="微软雅黑 Light"/>
              </a:rPr>
              <a:t>KGAMA 在 MoleculeNet 分类任务上的对比实验结果</a:t>
            </a:r>
          </a:p>
        </p:txBody>
      </p:sp>
      <p:sp>
        <p:nvSpPr>
          <p:cNvPr id="14" name="Rounded Rectangle 13"/>
          <p:cNvSpPr/>
          <p:nvPr/>
        </p:nvSpPr>
        <p:spPr>
          <a:xfrm>
            <a:off x="6309360" y="1024128"/>
            <a:ext cx="4956048" cy="283464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不同分子模态在各下游任务中的注意力权重分布.png"/>
          <p:cNvPicPr>
            <a:picLocks noChangeAspect="1"/>
          </p:cNvPicPr>
          <p:nvPr/>
        </p:nvPicPr>
        <p:blipFill>
          <a:blip r:embed="rId4"/>
          <a:stretch>
            <a:fillRect/>
          </a:stretch>
        </p:blipFill>
        <p:spPr>
          <a:xfrm>
            <a:off x="6382512" y="1243047"/>
            <a:ext cx="4809744" cy="2159056"/>
          </a:xfrm>
          <a:prstGeom prst="rect">
            <a:avLst/>
          </a:prstGeom>
        </p:spPr>
      </p:pic>
      <p:sp>
        <p:nvSpPr>
          <p:cNvPr id="16" name="TextBox 15"/>
          <p:cNvSpPr txBox="1"/>
          <p:nvPr/>
        </p:nvSpPr>
        <p:spPr>
          <a:xfrm>
            <a:off x="6419088" y="3611880"/>
            <a:ext cx="4736592" cy="164592"/>
          </a:xfrm>
          <a:prstGeom prst="rect">
            <a:avLst/>
          </a:prstGeom>
          <a:noFill/>
        </p:spPr>
        <p:txBody>
          <a:bodyPr wrap="square" lIns="0" tIns="0" rIns="0" bIns="0" anchor="t">
            <a:spAutoFit/>
          </a:bodyPr>
          <a:lstStyle/>
          <a:p>
            <a:pPr algn="ctr">
              <a:lnSpc>
                <a:spcPct val="105000"/>
              </a:lnSpc>
            </a:pPr>
            <a:r>
              <a:rPr sz="840" b="0">
                <a:solidFill>
                  <a:srgbClr val="5B6773"/>
                </a:solidFill>
                <a:latin typeface="微软雅黑 Light"/>
              </a:rPr>
              <a:t>不同分子模态在各下游任务中的注意力权重分布</a:t>
            </a:r>
          </a:p>
        </p:txBody>
      </p:sp>
      <p:sp>
        <p:nvSpPr>
          <p:cNvPr id="17" name="Rounded Rectangle 16"/>
          <p:cNvSpPr/>
          <p:nvPr/>
        </p:nvSpPr>
        <p:spPr>
          <a:xfrm>
            <a:off x="868680" y="4206240"/>
            <a:ext cx="1417320" cy="694944"/>
          </a:xfrm>
          <a:prstGeom prst="roundRect">
            <a:avLst/>
          </a:prstGeom>
          <a:solidFill>
            <a:srgbClr val="EAF3FA"/>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4297679"/>
            <a:ext cx="1325880" cy="384048"/>
          </a:xfrm>
          <a:prstGeom prst="rect">
            <a:avLst/>
          </a:prstGeom>
          <a:noFill/>
        </p:spPr>
        <p:txBody>
          <a:bodyPr wrap="square" lIns="0" tIns="0" rIns="0" bIns="0" anchor="t">
            <a:spAutoFit/>
          </a:bodyPr>
          <a:lstStyle/>
          <a:p>
            <a:pPr algn="ctr">
              <a:lnSpc>
                <a:spcPct val="105000"/>
              </a:lnSpc>
            </a:pPr>
            <a:r>
              <a:rPr sz="2300" b="1" dirty="0">
                <a:solidFill>
                  <a:srgbClr val="B83232"/>
                </a:solidFill>
                <a:latin typeface="Microsoft YaHei"/>
              </a:rPr>
              <a:t>0.939</a:t>
            </a:r>
          </a:p>
        </p:txBody>
      </p:sp>
      <p:sp>
        <p:nvSpPr>
          <p:cNvPr id="19" name="TextBox 18"/>
          <p:cNvSpPr txBox="1"/>
          <p:nvPr/>
        </p:nvSpPr>
        <p:spPr>
          <a:xfrm>
            <a:off x="960120" y="4773168"/>
            <a:ext cx="1234440" cy="73151"/>
          </a:xfrm>
          <a:prstGeom prst="rect">
            <a:avLst/>
          </a:prstGeom>
          <a:noFill/>
        </p:spPr>
        <p:txBody>
          <a:bodyPr wrap="square" lIns="0" tIns="0" rIns="0" bIns="0" anchor="t">
            <a:spAutoFit/>
          </a:bodyPr>
          <a:lstStyle/>
          <a:p>
            <a:pPr algn="ctr">
              <a:lnSpc>
                <a:spcPct val="105000"/>
              </a:lnSpc>
            </a:pPr>
            <a:r>
              <a:rPr sz="880" b="0">
                <a:solidFill>
                  <a:srgbClr val="5B6773"/>
                </a:solidFill>
                <a:latin typeface="微软雅黑 Light"/>
              </a:rPr>
              <a:t>ClinTox AUROC</a:t>
            </a:r>
          </a:p>
        </p:txBody>
      </p:sp>
      <p:sp>
        <p:nvSpPr>
          <p:cNvPr id="20" name="Rounded Rectangle 19"/>
          <p:cNvSpPr/>
          <p:nvPr/>
        </p:nvSpPr>
        <p:spPr>
          <a:xfrm>
            <a:off x="2487168" y="4206240"/>
            <a:ext cx="1417320" cy="694944"/>
          </a:xfrm>
          <a:prstGeom prst="roundRect">
            <a:avLst/>
          </a:prstGeom>
          <a:solidFill>
            <a:srgbClr val="EAF3FA"/>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32888" y="4297679"/>
            <a:ext cx="1325880" cy="384048"/>
          </a:xfrm>
          <a:prstGeom prst="rect">
            <a:avLst/>
          </a:prstGeom>
          <a:noFill/>
        </p:spPr>
        <p:txBody>
          <a:bodyPr wrap="square" lIns="0" tIns="0" rIns="0" bIns="0" anchor="t">
            <a:spAutoFit/>
          </a:bodyPr>
          <a:lstStyle/>
          <a:p>
            <a:pPr algn="ctr">
              <a:lnSpc>
                <a:spcPct val="105000"/>
              </a:lnSpc>
            </a:pPr>
            <a:r>
              <a:rPr sz="2300" b="1">
                <a:solidFill>
                  <a:srgbClr val="004E98"/>
                </a:solidFill>
                <a:latin typeface="Microsoft YaHei"/>
              </a:rPr>
              <a:t>0.930</a:t>
            </a:r>
          </a:p>
        </p:txBody>
      </p:sp>
      <p:sp>
        <p:nvSpPr>
          <p:cNvPr id="22" name="TextBox 21"/>
          <p:cNvSpPr txBox="1"/>
          <p:nvPr/>
        </p:nvSpPr>
        <p:spPr>
          <a:xfrm>
            <a:off x="2578608" y="4773168"/>
            <a:ext cx="1234440" cy="73151"/>
          </a:xfrm>
          <a:prstGeom prst="rect">
            <a:avLst/>
          </a:prstGeom>
          <a:noFill/>
        </p:spPr>
        <p:txBody>
          <a:bodyPr wrap="square" lIns="0" tIns="0" rIns="0" bIns="0" anchor="t">
            <a:spAutoFit/>
          </a:bodyPr>
          <a:lstStyle/>
          <a:p>
            <a:pPr algn="ctr">
              <a:lnSpc>
                <a:spcPct val="105000"/>
              </a:lnSpc>
            </a:pPr>
            <a:r>
              <a:rPr sz="880" b="0">
                <a:solidFill>
                  <a:srgbClr val="5B6773"/>
                </a:solidFill>
                <a:latin typeface="微软雅黑 Light"/>
              </a:rPr>
              <a:t>BBBP AUROC</a:t>
            </a:r>
          </a:p>
        </p:txBody>
      </p:sp>
      <p:sp>
        <p:nvSpPr>
          <p:cNvPr id="23" name="Rounded Rectangle 22"/>
          <p:cNvSpPr/>
          <p:nvPr/>
        </p:nvSpPr>
        <p:spPr>
          <a:xfrm>
            <a:off x="4114800" y="4206240"/>
            <a:ext cx="1417320" cy="694944"/>
          </a:xfrm>
          <a:prstGeom prst="roundRect">
            <a:avLst/>
          </a:prstGeom>
          <a:solidFill>
            <a:srgbClr val="EAF3FA"/>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60520" y="4297679"/>
            <a:ext cx="1325880" cy="384048"/>
          </a:xfrm>
          <a:prstGeom prst="rect">
            <a:avLst/>
          </a:prstGeom>
          <a:noFill/>
        </p:spPr>
        <p:txBody>
          <a:bodyPr wrap="square" lIns="0" tIns="0" rIns="0" bIns="0" anchor="t">
            <a:spAutoFit/>
          </a:bodyPr>
          <a:lstStyle/>
          <a:p>
            <a:pPr algn="ctr">
              <a:lnSpc>
                <a:spcPct val="105000"/>
              </a:lnSpc>
            </a:pPr>
            <a:r>
              <a:rPr sz="2300" b="1">
                <a:solidFill>
                  <a:srgbClr val="347AA7"/>
                </a:solidFill>
                <a:latin typeface="Microsoft YaHei"/>
              </a:rPr>
              <a:t>0.831</a:t>
            </a:r>
          </a:p>
        </p:txBody>
      </p:sp>
      <p:sp>
        <p:nvSpPr>
          <p:cNvPr id="25" name="TextBox 24"/>
          <p:cNvSpPr txBox="1"/>
          <p:nvPr/>
        </p:nvSpPr>
        <p:spPr>
          <a:xfrm>
            <a:off x="4206240" y="4773168"/>
            <a:ext cx="1234440" cy="73151"/>
          </a:xfrm>
          <a:prstGeom prst="rect">
            <a:avLst/>
          </a:prstGeom>
          <a:noFill/>
        </p:spPr>
        <p:txBody>
          <a:bodyPr wrap="square" lIns="0" tIns="0" rIns="0" bIns="0" anchor="t">
            <a:spAutoFit/>
          </a:bodyPr>
          <a:lstStyle/>
          <a:p>
            <a:pPr algn="ctr">
              <a:lnSpc>
                <a:spcPct val="105000"/>
              </a:lnSpc>
            </a:pPr>
            <a:r>
              <a:rPr sz="880" b="0">
                <a:solidFill>
                  <a:srgbClr val="5B6773"/>
                </a:solidFill>
                <a:latin typeface="微软雅黑 Light"/>
              </a:rPr>
              <a:t>ESOL RMSE</a:t>
            </a:r>
          </a:p>
        </p:txBody>
      </p:sp>
      <p:sp>
        <p:nvSpPr>
          <p:cNvPr id="26" name="Rounded Rectangle 25"/>
          <p:cNvSpPr/>
          <p:nvPr/>
        </p:nvSpPr>
        <p:spPr>
          <a:xfrm>
            <a:off x="6309360" y="4114800"/>
            <a:ext cx="4956048" cy="74980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09360" y="4114800"/>
            <a:ext cx="91440" cy="7498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01968" y="4315968"/>
            <a:ext cx="4425696"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实验结论</a:t>
            </a:r>
          </a:p>
        </p:txBody>
      </p:sp>
      <p:sp>
        <p:nvSpPr>
          <p:cNvPr id="29" name="TextBox 28"/>
          <p:cNvSpPr txBox="1"/>
          <p:nvPr/>
        </p:nvSpPr>
        <p:spPr>
          <a:xfrm>
            <a:off x="6620256" y="4736592"/>
            <a:ext cx="4407408" cy="36575"/>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KGAMA 在 MoleculeNet 分类与回归任务上均取得较好综合表现，验证知识增强和图中心对齐策略有效。</a:t>
            </a:r>
          </a:p>
        </p:txBody>
      </p:sp>
      <p:sp>
        <p:nvSpPr>
          <p:cNvPr id="30" name="Rounded Rectangle 29"/>
          <p:cNvSpPr/>
          <p:nvPr/>
        </p:nvSpPr>
        <p:spPr>
          <a:xfrm>
            <a:off x="6309360" y="5074920"/>
            <a:ext cx="4956048" cy="640080"/>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309360" y="5074920"/>
            <a:ext cx="91440" cy="640080"/>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01968" y="5276088"/>
            <a:ext cx="4425696"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注意力解释</a:t>
            </a:r>
          </a:p>
        </p:txBody>
      </p:sp>
      <p:sp>
        <p:nvSpPr>
          <p:cNvPr id="33" name="TextBox 32"/>
          <p:cNvSpPr txBox="1"/>
          <p:nvPr/>
        </p:nvSpPr>
        <p:spPr>
          <a:xfrm>
            <a:off x="6620256" y="5696712"/>
            <a:ext cx="4407408" cy="0"/>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物理性质任务更依赖 Graph / Fingerprint；毒性与副作用任务中文本模态权重显著提升。</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8680" y="804672"/>
            <a:ext cx="10012680" cy="1828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484632"/>
            <a:ext cx="685800" cy="3200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04088" y="393192"/>
            <a:ext cx="502920" cy="16459"/>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48740" y="283464"/>
            <a:ext cx="5669280" cy="411480"/>
          </a:xfrm>
          <a:prstGeom prst="rect">
            <a:avLst/>
          </a:prstGeom>
          <a:noFill/>
        </p:spPr>
        <p:txBody>
          <a:bodyPr wrap="square" lIns="0" tIns="0" rIns="0" bIns="0" anchor="t">
            <a:spAutoFit/>
          </a:bodyPr>
          <a:lstStyle/>
          <a:p>
            <a:pPr algn="l">
              <a:lnSpc>
                <a:spcPct val="105000"/>
              </a:lnSpc>
            </a:pPr>
            <a:r>
              <a:rPr sz="2000" b="1" dirty="0" err="1">
                <a:solidFill>
                  <a:srgbClr val="004E98"/>
                </a:solidFill>
                <a:latin typeface="方正正中黑简体"/>
              </a:rPr>
              <a:t>结论与展望</a:t>
            </a:r>
            <a:endParaRPr sz="2000" b="1" dirty="0">
              <a:solidFill>
                <a:srgbClr val="004E98"/>
              </a:solidFill>
              <a:latin typeface="方正正中黑简体"/>
            </a:endParaRPr>
          </a:p>
        </p:txBody>
      </p:sp>
      <p:sp>
        <p:nvSpPr>
          <p:cNvPr id="6" name="TextBox 5"/>
          <p:cNvSpPr txBox="1"/>
          <p:nvPr/>
        </p:nvSpPr>
        <p:spPr>
          <a:xfrm>
            <a:off x="7178040" y="338328"/>
            <a:ext cx="2880360" cy="274320"/>
          </a:xfrm>
          <a:prstGeom prst="rect">
            <a:avLst/>
          </a:prstGeom>
          <a:noFill/>
        </p:spPr>
        <p:txBody>
          <a:bodyPr wrap="square" lIns="0" tIns="0" rIns="0" bIns="0" anchor="t">
            <a:spAutoFit/>
          </a:bodyPr>
          <a:lstStyle/>
          <a:p>
            <a:pPr algn="r">
              <a:lnSpc>
                <a:spcPct val="105000"/>
              </a:lnSpc>
            </a:pPr>
            <a:r>
              <a:rPr sz="950" b="0">
                <a:solidFill>
                  <a:srgbClr val="347AA7"/>
                </a:solidFill>
                <a:latin typeface="微软雅黑 Light"/>
              </a:rPr>
              <a:t>第四部分 结论与展望</a:t>
            </a:r>
          </a:p>
        </p:txBody>
      </p:sp>
      <p:pic>
        <p:nvPicPr>
          <p:cNvPr id="7" name="Picture 6" descr="logo.png"/>
          <p:cNvPicPr>
            <a:picLocks noChangeAspect="1"/>
          </p:cNvPicPr>
          <p:nvPr/>
        </p:nvPicPr>
        <p:blipFill>
          <a:blip r:embed="rId2"/>
          <a:stretch>
            <a:fillRect/>
          </a:stretch>
        </p:blipFill>
        <p:spPr>
          <a:xfrm>
            <a:off x="11301984" y="310896"/>
            <a:ext cx="402336" cy="457200"/>
          </a:xfrm>
          <a:prstGeom prst="rect">
            <a:avLst/>
          </a:prstGeom>
        </p:spPr>
      </p:pic>
      <p:sp>
        <p:nvSpPr>
          <p:cNvPr id="8" name="Rectangle 7"/>
          <p:cNvSpPr/>
          <p:nvPr/>
        </p:nvSpPr>
        <p:spPr>
          <a:xfrm>
            <a:off x="0" y="6565392"/>
            <a:ext cx="12191999" cy="29260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6565392"/>
            <a:ext cx="2212848" cy="256032"/>
          </a:xfrm>
          <a:prstGeom prst="rect">
            <a:avLst/>
          </a:prstGeom>
          <a:noFill/>
        </p:spPr>
        <p:txBody>
          <a:bodyPr wrap="square" lIns="0" tIns="0" rIns="0" bIns="0" anchor="ctr">
            <a:spAutoFit/>
          </a:bodyPr>
          <a:lstStyle/>
          <a:p>
            <a:pPr algn="ctr">
              <a:lnSpc>
                <a:spcPct val="105000"/>
              </a:lnSpc>
            </a:pPr>
            <a:r>
              <a:rPr sz="1000" b="0">
                <a:solidFill>
                  <a:srgbClr val="FFFFFF"/>
                </a:solidFill>
                <a:latin typeface="微软雅黑 Light"/>
              </a:rPr>
              <a:t>艰苦朴素  求真务实</a:t>
            </a:r>
          </a:p>
        </p:txBody>
      </p:sp>
      <p:sp>
        <p:nvSpPr>
          <p:cNvPr id="10" name="TextBox 9"/>
          <p:cNvSpPr txBox="1"/>
          <p:nvPr/>
        </p:nvSpPr>
        <p:spPr>
          <a:xfrm>
            <a:off x="11384280" y="6565392"/>
            <a:ext cx="384048" cy="256032"/>
          </a:xfrm>
          <a:prstGeom prst="rect">
            <a:avLst/>
          </a:prstGeom>
          <a:noFill/>
        </p:spPr>
        <p:txBody>
          <a:bodyPr wrap="square" lIns="0" tIns="0" rIns="0" bIns="0" anchor="ctr">
            <a:spAutoFit/>
          </a:bodyPr>
          <a:lstStyle/>
          <a:p>
            <a:pPr algn="r">
              <a:lnSpc>
                <a:spcPct val="105000"/>
              </a:lnSpc>
            </a:pPr>
            <a:r>
              <a:rPr sz="900" b="0">
                <a:solidFill>
                  <a:srgbClr val="FFFFFF"/>
                </a:solidFill>
                <a:latin typeface="微软雅黑 Light"/>
              </a:rPr>
              <a:t>18</a:t>
            </a:r>
          </a:p>
        </p:txBody>
      </p:sp>
      <p:sp>
        <p:nvSpPr>
          <p:cNvPr id="11" name="Rounded Rectangle 10"/>
          <p:cNvSpPr/>
          <p:nvPr/>
        </p:nvSpPr>
        <p:spPr>
          <a:xfrm>
            <a:off x="868680" y="1143000"/>
            <a:ext cx="4983480" cy="1243584"/>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68680" y="1143000"/>
            <a:ext cx="91440" cy="1243584"/>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69848" y="1344168"/>
            <a:ext cx="420624" cy="420624"/>
          </a:xfrm>
          <a:prstGeom prst="ellipse">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9848" y="1417320"/>
            <a:ext cx="420624" cy="164592"/>
          </a:xfrm>
          <a:prstGeom prst="rect">
            <a:avLst/>
          </a:prstGeom>
          <a:noFill/>
        </p:spPr>
        <p:txBody>
          <a:bodyPr wrap="square" lIns="0" tIns="0" rIns="0" bIns="0" anchor="t">
            <a:spAutoFit/>
          </a:bodyPr>
          <a:lstStyle/>
          <a:p>
            <a:pPr algn="ctr">
              <a:lnSpc>
                <a:spcPct val="105000"/>
              </a:lnSpc>
            </a:pPr>
            <a:r>
              <a:rPr sz="1100" b="1">
                <a:solidFill>
                  <a:srgbClr val="FFFFFF"/>
                </a:solidFill>
                <a:latin typeface="微软雅黑 Light"/>
              </a:rPr>
              <a:t>01</a:t>
            </a:r>
          </a:p>
        </p:txBody>
      </p:sp>
      <p:sp>
        <p:nvSpPr>
          <p:cNvPr id="15" name="TextBox 14"/>
          <p:cNvSpPr txBox="1"/>
          <p:nvPr/>
        </p:nvSpPr>
        <p:spPr>
          <a:xfrm>
            <a:off x="1636776" y="1344168"/>
            <a:ext cx="3977639"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结论一：CoT-CMP</a:t>
            </a:r>
          </a:p>
        </p:txBody>
      </p:sp>
      <p:sp>
        <p:nvSpPr>
          <p:cNvPr id="16" name="TextBox 15"/>
          <p:cNvSpPr txBox="1"/>
          <p:nvPr/>
        </p:nvSpPr>
        <p:spPr>
          <a:xfrm>
            <a:off x="1179576" y="1764792"/>
            <a:ext cx="4434840" cy="530352"/>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提出思维链增强与通信式图交互的图文双塔框架，在 ADMET 基准组上取得较优预测结果，并提供可解释线索。</a:t>
            </a:r>
          </a:p>
        </p:txBody>
      </p:sp>
      <p:sp>
        <p:nvSpPr>
          <p:cNvPr id="17" name="Rounded Rectangle 16"/>
          <p:cNvSpPr/>
          <p:nvPr/>
        </p:nvSpPr>
        <p:spPr>
          <a:xfrm>
            <a:off x="6327648" y="1143000"/>
            <a:ext cx="4983480" cy="1243584"/>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27648" y="1143000"/>
            <a:ext cx="91440" cy="1243584"/>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528816" y="1344168"/>
            <a:ext cx="420624" cy="420624"/>
          </a:xfrm>
          <a:prstGeom prst="ellipse">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28816" y="1417320"/>
            <a:ext cx="420624" cy="164592"/>
          </a:xfrm>
          <a:prstGeom prst="rect">
            <a:avLst/>
          </a:prstGeom>
          <a:noFill/>
        </p:spPr>
        <p:txBody>
          <a:bodyPr wrap="square" lIns="0" tIns="0" rIns="0" bIns="0" anchor="t">
            <a:spAutoFit/>
          </a:bodyPr>
          <a:lstStyle/>
          <a:p>
            <a:pPr algn="ctr">
              <a:lnSpc>
                <a:spcPct val="105000"/>
              </a:lnSpc>
            </a:pPr>
            <a:r>
              <a:rPr sz="1100" b="1">
                <a:solidFill>
                  <a:srgbClr val="FFFFFF"/>
                </a:solidFill>
                <a:latin typeface="微软雅黑 Light"/>
              </a:rPr>
              <a:t>02</a:t>
            </a:r>
          </a:p>
        </p:txBody>
      </p:sp>
      <p:sp>
        <p:nvSpPr>
          <p:cNvPr id="21" name="TextBox 20"/>
          <p:cNvSpPr txBox="1"/>
          <p:nvPr/>
        </p:nvSpPr>
        <p:spPr>
          <a:xfrm>
            <a:off x="7095744" y="1344168"/>
            <a:ext cx="3977639"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结论二：KGAMA</a:t>
            </a:r>
          </a:p>
        </p:txBody>
      </p:sp>
      <p:sp>
        <p:nvSpPr>
          <p:cNvPr id="22" name="TextBox 21"/>
          <p:cNvSpPr txBox="1"/>
          <p:nvPr/>
        </p:nvSpPr>
        <p:spPr>
          <a:xfrm>
            <a:off x="6638544" y="1764792"/>
            <a:ext cx="4434840" cy="530352"/>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提出知识增强与图中心对齐的四模态框架，在 MoleculeNet 基准组上验证了知识重写和自适应融合的有效性。</a:t>
            </a:r>
          </a:p>
        </p:txBody>
      </p:sp>
      <p:sp>
        <p:nvSpPr>
          <p:cNvPr id="23" name="Rounded Rectangle 22"/>
          <p:cNvSpPr/>
          <p:nvPr/>
        </p:nvSpPr>
        <p:spPr>
          <a:xfrm>
            <a:off x="868680" y="2907792"/>
            <a:ext cx="3200400" cy="111556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68680" y="2907792"/>
            <a:ext cx="91440" cy="1115568"/>
          </a:xfrm>
          <a:prstGeom prst="rect">
            <a:avLst/>
          </a:prstGeom>
          <a:solidFill>
            <a:srgbClr val="004E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61288" y="3108960"/>
            <a:ext cx="2670048"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展望一：引入三维几何构象</a:t>
            </a:r>
          </a:p>
        </p:txBody>
      </p:sp>
      <p:sp>
        <p:nvSpPr>
          <p:cNvPr id="26" name="TextBox 25"/>
          <p:cNvSpPr txBox="1"/>
          <p:nvPr/>
        </p:nvSpPr>
        <p:spPr>
          <a:xfrm>
            <a:off x="1179576" y="3529584"/>
            <a:ext cx="2651760" cy="402335"/>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进一步融合原子坐标、键角、二面角及 SE(3) 等变模型，提升空间结构建模能力。</a:t>
            </a:r>
          </a:p>
        </p:txBody>
      </p:sp>
      <p:sp>
        <p:nvSpPr>
          <p:cNvPr id="27" name="Rounded Rectangle 26"/>
          <p:cNvSpPr/>
          <p:nvPr/>
        </p:nvSpPr>
        <p:spPr>
          <a:xfrm>
            <a:off x="4498848" y="2907792"/>
            <a:ext cx="3200400" cy="111556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498848" y="2907792"/>
            <a:ext cx="91440" cy="1115568"/>
          </a:xfrm>
          <a:prstGeom prst="rect">
            <a:avLst/>
          </a:prstGeom>
          <a:solidFill>
            <a:srgbClr val="347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91456" y="3108960"/>
            <a:ext cx="2670048"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展望二：扩展预训练数据规模</a:t>
            </a:r>
          </a:p>
        </p:txBody>
      </p:sp>
      <p:sp>
        <p:nvSpPr>
          <p:cNvPr id="30" name="TextBox 29"/>
          <p:cNvSpPr txBox="1"/>
          <p:nvPr/>
        </p:nvSpPr>
        <p:spPr>
          <a:xfrm>
            <a:off x="4809744" y="3529584"/>
            <a:ext cx="2651760" cy="402335"/>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构建更大规模、高质量的图、序列、文本配对数据，增强泛化能力。</a:t>
            </a:r>
          </a:p>
        </p:txBody>
      </p:sp>
      <p:sp>
        <p:nvSpPr>
          <p:cNvPr id="31" name="Rounded Rectangle 30"/>
          <p:cNvSpPr/>
          <p:nvPr/>
        </p:nvSpPr>
        <p:spPr>
          <a:xfrm>
            <a:off x="8119872" y="2907792"/>
            <a:ext cx="3200400" cy="1115568"/>
          </a:xfrm>
          <a:prstGeom prst="roundRect">
            <a:avLst/>
          </a:prstGeom>
          <a:solidFill>
            <a:srgbClr val="FFFFFF"/>
          </a:solidFill>
          <a:ln w="12700">
            <a:solidFill>
              <a:srgbClr val="7C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19872" y="2907792"/>
            <a:ext cx="91440" cy="1115568"/>
          </a:xfrm>
          <a:prstGeom prst="rect">
            <a:avLst/>
          </a:prstGeom>
          <a:solidFill>
            <a:srgbClr val="7C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80" y="3108960"/>
            <a:ext cx="2670048" cy="274320"/>
          </a:xfrm>
          <a:prstGeom prst="rect">
            <a:avLst/>
          </a:prstGeom>
          <a:noFill/>
        </p:spPr>
        <p:txBody>
          <a:bodyPr wrap="square" lIns="0" tIns="0" rIns="0" bIns="0" anchor="t">
            <a:spAutoFit/>
          </a:bodyPr>
          <a:lstStyle/>
          <a:p>
            <a:pPr algn="l">
              <a:lnSpc>
                <a:spcPct val="105000"/>
              </a:lnSpc>
            </a:pPr>
            <a:r>
              <a:rPr sz="1450" b="1">
                <a:solidFill>
                  <a:srgbClr val="16324F"/>
                </a:solidFill>
                <a:latin typeface="Microsoft YaHei"/>
              </a:rPr>
              <a:t>展望三：干湿实验闭环验证</a:t>
            </a:r>
          </a:p>
        </p:txBody>
      </p:sp>
      <p:sp>
        <p:nvSpPr>
          <p:cNvPr id="34" name="TextBox 33"/>
          <p:cNvSpPr txBox="1"/>
          <p:nvPr/>
        </p:nvSpPr>
        <p:spPr>
          <a:xfrm>
            <a:off x="8430768" y="3529584"/>
            <a:ext cx="2651760" cy="402335"/>
          </a:xfrm>
          <a:prstGeom prst="rect">
            <a:avLst/>
          </a:prstGeom>
          <a:noFill/>
        </p:spPr>
        <p:txBody>
          <a:bodyPr wrap="square" lIns="0" tIns="0" rIns="0" bIns="0" anchor="t">
            <a:spAutoFit/>
          </a:bodyPr>
          <a:lstStyle/>
          <a:p>
            <a:pPr algn="l">
              <a:lnSpc>
                <a:spcPct val="108000"/>
              </a:lnSpc>
            </a:pPr>
            <a:r>
              <a:rPr sz="1050" b="0">
                <a:solidFill>
                  <a:srgbClr val="5B6773"/>
                </a:solidFill>
                <a:latin typeface="微软雅黑 Light"/>
              </a:rPr>
              <a:t>将模型预测与真实实验反馈联动，服务候选分子的持续优化。</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cstate="screen"/>
          <a:stretch>
            <a:fillRect/>
          </a:stretch>
        </p:blipFill>
        <p:spPr>
          <a:xfrm>
            <a:off x="0" y="10121"/>
            <a:ext cx="12192000" cy="6847879"/>
          </a:xfrm>
          <a:prstGeom prst="rect">
            <a:avLst/>
          </a:prstGeom>
        </p:spPr>
      </p:pic>
      <p:sp>
        <p:nvSpPr>
          <p:cNvPr id="4" name="文本框 3"/>
          <p:cNvSpPr txBox="1"/>
          <p:nvPr/>
        </p:nvSpPr>
        <p:spPr>
          <a:xfrm>
            <a:off x="1469844" y="2377447"/>
            <a:ext cx="9785711" cy="1436355"/>
          </a:xfrm>
          <a:prstGeom prst="rect">
            <a:avLst/>
          </a:prstGeom>
          <a:noFill/>
        </p:spPr>
        <p:txBody>
          <a:bodyPr wrap="square" rtlCol="0">
            <a:spAutoFit/>
          </a:bodyPr>
          <a:lstStyle/>
          <a:p>
            <a:pPr algn="ctr">
              <a:lnSpc>
                <a:spcPct val="150000"/>
              </a:lnSpc>
            </a:pPr>
            <a:r>
              <a:rPr kumimoji="1" lang="zh-CN" altLang="en-US" sz="6600" b="1" dirty="0">
                <a:solidFill>
                  <a:schemeClr val="bg1"/>
                </a:solidFill>
                <a:latin typeface="FZZhengHeiS-DB-GB" panose="02000000000000000000" pitchFamily="2" charset="-122"/>
                <a:ea typeface="FZZhengHeiS-DB-GB" panose="02000000000000000000" pitchFamily="2" charset="-122"/>
              </a:rPr>
              <a:t>敬请各位老师批评指正！</a:t>
            </a:r>
          </a:p>
        </p:txBody>
      </p:sp>
    </p:spTree>
  </p:cSld>
  <p:clrMapOvr>
    <a:masterClrMapping/>
  </p:clrMapOvr>
  <mc:AlternateContent xmlns:mc="http://schemas.openxmlformats.org/markup-compatibility/2006" xmlns:p14="http://schemas.microsoft.com/office/powerpoint/2010/main">
    <mc:Choice Requires="p14">
      <p:transition spd="slow" p14:dur="2000" advTm="4025"/>
    </mc:Choice>
    <mc:Fallback xmlns="">
      <p:transition spd="slow" advTm="4025"/>
    </mc:Fallback>
  </mc:AlternateContent>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5352</TotalTime>
  <Words>2847</Words>
  <Application>Microsoft Office PowerPoint</Application>
  <PresentationFormat>宽屏</PresentationFormat>
  <Paragraphs>295</Paragraphs>
  <Slides>20</Slides>
  <Notes>9</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20</vt:i4>
      </vt:variant>
    </vt:vector>
  </HeadingPairs>
  <TitlesOfParts>
    <vt:vector size="35" baseType="lpstr">
      <vt:lpstr>Calibri (正文)</vt:lpstr>
      <vt:lpstr>FZZhengHeiS-DB-GB</vt:lpstr>
      <vt:lpstr>等线</vt:lpstr>
      <vt:lpstr>方正正中黑简体</vt:lpstr>
      <vt:lpstr>宋体</vt:lpstr>
      <vt:lpstr>Microsoft YaHei</vt:lpstr>
      <vt:lpstr>Microsoft YaHei</vt:lpstr>
      <vt:lpstr>微软雅黑 Light</vt:lpstr>
      <vt:lpstr>Aptos</vt:lpstr>
      <vt:lpstr>Arial</vt:lpstr>
      <vt:lpstr>Calibri</vt:lpstr>
      <vt:lpstr>Calibri Light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隋明哲</dc:creator>
  <cp:lastModifiedBy>帅尧 范</cp:lastModifiedBy>
  <cp:revision>183</cp:revision>
  <dcterms:created xsi:type="dcterms:W3CDTF">2020-09-14T02:46:55Z</dcterms:created>
  <dcterms:modified xsi:type="dcterms:W3CDTF">2026-05-16T14:32:18Z</dcterms:modified>
</cp:coreProperties>
</file>